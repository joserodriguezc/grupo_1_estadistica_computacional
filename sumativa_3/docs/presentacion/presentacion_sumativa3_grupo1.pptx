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3.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oblema y progresión" id="{5bac9055-d5f1-e6b8-7918-b3d447c088a1}">
          <p14:sldIdLst>
            <p14:sldId id="256"/>
            <p14:sldId id="257"/>
            <p14:sldId id="258"/>
            <p14:sldId id="259"/>
            <p14:sldId id="260"/>
          </p14:sldIdLst>
        </p14:section>
        <p14:section name="Datos faltantes" id="{1675835f-5254-d38e-566b-c9988467cc9e}">
          <p14:sldIdLst>
            <p14:sldId id="261"/>
            <p14:sldId id="262"/>
          </p14:sldIdLst>
        </p14:section>
        <p14:section name="Modelos logísticos" id="{ed1fa471-fa2f-10e7-0c87-e2ea2f72ae4b}">
          <p14:sldIdLst>
            <p14:sldId id="263"/>
            <p14:sldId id="264"/>
            <p14:sldId id="265"/>
            <p14:sldId id="266"/>
          </p14:sldIdLst>
        </p14:section>
        <p14:section name="Estabilidad e impacto" id="{ee373079-1f80-c9a8-f454-63ade3aa2fef}">
          <p14:sldIdLst>
            <p14:sldId id="267"/>
            <p14:sldId id="268"/>
          </p14:sldIdLst>
        </p14:section>
        <p14:section name="Conclusiones" id="{c83f20ba-b582-88c6-8f53-ee3d717b838a}">
          <p14:sldIdLst>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A33"/>
                </a:solidFill>
                <a:latin typeface="+mn-lt"/>
              </a:defRPr>
            </a:pPr>
            <a:r>
              <a:rPr sz="1400" b="0" i="0" u="none" strike="noStrike">
                <a:solidFill>
                  <a:srgbClr val="1B2A33"/>
                </a:solidFill>
                <a:latin typeface="+mn-lt"/>
              </a:rPr>
              <a:t>R² de cada regresión de imputación (validación cruzada, 5 particiones)</a:t>
            </a:r>
          </a:p>
        </c:rich>
      </c:tx>
      <c:layout/>
      <c:overlay val="0"/>
    </c:title>
    <c:autoTitleDeleted val="0"/>
    <c:plotArea>
      <c:layout/>
      <c:barChart>
        <c:barDir val="bar"/>
        <c:grouping val="clustered"/>
        <c:varyColors val="0"/>
        <c:ser>
          <c:idx val="0"/>
          <c:order val="0"/>
          <c:tx>
            <c:strRef>
              <c:f>Sheet1!$B$1</c:f>
              <c:strCache>
                <c:ptCount val="1"/>
                <c:pt idx="0">
                  <c:v>R² con validación cruzada</c:v>
                </c:pt>
              </c:strCache>
            </c:strRef>
          </c:tx>
          <c:spPr>
            <a:solidFill>
              <a:srgbClr val="1F6F7A"/>
            </a:solidFill>
            <a:effectLst/>
          </c:spPr>
          <c:invertIfNegative val="0"/>
          <c:dLbls>
            <c:numFmt formatCode="0.00" sourceLinked="0"/>
            <c:txPr>
              <a:bodyPr/>
              <a:lstStyle/>
              <a:p>
                <a:pPr>
                  <a:defRPr b="0" i="0" strike="noStrike" sz="1200" u="none">
                    <a:solidFill>
                      <a:srgbClr val="1B2A33"/>
                    </a:solidFill>
                    <a:latin typeface="+mn-lt"/>
                  </a:defRPr>
                </a:pPr>
              </a:p>
            </c:txPr>
            <c:showLegendKey val="0"/>
            <c:showVal val="1"/>
            <c:showCatName val="0"/>
            <c:showSerName val="0"/>
            <c:showPercent val="0"/>
            <c:showBubbleSize val="0"/>
            <c:showLeaderLines val="0"/>
          </c:dLbls>
          <c:cat>
            <c:multiLvlStrRef>
              <c:f>Sheet1!$A$2:$A$5</c:f>
              <c:multiLvlStrCache>
                <c:ptCount val="4"/>
                <c:lvl>
                  <c:pt idx="0">
                    <c:v>Peso</c:v>
                  </c:pt>
                  <c:pt idx="1">
                    <c:v>Descuento</c:v>
                  </c:pt>
                  <c:pt idx="2">
                    <c:v>Costo</c:v>
                  </c:pt>
                  <c:pt idx="3">
                    <c:v>Compras previas</c:v>
                  </c:pt>
                </c:lvl>
              </c:multiLvlStrCache>
            </c:multiLvlStrRef>
          </c:cat>
          <c:val>
            <c:numRef>
              <c:f>Sheet1!$B$2:$B$5</c:f>
              <c:numCache>
                <c:formatCode>General</c:formatCode>
                <c:ptCount val="4"/>
                <c:pt idx="0">
                  <c:v>0.272</c:v>
                </c:pt>
                <c:pt idx="1">
                  <c:v>0.217</c:v>
                </c:pt>
                <c:pt idx="2">
                  <c:v>0.111</c:v>
                </c:pt>
                <c:pt idx="3">
                  <c:v>0.054</c:v>
                </c:pt>
              </c:numCache>
            </c:numRef>
          </c:val>
        </c:ser>
        <c:dLbls>
          <c:numFmt formatCode="0.00" sourceLinked="0"/>
          <c:txPr>
            <a:bodyPr/>
            <a:lstStyle/>
            <a:p>
              <a:pPr>
                <a:defRPr b="0" i="0" strike="noStrike" sz="1200" u="none">
                  <a:solidFill>
                    <a:srgbClr val="1B2A33"/>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300" b="0" i="0" u="none" strike="noStrike">
                <a:solidFill>
                  <a:srgbClr val="5E6B73"/>
                </a:solidFill>
                <a:latin typeface="+mn-lt"/>
              </a:defRPr>
            </a:pPr>
            <a:endParaRPr lang="en-US"/>
          </a:p>
        </c:txPr>
        <c:crossAx val="2094734552"/>
        <c:crosses val="autoZero"/>
        <c:auto val="1"/>
        <c:lblAlgn val="ctr"/>
        <c:noMultiLvlLbl val="1"/>
      </c:catAx>
      <c:valAx>
        <c:axId val="2094734552"/>
        <c:scaling>
          <c:orientation val="minMax"/>
          <c:max val="0.35"/>
          <c:min val="0"/>
        </c:scaling>
        <c:delete val="1"/>
        <c:axPos val="b"/>
        <c:numFmt formatCode="General" sourceLinked="0"/>
        <c:majorTickMark val="out"/>
        <c:minorTickMark val="none"/>
        <c:tickLblPos val="low"/>
        <c:spPr>
          <a:ln w="12700" cap="flat">
            <a:noFill/>
            <a:prstDash val="solid"/>
            <a:round/>
          </a:ln>
        </c:spPr>
        <c:txPr>
          <a:bodyPr/>
          <a:lstStyle/>
          <a:p>
            <a:pPr>
              <a:defRPr sz="1100" b="0" i="0" u="none" strike="noStrike">
                <a:solidFill>
                  <a:srgbClr val="5E6B73"/>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A33"/>
                </a:solidFill>
                <a:latin typeface="+mn-lt"/>
              </a:defRPr>
            </a:pPr>
            <a:r>
              <a:rPr sz="1400" b="0" i="0" u="none" strike="noStrike">
                <a:solidFill>
                  <a:srgbClr val="1B2A33"/>
                </a:solidFill>
                <a:latin typeface="+mn-lt"/>
              </a:rPr>
              <a:t>F2 frente a S3 en la prueba (0,5 = azar en el AUC)</a:t>
            </a:r>
          </a:p>
        </c:rich>
      </c:tx>
      <c:layout/>
      <c:overlay val="0"/>
    </c:title>
    <c:autoTitleDeleted val="0"/>
    <c:plotArea>
      <c:layout/>
      <c:barChart>
        <c:barDir val="col"/>
        <c:grouping val="clustered"/>
        <c:varyColors val="0"/>
        <c:ser>
          <c:idx val="0"/>
          <c:order val="0"/>
          <c:tx>
            <c:strRef>
              <c:f>Sheet1!$B$1</c:f>
              <c:strCache>
                <c:ptCount val="1"/>
                <c:pt idx="0">
                  <c:v>F2</c:v>
                </c:pt>
              </c:strCache>
            </c:strRef>
          </c:tx>
          <c:spPr>
            <a:solidFill>
              <a:srgbClr val="8FB3B9"/>
            </a:solidFill>
            <a:effectLst/>
          </c:spPr>
          <c:invertIfNegative val="0"/>
          <c:dLbls>
            <c:numFmt formatCode="0.000" sourceLinked="0"/>
            <c:txPr>
              <a:bodyPr/>
              <a:lstStyle/>
              <a:p>
                <a:pPr>
                  <a:defRPr b="0" i="0" strike="noStrike" sz="1200" u="none">
                    <a:solidFill>
                      <a:srgbClr val="1B2A33"/>
                    </a:solidFill>
                    <a:latin typeface="+mn-lt"/>
                  </a:defRPr>
                </a:pPr>
              </a:p>
            </c:txPr>
            <c:showLegendKey val="0"/>
            <c:showVal val="1"/>
            <c:showCatName val="0"/>
            <c:showSerName val="0"/>
            <c:showPercent val="0"/>
            <c:showBubbleSize val="0"/>
            <c:showLeaderLines val="0"/>
          </c:dLbls>
          <c:cat>
            <c:multiLvlStrRef>
              <c:f>Sheet1!$A$2:$A$5</c:f>
              <c:multiLvlStrCache>
                <c:ptCount val="4"/>
                <c:lvl>
                  <c:pt idx="0">
                    <c:v>AUC segmento ≤ 10</c:v>
                  </c:pt>
                  <c:pt idx="1">
                    <c:v>AUC combinado</c:v>
                  </c:pt>
                  <c:pt idx="2">
                    <c:v>Exactitud</c:v>
                  </c:pt>
                  <c:pt idx="3">
                    <c:v>Especificidad</c:v>
                  </c:pt>
                </c:lvl>
              </c:multiLvlStrCache>
            </c:multiLvlStrRef>
          </c:cat>
          <c:val>
            <c:numRef>
              <c:f>Sheet1!$B$2:$B$5</c:f>
              <c:numCache>
                <c:formatCode>General</c:formatCode>
                <c:ptCount val="4"/>
                <c:pt idx="0">
                  <c:v>0.521</c:v>
                </c:pt>
                <c:pt idx="1">
                  <c:v>0.714</c:v>
                </c:pt>
                <c:pt idx="2">
                  <c:v>0.628</c:v>
                </c:pt>
                <c:pt idx="3">
                  <c:v>0.538</c:v>
                </c:pt>
              </c:numCache>
            </c:numRef>
          </c:val>
        </c:ser>
        <c:ser>
          <c:idx val="1"/>
          <c:order val="1"/>
          <c:tx>
            <c:strRef>
              <c:f>Sheet1!$C$1</c:f>
              <c:strCache>
                <c:ptCount val="1"/>
                <c:pt idx="0">
                  <c:v>S3 (M3 + regla)</c:v>
                </c:pt>
              </c:strCache>
            </c:strRef>
          </c:tx>
          <c:spPr>
            <a:solidFill>
              <a:srgbClr val="1F6F7A"/>
            </a:solidFill>
            <a:effectLst/>
          </c:spPr>
          <c:invertIfNegative val="0"/>
          <c:dLbls>
            <c:numFmt formatCode="0.000" sourceLinked="0"/>
            <c:txPr>
              <a:bodyPr/>
              <a:lstStyle/>
              <a:p>
                <a:pPr>
                  <a:defRPr b="0" i="0" strike="noStrike" sz="1200" u="none">
                    <a:solidFill>
                      <a:srgbClr val="1B2A33"/>
                    </a:solidFill>
                    <a:latin typeface="+mn-lt"/>
                  </a:defRPr>
                </a:pPr>
              </a:p>
            </c:txPr>
            <c:showLegendKey val="0"/>
            <c:showVal val="1"/>
            <c:showCatName val="0"/>
            <c:showSerName val="0"/>
            <c:showPercent val="0"/>
            <c:showBubbleSize val="0"/>
            <c:showLeaderLines val="0"/>
          </c:dLbls>
          <c:cat>
            <c:multiLvlStrRef>
              <c:f>Sheet1!$A$2:$A$5</c:f>
              <c:multiLvlStrCache>
                <c:ptCount val="4"/>
                <c:lvl>
                  <c:pt idx="0">
                    <c:v>AUC segmento ≤ 10</c:v>
                  </c:pt>
                  <c:pt idx="1">
                    <c:v>AUC combinado</c:v>
                  </c:pt>
                  <c:pt idx="2">
                    <c:v>Exactitud</c:v>
                  </c:pt>
                  <c:pt idx="3">
                    <c:v>Especificidad</c:v>
                  </c:pt>
                </c:lvl>
              </c:multiLvlStrCache>
            </c:multiLvlStrRef>
          </c:cat>
          <c:val>
            <c:numRef>
              <c:f>Sheet1!$C$2:$C$5</c:f>
              <c:numCache>
                <c:formatCode>General</c:formatCode>
                <c:ptCount val="4"/>
                <c:pt idx="0">
                  <c:v>0.551</c:v>
                </c:pt>
                <c:pt idx="1">
                  <c:v>0.72</c:v>
                </c:pt>
                <c:pt idx="2">
                  <c:v>0.659</c:v>
                </c:pt>
                <c:pt idx="3">
                  <c:v>0.751</c:v>
                </c:pt>
              </c:numCache>
            </c:numRef>
          </c:val>
        </c:ser>
        <c:dLbls>
          <c:numFmt formatCode="0.000" sourceLinked="0"/>
          <c:txPr>
            <a:bodyPr/>
            <a:lstStyle/>
            <a:p>
              <a:pPr>
                <a:defRPr b="0" i="0" strike="noStrike" sz="1200" u="none">
                  <a:solidFill>
                    <a:srgbClr val="1B2A33"/>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300" b="0" i="0" u="none" strike="noStrike">
                <a:solidFill>
                  <a:srgbClr val="5E6B73"/>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9525" cap="flat">
              <a:solidFill>
                <a:srgbClr val="DDE5E7"/>
              </a:solidFill>
              <a:prstDash val="solid"/>
              <a:round/>
            </a:ln>
          </c:spPr>
        </c:majorGridlines>
        <c:numFmt formatCode="0.00" sourceLinked="0"/>
        <c:majorTickMark val="out"/>
        <c:minorTickMark val="none"/>
        <c:tickLblPos val="nextTo"/>
        <c:spPr>
          <a:ln w="12700" cap="flat">
            <a:noFill/>
            <a:prstDash val="solid"/>
            <a:round/>
          </a:ln>
        </c:spPr>
        <c:txPr>
          <a:bodyPr/>
          <a:lstStyle/>
          <a:p>
            <a:pPr>
              <a:defRPr sz="1100" b="0" i="0" u="none" strike="noStrike">
                <a:solidFill>
                  <a:srgbClr val="5E6B73"/>
                </a:solidFill>
                <a:latin typeface="+mn-lt"/>
              </a:defRPr>
            </a:pPr>
            <a:endParaRPr lang="en-US"/>
          </a:p>
        </c:txPr>
        <c:crossAx val="2094734554"/>
        <c:crosses val="autoZero"/>
        <c:crossBetween val="between"/>
        <c:majorUnit val="0.25"/>
      </c:valAx>
      <c:spPr>
        <a:noFill/>
        <a:ln>
          <a:noFill/>
        </a:ln>
        <a:effectLst/>
      </c:spPr>
    </c:plotArea>
    <c:legend>
      <c:legendPos val="b"/>
      <c:overlay val="0"/>
      <c:txPr>
        <a:bodyPr/>
        <a:lstStyle/>
        <a:p>
          <a:pPr>
            <a:defRPr sz="1200">
              <a:solidFill>
                <a:srgbClr val="1B2A3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A33"/>
                </a:solidFill>
                <a:latin typeface="+mn-lt"/>
              </a:defRPr>
            </a:pPr>
            <a:r>
              <a:rPr sz="1400" b="0" i="0" u="none" strike="noStrike">
                <a:solidFill>
                  <a:srgbClr val="1B2A33"/>
                </a:solidFill>
                <a:latin typeface="+mn-lt"/>
              </a:rPr>
              <a:t>% de réplicas que conservan el signo del coeficiente (eje desde 75 %)</a:t>
            </a:r>
          </a:p>
        </c:rich>
      </c:tx>
      <c:layout/>
      <c:overlay val="0"/>
    </c:title>
    <c:autoTitleDeleted val="0"/>
    <c:plotArea>
      <c:layout/>
      <c:barChart>
        <c:barDir val="bar"/>
        <c:grouping val="stacked"/>
        <c:varyColors val="0"/>
        <c:ser>
          <c:idx val="0"/>
          <c:order val="0"/>
          <c:tx>
            <c:strRef>
              <c:f>Sheet1!$B$1</c:f>
              <c:strCache>
                <c:ptCount val="1"/>
                <c:pt idx="0">
                  <c:v>Estable</c:v>
                </c:pt>
              </c:strCache>
            </c:strRef>
          </c:tx>
          <c:spPr>
            <a:solidFill>
              <a:srgbClr val="1F6F7A"/>
            </a:solidFill>
            <a:effectLst/>
          </c:spPr>
          <c:invertIfNegative val="0"/>
          <c:dLbls>
            <c:numFmt formatCode="0.0;;" sourceLinked="0"/>
            <c:txPr>
              <a:bodyPr/>
              <a:lstStyle/>
              <a:p>
                <a:pPr>
                  <a:defRPr b="0" i="0" strike="noStrike" sz="1200" u="none">
                    <a:solidFill>
                      <a:srgbClr val="FFFFFF"/>
                    </a:solidFill>
                    <a:latin typeface="+mn-lt"/>
                  </a:defRPr>
                </a:pPr>
              </a:p>
            </c:txPr>
            <c:dLblPos val="inEnd"/>
            <c:showLegendKey val="0"/>
            <c:showVal val="1"/>
            <c:showCatName val="0"/>
            <c:showSerName val="0"/>
            <c:showPercent val="0"/>
            <c:showBubbleSize val="0"/>
            <c:showLeaderLines val="0"/>
          </c:dLbls>
          <c:cat>
            <c:multiLvlStrRef>
              <c:f>Sheet1!$A$2:$A$9</c:f>
              <c:multiLvlStrCache>
                <c:ptCount val="8"/>
                <c:lvl>
                  <c:pt idx="0">
                    <c:v>Peso (M3, final)</c:v>
                  </c:pt>
                  <c:pt idx="1">
                    <c:v>Peso (M1)</c:v>
                  </c:pt>
                  <c:pt idx="2">
                    <c:v>Importancia media (M2)</c:v>
                  </c:pt>
                  <c:pt idx="3">
                    <c:v>Compras previas (M1)</c:v>
                  </c:pt>
                  <c:pt idx="4">
                    <c:v>Importancia baja (M2)</c:v>
                  </c:pt>
                  <c:pt idx="5">
                    <c:v>Costo (M2)</c:v>
                  </c:pt>
                  <c:pt idx="6">
                    <c:v>Costo (M1)</c:v>
                  </c:pt>
                  <c:pt idx="7">
                    <c:v>Descuento (M1)</c:v>
                  </c:pt>
                </c:lvl>
              </c:multiLvlStrCache>
            </c:multiLvlStrRef>
          </c:cat>
          <c:val>
            <c:numRef>
              <c:f>Sheet1!$B$2:$B$9</c:f>
              <c:numCache>
                <c:formatCode>General</c:formatCode>
                <c:ptCount val="8"/>
                <c:pt idx="0">
                  <c:v>100</c:v>
                </c:pt>
                <c:pt idx="1">
                  <c:v>100</c:v>
                </c:pt>
                <c:pt idx="2">
                  <c:v>99.9</c:v>
                </c:pt>
                <c:pt idx="3">
                  <c:v>99.8</c:v>
                </c:pt>
                <c:pt idx="4">
                  <c:v>99.4</c:v>
                </c:pt>
                <c:pt idx="5">
                  <c:v>0</c:v>
                </c:pt>
                <c:pt idx="6">
                  <c:v>0</c:v>
                </c:pt>
                <c:pt idx="7">
                  <c:v>0</c:v>
                </c:pt>
              </c:numCache>
            </c:numRef>
          </c:val>
        </c:ser>
        <c:ser>
          <c:idx val="1"/>
          <c:order val="1"/>
          <c:tx>
            <c:strRef>
              <c:f>Sheet1!$C$1</c:f>
              <c:strCache>
                <c:ptCount val="1"/>
                <c:pt idx="0">
                  <c:v>Inestable (&lt; 97,5 % o IC con el 0)</c:v>
                </c:pt>
              </c:strCache>
            </c:strRef>
          </c:tx>
          <c:spPr>
            <a:solidFill>
              <a:srgbClr val="C9791A"/>
            </a:solidFill>
            <a:effectLst/>
          </c:spPr>
          <c:invertIfNegative val="0"/>
          <c:dLbls>
            <c:numFmt formatCode="0.0;;" sourceLinked="0"/>
            <c:txPr>
              <a:bodyPr/>
              <a:lstStyle/>
              <a:p>
                <a:pPr>
                  <a:defRPr b="0" i="0" strike="noStrike" sz="1200" u="none">
                    <a:solidFill>
                      <a:srgbClr val="FFFFFF"/>
                    </a:solidFill>
                    <a:latin typeface="+mn-lt"/>
                  </a:defRPr>
                </a:pPr>
              </a:p>
            </c:txPr>
            <c:dLblPos val="inEnd"/>
            <c:showLegendKey val="0"/>
            <c:showVal val="1"/>
            <c:showCatName val="0"/>
            <c:showSerName val="0"/>
            <c:showPercent val="0"/>
            <c:showBubbleSize val="0"/>
            <c:showLeaderLines val="0"/>
          </c:dLbls>
          <c:cat>
            <c:multiLvlStrRef>
              <c:f>Sheet1!$A$2:$A$9</c:f>
              <c:multiLvlStrCache>
                <c:ptCount val="8"/>
                <c:lvl>
                  <c:pt idx="0">
                    <c:v>Peso (M3, final)</c:v>
                  </c:pt>
                  <c:pt idx="1">
                    <c:v>Peso (M1)</c:v>
                  </c:pt>
                  <c:pt idx="2">
                    <c:v>Importancia media (M2)</c:v>
                  </c:pt>
                  <c:pt idx="3">
                    <c:v>Compras previas (M1)</c:v>
                  </c:pt>
                  <c:pt idx="4">
                    <c:v>Importancia baja (M2)</c:v>
                  </c:pt>
                  <c:pt idx="5">
                    <c:v>Costo (M2)</c:v>
                  </c:pt>
                  <c:pt idx="6">
                    <c:v>Costo (M1)</c:v>
                  </c:pt>
                  <c:pt idx="7">
                    <c:v>Descuento (M1)</c:v>
                  </c:pt>
                </c:lvl>
              </c:multiLvlStrCache>
            </c:multiLvlStrRef>
          </c:cat>
          <c:val>
            <c:numRef>
              <c:f>Sheet1!$C$2:$C$9</c:f>
              <c:numCache>
                <c:formatCode>General</c:formatCode>
                <c:ptCount val="8"/>
                <c:pt idx="0">
                  <c:v>0</c:v>
                </c:pt>
                <c:pt idx="1">
                  <c:v>0</c:v>
                </c:pt>
                <c:pt idx="2">
                  <c:v>0</c:v>
                </c:pt>
                <c:pt idx="3">
                  <c:v>0</c:v>
                </c:pt>
                <c:pt idx="4">
                  <c:v>0</c:v>
                </c:pt>
                <c:pt idx="5">
                  <c:v>97.4</c:v>
                </c:pt>
                <c:pt idx="6">
                  <c:v>97.1</c:v>
                </c:pt>
                <c:pt idx="7">
                  <c:v>79.9</c:v>
                </c:pt>
              </c:numCache>
            </c:numRef>
          </c:val>
        </c:ser>
        <c:dLbls>
          <c:numFmt formatCode="0.0;;" sourceLinked="0"/>
          <c:txPr>
            <a:bodyPr/>
            <a:lstStyle/>
            <a:p>
              <a:pPr>
                <a:defRPr b="0" i="0" strike="noStrike" sz="1200" u="none">
                  <a:solidFill>
                    <a:srgbClr val="FFFFFF"/>
                  </a:solidFill>
                  <a:latin typeface="+mn-lt"/>
                </a:defRPr>
              </a:pPr>
            </a:p>
          </c:txPr>
          <c:dLblPos val="inEnd"/>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5E6B73"/>
                </a:solidFill>
                <a:latin typeface="+mn-lt"/>
              </a:defRPr>
            </a:pPr>
            <a:endParaRPr lang="en-US"/>
          </a:p>
        </c:txPr>
        <c:crossAx val="2094734552"/>
        <c:crosses val="autoZero"/>
        <c:auto val="1"/>
        <c:lblAlgn val="ctr"/>
        <c:noMultiLvlLbl val="1"/>
      </c:catAx>
      <c:valAx>
        <c:axId val="2094734552"/>
        <c:scaling>
          <c:orientation val="minMax"/>
          <c:max val="100"/>
          <c:min val="75"/>
        </c:scaling>
        <c:delete val="0"/>
        <c:axPos val="b"/>
        <c:majorGridlines>
          <c:spPr>
            <a:ln w="9525" cap="flat">
              <a:solidFill>
                <a:srgbClr val="DDE5E7"/>
              </a:solidFill>
              <a:prstDash val="solid"/>
              <a:round/>
            </a:ln>
          </c:spPr>
        </c:majorGridlines>
        <c:numFmt formatCode="General" sourceLinked="0"/>
        <c:majorTickMark val="out"/>
        <c:minorTickMark val="none"/>
        <c:tickLblPos val="low"/>
        <c:spPr>
          <a:ln w="12700" cap="flat">
            <a:noFill/>
            <a:prstDash val="solid"/>
            <a:round/>
          </a:ln>
        </c:spPr>
        <c:txPr>
          <a:bodyPr/>
          <a:lstStyle/>
          <a:p>
            <a:pPr>
              <a:defRPr sz="1100" b="0" i="0" u="none" strike="noStrike">
                <a:solidFill>
                  <a:srgbClr val="5E6B73"/>
                </a:solidFill>
                <a:latin typeface="+mn-lt"/>
              </a:defRPr>
            </a:pPr>
            <a:endParaRPr lang="en-US"/>
          </a:p>
        </c:txPr>
        <c:crossAx val="2094734554"/>
        <c:crosses val="autoZero"/>
        <c:crossBetween val="between"/>
        <c:majorUnit val="5"/>
      </c:valAx>
      <c:spPr>
        <a:noFill/>
        <a:ln>
          <a:noFill/>
        </a:ln>
        <a:effectLst/>
      </c:spPr>
    </c:plotArea>
    <c:legend>
      <c:legendPos val="b"/>
      <c:overlay val="0"/>
      <c:txPr>
        <a:bodyPr/>
        <a:lstStyle/>
        <a:p>
          <a:pPr>
            <a:defRPr sz="1200">
              <a:solidFill>
                <a:srgbClr val="1B2A33"/>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[JOSÉ · 0:10]
Hola, somos el grupo 1: Yerko Gallardo Miranda, Sebastián Rojas Araya y yo, José Ignacio Rodríguez. Presentamos el cierre de nuestro proyecto sobre los factores asociados al atraso en envíos de comercio electrónico, recorriendo sus tres etapas: S1, S2 y S3.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[JOSÉ · 0:30]
Trabajamos con 10.999 envíos de una empresa de comercio electrónico. El 59,67 % llegó atrasado, con un intervalo de confianza de Wilson entre 58,75 y 60,58 %. Desde la Sumativa 1 nos preguntamos qué características se asocian con ese atraso y qué evidencia sirve para orientar una revisión operacional. Un dato marcó todo el proyecto: los 2.647 envíos con descuento mayor que 10 llegaron atrasados sin excepción. En esta tercera etapa el objetivo es pasar de describir asociaciones a clasificar el atraso.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[JOSÉ · 0:50]
El proyecto avanzó en etapas que se apoyan una en la otra. En S1 describimos los datos e hicimos inferencia: los envíos atrasados pesan en promedio 896 gramos menos, los de descuento mayor que 10 están todos atrasados y la modalidad de envío no se asocia con el atraso. En S2 validamos esos resultados con bootstrap, permutación, Monte Carlo y jackknife: confirmamos los intervalos y descubrimos que solo el peso es robusto, porque la asociación del descuento existe únicamente por el segmento mayor que 10, que coincide con los envíos 1 a 3.135 del archivo. En la formativa ensayamos una primera regresión logística: AUC de 0,714, pero de solo 0,521 fuera de ese segmento. Con todo eso modelamos en S3.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[JOSÉ · 0:35]
Cada decisión de S3 tiene su origen en un resultado previo. Como S1 no tenía faltantes, los simulamos. La matriz de Spearman de S1 y la estabilidad de S2 eligieron los predictores de la imputación. El descuento mayor que 10 nos llevó a modelar solo el segmento con descuento hasta 10. Conservamos los valores extremos porque S2 mostró que no cambian nada, y excluimos llamadas, calificación y el identificador para evitar fuga de información. El bootstrap BCa que S2 validó se usa ahora para la estabilidad del modelo.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[JOSÉ · 0:35]
La metodología tiene cinco pasos. Uno, simulamos faltantes y los imputamos por regresión. Dos, separamos el segmento con descuento mayor que 10. Tres, ajustamos tres regresiones logísticas en el resto. Cuatro, evaluamos su estabilidad con bootstrap y diagnosticamos los supuestos. Y cinco, medimos cuánto depende el modelo de la forma de imputar. Usamos la misma semilla y la misma partición 70/30 estratificada que en las etapas anteriores, para que todo sea reproducible. Yerko presenta los datos faltantes.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[YERKO · 0:50]
Como S1 no tenía valores faltantes, los simulamos: eliminamos cerca del 10 % del peso, el costo, las compras previas y el descuento, 4.360 valores en total, y un tercio de los envíos quedó incompleto. El mecanismo es MAR: la probabilidad de faltar depende de variables observadas, como la importancia o la bodega, y no del valor propio ni del atraso. Lo verificamos con una regresión logística del indicador de faltante. Luego imputamos cada variable con una regresión lineal múltiple, eligiendo los predictores de la matriz de Spearman de S1 y priorizando las correlaciones que S2 mostró estables. El R² va de 0,27 en el peso a 0,05 en compras previas: las correlaciones de origen eran débiles, y lo reportamos así.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[YERKO · 0:50]
Comparamos la imputación por regresión con dos alternativas: eliminar las filas incompletas e imputar con la mediana. La eliminación mantiene la distribución, pero pierde un tercio de los envíos. La mediana conserva todos, pero deforma la distribución. La regresión conserva los 10.999 envíos y es la que menos se equivoca frente al valor real: su error es 0,92 desviaciones estándar, contra 1,05 de la mediana. Esto se puede medir porque los faltantes son simulados. Elegimos la regresión, con un costo que documentamos: al imputar el descuento, 447 envíos quedan en el segmento equivocado. Sebastián presenta los modelos.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[SEBASTIÁN · 0:40]
Antes de modelar separamos los envíos según el descuento. Si incluyéramos un indicador de descuento mayor que 10, habría separación completa: todos esos envíos están atrasados y el coeficiente de máxima verosimilitud no existe. Además, la formativa mostró que fuera de ese segmento el modelo discriminaba como el azar. Por eso, siguiendo la retroalimentación del profesor, al segmento mayor que 10 le aplicamos una regla, su tasa de atraso, y concentramos los modelos en los envíos con descuento hasta 10, donde está la incertidumbre real. Modelo y regla forman el clasificador combinado.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[SEBASTIÁN · 0:40]
Ajustamos tres modelos. M1 usa las variables que S1 y S2 señalaron: peso, descuento, costo y compras previas. M2 sale de un stepwise por AIC y suma la importancia del producto. M3 es el subconjunto de menor BIC y conserva solo el peso. Los tres discriminan parecido, pero M3 tiene el mayor AUC de prueba y el menor BIC, así que lo elegimos. Su razón de odds indica que cada 1.000 gramos adicionales reducen las odds de atraso un 9,5 %. Dentro de este segmento el descuento ya no aporta: su OR es 0,992, con p de 0,40.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[SEBASTIÁN · 0:40]
Frente a la formativa, el clasificador combinado mejora en todo: el AUC total sube de 0,714 a 0,720, la exactitud de 0,628 a 0,659 y la especificidad de 0,538 a 0,751. De cada 10 alertas, casi 8 son atrasos reales, y detecta el 60 % de los atrasos. Pero hay que ser honestos: dentro del segmento con descuento hasta 10, el AUC es 0,551, apenas sobre el azar. Fuera del descuento alto, los datos tienen poca señal.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[SEBASTIÁN · 0:40]
El diagnóstico del modelo final muestra que no hay multicolinealidad: los VIF no pasan de 1,26. El problema está en la forma del efecto: la prueba de Box-Tidwell rechaza la linealidad del peso, y el gráfico muestra que el atraso es máximo cerca de los 3.000 gramos, algo coherente con la distribución bimodal que vimos en S1. La recta solo captura la tendencia descendente, y por eso 7 de 20 grupos de residuos quedan fuera de la banda. Hay 523 envíos con alto leverage, pero sin ellos el efecto del peso va en la misma dirección e incluso es más intenso. Los conservamos porque son envíos válidos. Yerko sigue con la estabilidad.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[YERKO · 0:50]
Para saber qué coeficientes son confiables, usamos el mismo bootstrap que validamos en S2: 10.000 remuestras por pares del entrenamiento, reajustando los tres modelos en cada una. El peso conserva su signo en el 100 % de las réplicas, y su intervalo BCa coincide con el de Wald: el efecto es estable. Los coeficientes inestables son justamente los que S2 había marcado como sensibles. El descuento cambia de signo en una de cada cinco réplicas, lo que confirma con el modelo que su asociación dependía del segmento mayor que 10. El costo queda en el límite.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[YERKO · 0:50]
Por último, reajustamos el modelo final con cada estrategia de faltantes y con los datos originales, que conocemos. Para comparar justo, evaluamos todos en una misma prueba con valores reales. El AUC es 0,736 en las cuatro opciones: la estrategia no cambia la discriminación. Sí cambia la magnitud del efecto: la mediana lo sesga un 3,4 %, y el valor original queda fuera de su intervalo, porque mete en el segmento hasta 10 envíos con descuento real alto. La regresión reproduce el efecto original con el intervalo más estrecho. Su costo está en la regla: reasigna 428 envíos al segmento alto. Sebastián presenta las conclusiones.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[SEBASTIÁN · 0:40]
En síntesis, S3 confirma con un modelo lo que S1 encontró y S2 validó. El peso es el factor robusto: pasó de una diferencia de medias en S1 a ser la única asociación estable en S2 y el único predictor del modelo final. El descuento importa solo como umbral: sobre 10 implica atraso, bajo 10 no aporta nada. La modalidad nunca se asoció con el atraso, y las demás variables tienen efectos pequeños. La respuesta a nuestra pregunta es: descuento mayor que 10 y, fuera de él, menor peso. José cierra con las recomendaciones.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[JOSÉ · 0:30]
Recomendamos cuatro acciones. Primero, auditar los envíos con descuento mayor que 10, un cuarto del total: hay que saber si el descuento es una compensación posterior al atraso, una política comercial o un efecto de cómo se registró el archivo. Segundo, revisar el proceso de los envíos livianos, en especial cerca de los 3.000 gramos. Tercero, usar el modelo solo para priorizar revisiones, no para predecir. Y cuarto, mejorar el registro de fechas y transportistas. Gracias.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331720"/>
            <a:ext cx="10698480" cy="155448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731520" y="4023360"/>
            <a:ext cx="10698480" cy="548640"/>
          </a:xfrm>
          <a:prstGeom prst="rect">
            <a:avLst/>
          </a:prstGeom>
          <a:noFill/>
          <a:ln/>
        </p:spPr>
        <p:txBody>
          <a:bodyPr wrap="square" rtlCol="0"/>
          <a:lstStyle>
            <a:lvl1pPr indent="0" marL="0">
              <a:buNone/>
              <a:defRPr lang="en-US" sz="2000" dirty="0">
                <a:solidFill>
                  <a:schemeClr val="accent4"/>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IDO">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869680" cy="685800"/>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3" name="Text 0"/>
          <p:cNvSpPr/>
          <p:nvPr>
            <p:ph idx="101" type="body" hasCustomPrompt="1"/>
          </p:nvPr>
        </p:nvSpPr>
        <p:spPr>
          <a:xfrm>
            <a:off x="548640" y="987552"/>
            <a:ext cx="8869680" cy="411480"/>
          </a:xfrm>
          <a:prstGeom prst="rect">
            <a:avLst/>
          </a:prstGeom>
          <a:noFill/>
          <a:ln/>
        </p:spPr>
        <p:txBody>
          <a:bodyPr wrap="square" rtlCol="0"/>
          <a:lstStyle>
            <a:lvl1pPr indent="0" marL="0">
              <a:buNone/>
              <a:defRPr lang="en-US" sz="1600" dirty="0">
                <a:solidFill>
                  <a:schemeClr val="accent5"/>
                </a:solidFill>
              </a:defRPr>
            </a:lvl1pPr>
          </a:lstStyle>
          <a:p>
            <a:pPr indent="0" marL="0">
              <a:buNone/>
            </a:pPr>
            <a:endParaRPr lang="en-US" sz="1600" dirty="0"/>
          </a:p>
        </p:txBody>
      </p:sp>
      <p:sp>
        <p:nvSpPr>
          <p:cNvPr id="4" name="Text 0"/>
          <p:cNvSpPr/>
          <p:nvPr/>
        </p:nvSpPr>
        <p:spPr>
          <a:xfrm>
            <a:off x="7589520" y="6382512"/>
            <a:ext cx="3657600" cy="274320"/>
          </a:xfrm>
          <a:prstGeom prst="rect">
            <a:avLst/>
          </a:prstGeom>
          <a:noFill/>
          <a:ln/>
        </p:spPr>
        <p:txBody>
          <a:bodyPr wrap="square" lIns="0" tIns="0" rIns="0" bIns="0" rtlCol="0" anchor="ctr"/>
          <a:lstStyle/>
          <a:p>
            <a:pPr algn="r" indent="0" marL="0">
              <a:buNone/>
            </a:pPr>
            <a:r>
              <a:rPr lang="en-US" sz="1000" dirty="0">
                <a:solidFill>
                  <a:schemeClr val="accent5"/>
                </a:solidFill>
              </a:rPr>
              <a:t>Grupo 1 · MCDI501 · Sumativa 3</a:t>
            </a:r>
            <a:endParaRPr lang="en-US" sz="1000" dirty="0"/>
          </a:p>
        </p:txBody>
      </p:sp>
      <p:sp>
        <p:nvSpPr>
          <p:cNvPr id="25" name="Slide Number Placeholder 0"/>
          <p:cNvSpPr>
            <a:spLocks noGrp="1"/>
          </p:cNvSpPr>
          <p:nvPr>
            <p:ph type="sldNum" sz="quarter" idx="4294967295"/>
          </p:nvPr>
        </p:nvSpPr>
        <p:spPr>
          <a:xfrm>
            <a:off x="11338560" y="6382512"/>
            <a:ext cx="3200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OSCURO">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869680" cy="685800"/>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3" name="Text 0"/>
          <p:cNvSpPr/>
          <p:nvPr>
            <p:ph idx="101" type="body" hasCustomPrompt="1"/>
          </p:nvPr>
        </p:nvSpPr>
        <p:spPr>
          <a:xfrm>
            <a:off x="548640" y="987552"/>
            <a:ext cx="8869680" cy="411480"/>
          </a:xfrm>
          <a:prstGeom prst="rect">
            <a:avLst/>
          </a:prstGeom>
          <a:noFill/>
          <a:ln/>
        </p:spPr>
        <p:txBody>
          <a:bodyPr wrap="square" rtlCol="0"/>
          <a:lstStyle>
            <a:lvl1pPr indent="0" marL="0">
              <a:buNone/>
              <a:defRPr lang="en-US" sz="1600" dirty="0">
                <a:solidFill>
                  <a:schemeClr val="accent4"/>
                </a:solidFill>
              </a:defRPr>
            </a:lvl1pPr>
          </a:lstStyle>
          <a:p>
            <a:pPr indent="0" marL="0">
              <a:buNone/>
            </a:pPr>
            <a:endParaRPr lang="en-US" sz="1600" dirty="0"/>
          </a:p>
        </p:txBody>
      </p:sp>
      <p:sp>
        <p:nvSpPr>
          <p:cNvPr id="4" name="Text 0"/>
          <p:cNvSpPr/>
          <p:nvPr/>
        </p:nvSpPr>
        <p:spPr>
          <a:xfrm>
            <a:off x="7589520" y="6382512"/>
            <a:ext cx="3657600" cy="274320"/>
          </a:xfrm>
          <a:prstGeom prst="rect">
            <a:avLst/>
          </a:prstGeom>
          <a:noFill/>
          <a:ln/>
        </p:spPr>
        <p:txBody>
          <a:bodyPr wrap="square" lIns="0" tIns="0" rIns="0" bIns="0" rtlCol="0" anchor="ctr"/>
          <a:lstStyle/>
          <a:p>
            <a:pPr algn="r" indent="0" marL="0">
              <a:buNone/>
            </a:pPr>
            <a:r>
              <a:rPr lang="en-US" sz="1000" dirty="0">
                <a:solidFill>
                  <a:schemeClr val="accent4"/>
                </a:solidFill>
              </a:rPr>
              <a:t>Grupo 1 · MCDI501 · Sumativa 3</a:t>
            </a:r>
            <a:endParaRPr lang="en-US" sz="1000" dirty="0"/>
          </a:p>
        </p:txBody>
      </p:sp>
      <p:sp>
        <p:nvSpPr>
          <p:cNvPr id="25" name="Slide Number Placeholder 0"/>
          <p:cNvSpPr>
            <a:spLocks noGrp="1"/>
          </p:cNvSpPr>
          <p:nvPr>
            <p:ph type="sldNum" sz="quarter" idx="4294967295"/>
          </p:nvPr>
        </p:nvSpPr>
        <p:spPr>
          <a:xfrm>
            <a:off x="11338560" y="6382512"/>
            <a:ext cx="3200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382512"/>
            <a:ext cx="3200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3.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3.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4.xml"/><Relationship Id="rId6"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fondo logo"/>
          <p:cNvSpPr/>
          <p:nvPr/>
        </p:nvSpPr>
        <p:spPr>
          <a:xfrm>
            <a:off x="731520" y="548640"/>
            <a:ext cx="1737360" cy="1463040"/>
          </a:xfrm>
          <a:prstGeom prst="roundRect">
            <a:avLst>
              <a:gd name="adj" fmla="val 5000"/>
            </a:avLst>
          </a:prstGeom>
          <a:solidFill>
            <a:schemeClr val="bg1"/>
          </a:solidFill>
          <a:ln w="12700">
            <a:solidFill>
              <a:schemeClr val="bg1"/>
            </a:solidFill>
            <a:prstDash val="solid"/>
          </a:ln>
        </p:spPr>
      </p:sp>
      <p:pic>
        <p:nvPicPr>
          <p:cNvPr id="3" name="Image 0" descr="Logo Universidad Andrés Bello">    </p:cNvPr>
          <p:cNvPicPr>
            <a:picLocks noChangeAspect="1"/>
          </p:cNvPicPr>
          <p:nvPr/>
        </p:nvPicPr>
        <p:blipFill>
          <a:blip r:embed="rId1"/>
          <a:stretch>
            <a:fillRect/>
          </a:stretch>
        </p:blipFill>
        <p:spPr>
          <a:xfrm>
            <a:off x="886968" y="621792"/>
            <a:ext cx="1426464" cy="1179576"/>
          </a:xfrm>
          <a:prstGeom prst="rect">
            <a:avLst/>
          </a:prstGeom>
        </p:spPr>
      </p:pic>
      <p:sp>
        <p:nvSpPr>
          <p:cNvPr id="4" name="Text 0"/>
          <p:cNvSpPr/>
          <p:nvPr>
            <p:ph idx="100" type="title" hasCustomPrompt="1"/>
          </p:nvPr>
        </p:nvSpPr>
        <p:spPr>
          <a:xfrm>
            <a:off x="731520" y="2331720"/>
            <a:ext cx="10698480" cy="1554480"/>
          </a:xfrm>
          <a:prstGeom prst="rect">
            <a:avLst/>
          </a:prstGeom>
          <a:noFill/>
          <a:ln/>
        </p:spPr>
        <p:txBody>
          <a:bodyPr wrap="square" lIns="0" tIns="0" rIns="0" bIns="0" rtlCol="0" anchor="b"/>
          <a:lstStyle/>
          <a:p>
            <a:pPr algn="l" indent="0" marL="0">
              <a:buNone/>
            </a:pPr>
            <a:r>
              <a:rPr lang="en-US" sz="4000" b="1" dirty="0">
                <a:solidFill>
                  <a:schemeClr val="bg1"/>
                </a:solidFill>
              </a:rPr>
              <a:t>Factores asociados al atraso en envíos de comercio electrónico</a:t>
            </a:r>
            <a:endParaRPr lang="en-US" sz="4000" dirty="0"/>
          </a:p>
        </p:txBody>
      </p:sp>
      <p:sp>
        <p:nvSpPr>
          <p:cNvPr id="5" name="Text 0"/>
          <p:cNvSpPr/>
          <p:nvPr>
            <p:ph idx="101" type="body" hasCustomPrompt="1"/>
          </p:nvPr>
        </p:nvSpPr>
        <p:spPr>
          <a:xfrm>
            <a:off x="731520" y="4023360"/>
            <a:ext cx="10698480" cy="548640"/>
          </a:xfrm>
          <a:prstGeom prst="rect">
            <a:avLst/>
          </a:prstGeom>
          <a:noFill/>
          <a:ln/>
        </p:spPr>
        <p:txBody>
          <a:bodyPr wrap="square" lIns="0" tIns="0" rIns="0" bIns="0" rtlCol="0"/>
          <a:lstStyle/>
          <a:p>
            <a:pPr indent="0" marL="0">
              <a:buNone/>
            </a:pPr>
            <a:r>
              <a:rPr lang="en-US" sz="2000" dirty="0">
                <a:solidFill>
                  <a:schemeClr val="accent4"/>
                </a:solidFill>
              </a:rPr>
              <a:t>Presentación final del proyecto · progresión S1 → S2 → S3</a:t>
            </a:r>
            <a:endParaRPr lang="en-US" sz="2000" dirty="0"/>
          </a:p>
        </p:txBody>
      </p:sp>
      <p:sp>
        <p:nvSpPr>
          <p:cNvPr id="6" name="Text 3"/>
          <p:cNvSpPr txBox="1"/>
          <p:nvPr/>
        </p:nvSpPr>
        <p:spPr>
          <a:xfrm>
            <a:off x="731520" y="5120640"/>
            <a:ext cx="10698480" cy="914400"/>
          </a:xfrm>
          <a:prstGeom prst="rect">
            <a:avLst/>
          </a:prstGeom>
          <a:noFill/>
          <a:ln/>
        </p:spPr>
        <p:txBody>
          <a:bodyPr wrap="square" lIns="0" tIns="0" rIns="0" bIns="0" rtlCol="0" anchor="t"/>
          <a:lstStyle/>
          <a:p>
            <a:pPr indent="0" marL="0">
              <a:spcAft>
                <a:spcPts val="600"/>
              </a:spcAft>
              <a:buNone/>
            </a:pPr>
            <a:r>
              <a:rPr lang="en-US" sz="1400" b="1" dirty="0">
                <a:solidFill>
                  <a:schemeClr val="bg1"/>
                </a:solidFill>
              </a:rPr>
              <a:t>Grupo 1: </a:t>
            </a:r>
            <a:pPr indent="0" marL="0">
              <a:spcAft>
                <a:spcPts val="600"/>
              </a:spcAft>
              <a:buNone/>
            </a:pPr>
            <a:r>
              <a:rPr lang="en-US" sz="1400" dirty="0">
                <a:solidFill>
                  <a:schemeClr val="bg1"/>
                </a:solidFill>
              </a:rPr>
              <a:t>José Ignacio Rodríguez · Yerko Gallardo Miranda · Sebastián Rojas Araya</a:t>
            </a:r>
            <a:endParaRPr lang="en-US" sz="1400" dirty="0"/>
          </a:p>
          <a:p>
            <a:pPr indent="0" marL="0">
              <a:spcAft>
                <a:spcPts val="600"/>
              </a:spcAft>
              <a:buNone/>
            </a:pPr>
            <a:r>
              <a:rPr lang="en-US" sz="1400" dirty="0">
                <a:solidFill>
                  <a:schemeClr val="accent4"/>
                </a:solidFill>
              </a:rPr>
              <a:t>Magíster en Ciencia de Datos e Inteligencia Artificial · MCDI501 Estadística Computacional para la Toma de Decisiones · Octubre de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869680" cy="685800"/>
          </a:xfrm>
          <a:prstGeom prst="rect">
            <a:avLst/>
          </a:prstGeom>
          <a:noFill/>
          <a:ln/>
        </p:spPr>
        <p:txBody>
          <a:bodyPr wrap="square" lIns="0" tIns="0" rIns="0" bIns="0" rtlCol="0" anchor="ctr"/>
          <a:lstStyle/>
          <a:p>
            <a:pPr algn="l" indent="0" marL="0">
              <a:buNone/>
            </a:pPr>
            <a:r>
              <a:rPr lang="en-US" sz="3000" b="1" dirty="0">
                <a:solidFill>
                  <a:schemeClr val="tx2"/>
                </a:solidFill>
              </a:rPr>
              <a:t>Seis de cada diez envíos llegan atrasados</a:t>
            </a:r>
            <a:endParaRPr lang="en-US" sz="3000" dirty="0"/>
          </a:p>
        </p:txBody>
      </p:sp>
      <p:sp>
        <p:nvSpPr>
          <p:cNvPr id="3" name="Text 0"/>
          <p:cNvSpPr/>
          <p:nvPr>
            <p:ph idx="101" type="body" hasCustomPrompt="1"/>
          </p:nvPr>
        </p:nvSpPr>
        <p:spPr>
          <a:xfrm>
            <a:off x="548640" y="987552"/>
            <a:ext cx="8869680" cy="411480"/>
          </a:xfrm>
          <a:prstGeom prst="rect">
            <a:avLst/>
          </a:prstGeom>
          <a:noFill/>
          <a:ln/>
        </p:spPr>
        <p:txBody>
          <a:bodyPr wrap="square" lIns="0" tIns="0" rIns="0" bIns="0" rtlCol="0" anchor="t"/>
          <a:lstStyle/>
          <a:p>
            <a:pPr indent="0" marL="0">
              <a:buNone/>
            </a:pPr>
            <a:r>
              <a:rPr lang="en-US" sz="1600" dirty="0">
                <a:solidFill>
                  <a:schemeClr val="accent5"/>
                </a:solidFill>
              </a:rPr>
              <a:t>¿Qué características se asocian con el atraso?</a:t>
            </a:r>
            <a:endParaRPr lang="en-US" sz="1600" dirty="0"/>
          </a:p>
        </p:txBody>
      </p:sp>
      <p:sp>
        <p:nvSpPr>
          <p:cNvPr id="4" name="fase S1"/>
          <p:cNvSpPr/>
          <p:nvPr/>
        </p:nvSpPr>
        <p:spPr>
          <a:xfrm>
            <a:off x="9537192" y="429768"/>
            <a:ext cx="457200" cy="457200"/>
          </a:xfrm>
          <a:prstGeom prst="ellipse">
            <a:avLst/>
          </a:prstGeom>
          <a:solidFill>
            <a:schemeClr val="accent1"/>
          </a:solidFill>
          <a:ln w="12700">
            <a:solidFill>
              <a:schemeClr val="accent1"/>
            </a:solidFill>
            <a:prstDash val="solid"/>
          </a:ln>
        </p:spPr>
      </p:sp>
      <p:sp>
        <p:nvSpPr>
          <p:cNvPr id="5" name="Text 3"/>
          <p:cNvSpPr txBox="1"/>
          <p:nvPr/>
        </p:nvSpPr>
        <p:spPr>
          <a:xfrm>
            <a:off x="9537192" y="429768"/>
            <a:ext cx="457200" cy="457200"/>
          </a:xfrm>
          <a:prstGeom prst="rect">
            <a:avLst/>
          </a:prstGeom>
          <a:noFill/>
          <a:ln/>
        </p:spPr>
        <p:txBody>
          <a:bodyPr wrap="square" lIns="0" tIns="0" rIns="0" bIns="0" rtlCol="0" anchor="ctr"/>
          <a:lstStyle/>
          <a:p>
            <a:pPr algn="ctr" indent="0" marL="0">
              <a:buNone/>
            </a:pPr>
            <a:r>
              <a:rPr lang="en-US" sz="1200" b="1" dirty="0">
                <a:solidFill>
                  <a:schemeClr val="bg1"/>
                </a:solidFill>
              </a:rPr>
              <a:t>S1</a:t>
            </a:r>
            <a:endParaRPr lang="en-US" sz="1200" dirty="0"/>
          </a:p>
        </p:txBody>
      </p:sp>
      <p:sp>
        <p:nvSpPr>
          <p:cNvPr id="6" name="fase S2"/>
          <p:cNvSpPr/>
          <p:nvPr/>
        </p:nvSpPr>
        <p:spPr>
          <a:xfrm>
            <a:off x="10085832" y="429768"/>
            <a:ext cx="457200" cy="457200"/>
          </a:xfrm>
          <a:prstGeom prst="ellipse">
            <a:avLst/>
          </a:prstGeom>
          <a:solidFill>
            <a:schemeClr val="bg2"/>
          </a:solidFill>
          <a:ln w="12700">
            <a:solidFill>
              <a:schemeClr val="bg2"/>
            </a:solidFill>
            <a:prstDash val="solid"/>
          </a:ln>
        </p:spPr>
      </p:sp>
      <p:sp>
        <p:nvSpPr>
          <p:cNvPr id="7" name="Text 5"/>
          <p:cNvSpPr txBox="1"/>
          <p:nvPr/>
        </p:nvSpPr>
        <p:spPr>
          <a:xfrm>
            <a:off x="10085832" y="429768"/>
            <a:ext cx="457200" cy="457200"/>
          </a:xfrm>
          <a:prstGeom prst="rect">
            <a:avLst/>
          </a:prstGeom>
          <a:noFill/>
          <a:ln/>
        </p:spPr>
        <p:txBody>
          <a:bodyPr wrap="square" lIns="0" tIns="0" rIns="0" bIns="0" rtlCol="0" anchor="ctr"/>
          <a:lstStyle/>
          <a:p>
            <a:pPr algn="ctr" indent="0" marL="0">
              <a:buNone/>
            </a:pPr>
            <a:r>
              <a:rPr lang="en-US" sz="1200" b="1" dirty="0">
                <a:solidFill>
                  <a:schemeClr val="accent5"/>
                </a:solidFill>
              </a:rPr>
              <a:t>S2</a:t>
            </a:r>
            <a:endParaRPr lang="en-US" sz="1200" dirty="0"/>
          </a:p>
        </p:txBody>
      </p:sp>
      <p:sp>
        <p:nvSpPr>
          <p:cNvPr id="8" name="fase F2"/>
          <p:cNvSpPr/>
          <p:nvPr/>
        </p:nvSpPr>
        <p:spPr>
          <a:xfrm>
            <a:off x="10634472" y="429768"/>
            <a:ext cx="457200" cy="457200"/>
          </a:xfrm>
          <a:prstGeom prst="ellipse">
            <a:avLst/>
          </a:prstGeom>
          <a:solidFill>
            <a:schemeClr val="bg2"/>
          </a:solidFill>
          <a:ln w="12700">
            <a:solidFill>
              <a:schemeClr val="bg2"/>
            </a:solidFill>
            <a:prstDash val="solid"/>
          </a:ln>
        </p:spPr>
      </p:sp>
      <p:sp>
        <p:nvSpPr>
          <p:cNvPr id="9" name="Text 7"/>
          <p:cNvSpPr txBox="1"/>
          <p:nvPr/>
        </p:nvSpPr>
        <p:spPr>
          <a:xfrm>
            <a:off x="10634472" y="429768"/>
            <a:ext cx="457200" cy="457200"/>
          </a:xfrm>
          <a:prstGeom prst="rect">
            <a:avLst/>
          </a:prstGeom>
          <a:noFill/>
          <a:ln/>
        </p:spPr>
        <p:txBody>
          <a:bodyPr wrap="square" lIns="0" tIns="0" rIns="0" bIns="0" rtlCol="0" anchor="ctr"/>
          <a:lstStyle/>
          <a:p>
            <a:pPr algn="ctr" indent="0" marL="0">
              <a:buNone/>
            </a:pPr>
            <a:r>
              <a:rPr lang="en-US" sz="1200" b="1" dirty="0">
                <a:solidFill>
                  <a:schemeClr val="accent5"/>
                </a:solidFill>
              </a:rPr>
              <a:t>F2</a:t>
            </a:r>
            <a:endParaRPr lang="en-US" sz="1200" dirty="0"/>
          </a:p>
        </p:txBody>
      </p:sp>
      <p:sp>
        <p:nvSpPr>
          <p:cNvPr id="10" name="fase S3"/>
          <p:cNvSpPr/>
          <p:nvPr/>
        </p:nvSpPr>
        <p:spPr>
          <a:xfrm>
            <a:off x="11183112" y="429768"/>
            <a:ext cx="457200" cy="457200"/>
          </a:xfrm>
          <a:prstGeom prst="ellipse">
            <a:avLst/>
          </a:prstGeom>
          <a:solidFill>
            <a:schemeClr val="bg2"/>
          </a:solidFill>
          <a:ln w="12700">
            <a:solidFill>
              <a:schemeClr val="bg2"/>
            </a:solidFill>
            <a:prstDash val="solid"/>
          </a:ln>
        </p:spPr>
      </p:sp>
      <p:sp>
        <p:nvSpPr>
          <p:cNvPr id="11" name="Text 9"/>
          <p:cNvSpPr txBox="1"/>
          <p:nvPr/>
        </p:nvSpPr>
        <p:spPr>
          <a:xfrm>
            <a:off x="11183112" y="429768"/>
            <a:ext cx="457200" cy="457200"/>
          </a:xfrm>
          <a:prstGeom prst="rect">
            <a:avLst/>
          </a:prstGeom>
          <a:noFill/>
          <a:ln/>
        </p:spPr>
        <p:txBody>
          <a:bodyPr wrap="square" lIns="0" tIns="0" rIns="0" bIns="0" rtlCol="0" anchor="ctr"/>
          <a:lstStyle/>
          <a:p>
            <a:pPr algn="ctr" indent="0" marL="0">
              <a:buNone/>
            </a:pPr>
            <a:r>
              <a:rPr lang="en-US" sz="1200" b="1" dirty="0">
                <a:solidFill>
                  <a:schemeClr val="accent5"/>
                </a:solidFill>
              </a:rPr>
              <a:t>S3</a:t>
            </a:r>
            <a:endParaRPr lang="en-US" sz="1200" dirty="0"/>
          </a:p>
        </p:txBody>
      </p:sp>
      <p:sp>
        <p:nvSpPr>
          <p:cNvPr id="12" name="tarjeta dato 1"/>
          <p:cNvSpPr/>
          <p:nvPr/>
        </p:nvSpPr>
        <p:spPr>
          <a:xfrm>
            <a:off x="548640" y="1645920"/>
            <a:ext cx="3502152" cy="2331720"/>
          </a:xfrm>
          <a:prstGeom prst="roundRect">
            <a:avLst>
              <a:gd name="adj" fmla="val 3137"/>
            </a:avLst>
          </a:prstGeom>
          <a:solidFill>
            <a:schemeClr val="bg2"/>
          </a:solidFill>
          <a:ln w="12700">
            <a:solidFill>
              <a:schemeClr val="bg2"/>
            </a:solidFill>
            <a:prstDash val="solid"/>
          </a:ln>
        </p:spPr>
      </p:sp>
      <p:sp>
        <p:nvSpPr>
          <p:cNvPr id="13" name="icono dato 1"/>
          <p:cNvSpPr/>
          <p:nvPr/>
        </p:nvSpPr>
        <p:spPr>
          <a:xfrm>
            <a:off x="822960" y="1874520"/>
            <a:ext cx="640080" cy="640080"/>
          </a:xfrm>
          <a:prstGeom prst="ellipse">
            <a:avLst/>
          </a:prstGeom>
          <a:solidFill>
            <a:schemeClr val="accent1"/>
          </a:solidFill>
          <a:ln w="12700">
            <a:solidFill>
              <a:schemeClr val="accent1"/>
            </a:solidFill>
            <a:prstDash val="solid"/>
          </a:ln>
        </p:spPr>
      </p:sp>
      <p:pic>
        <p:nvPicPr>
          <p:cNvPr id="14" name="Image 0" descr="icono dato 1">    </p:cNvPr>
          <p:cNvPicPr>
            <a:picLocks noChangeAspect="1"/>
          </p:cNvPicPr>
          <p:nvPr/>
        </p:nvPicPr>
        <p:blipFill>
          <a:blip r:embed="rId1"/>
          <a:stretch>
            <a:fillRect/>
          </a:stretch>
        </p:blipFill>
        <p:spPr>
          <a:xfrm>
            <a:off x="976579" y="2028139"/>
            <a:ext cx="332842" cy="332842"/>
          </a:xfrm>
          <a:prstGeom prst="rect">
            <a:avLst/>
          </a:prstGeom>
        </p:spPr>
      </p:pic>
      <p:sp>
        <p:nvSpPr>
          <p:cNvPr id="15" name="Text 12"/>
          <p:cNvSpPr txBox="1"/>
          <p:nvPr/>
        </p:nvSpPr>
        <p:spPr>
          <a:xfrm>
            <a:off x="822960" y="2651760"/>
            <a:ext cx="3017520" cy="640080"/>
          </a:xfrm>
          <a:prstGeom prst="rect">
            <a:avLst/>
          </a:prstGeom>
          <a:noFill/>
          <a:ln/>
        </p:spPr>
        <p:txBody>
          <a:bodyPr wrap="square" lIns="0" tIns="0" rIns="0" bIns="0" rtlCol="0" anchor="ctr"/>
          <a:lstStyle/>
          <a:p>
            <a:pPr indent="0" marL="0">
              <a:buNone/>
            </a:pPr>
            <a:r>
              <a:rPr lang="en-US" sz="4400" b="1" dirty="0">
                <a:solidFill>
                  <a:schemeClr val="tx2"/>
                </a:solidFill>
                <a:latin typeface="Cambria" pitchFamily="34" charset="0"/>
                <a:ea typeface="Cambria" pitchFamily="34" charset="-122"/>
                <a:cs typeface="Cambria" pitchFamily="34" charset="-120"/>
              </a:rPr>
              <a:t>10.999</a:t>
            </a:r>
            <a:endParaRPr lang="en-US" sz="4400" dirty="0"/>
          </a:p>
        </p:txBody>
      </p:sp>
      <p:sp>
        <p:nvSpPr>
          <p:cNvPr id="16" name="Text 13"/>
          <p:cNvSpPr txBox="1"/>
          <p:nvPr/>
        </p:nvSpPr>
        <p:spPr>
          <a:xfrm>
            <a:off x="822960" y="3310128"/>
            <a:ext cx="3017520" cy="594360"/>
          </a:xfrm>
          <a:prstGeom prst="rect">
            <a:avLst/>
          </a:prstGeom>
          <a:noFill/>
          <a:ln/>
        </p:spPr>
        <p:txBody>
          <a:bodyPr wrap="square" lIns="0" tIns="0" rIns="0" bIns="0" rtlCol="0" anchor="t"/>
          <a:lstStyle/>
          <a:p>
            <a:pPr indent="0" marL="0">
              <a:buNone/>
            </a:pPr>
            <a:r>
              <a:rPr lang="en-US" sz="1400" dirty="0">
                <a:solidFill>
                  <a:schemeClr val="tx1"/>
                </a:solidFill>
              </a:rPr>
              <a:t>envíos de una empresa de comercio electrónico (Gopalani, 2021)</a:t>
            </a:r>
            <a:endParaRPr lang="en-US" sz="1400" dirty="0"/>
          </a:p>
        </p:txBody>
      </p:sp>
      <p:sp>
        <p:nvSpPr>
          <p:cNvPr id="17" name="tarjeta dato 2"/>
          <p:cNvSpPr/>
          <p:nvPr/>
        </p:nvSpPr>
        <p:spPr>
          <a:xfrm>
            <a:off x="4325112" y="1645920"/>
            <a:ext cx="3502152" cy="2331720"/>
          </a:xfrm>
          <a:prstGeom prst="roundRect">
            <a:avLst>
              <a:gd name="adj" fmla="val 3137"/>
            </a:avLst>
          </a:prstGeom>
          <a:solidFill>
            <a:schemeClr val="bg2"/>
          </a:solidFill>
          <a:ln w="12700">
            <a:solidFill>
              <a:schemeClr val="bg2"/>
            </a:solidFill>
            <a:prstDash val="solid"/>
          </a:ln>
        </p:spPr>
      </p:sp>
      <p:sp>
        <p:nvSpPr>
          <p:cNvPr id="18" name="icono dato 2"/>
          <p:cNvSpPr/>
          <p:nvPr/>
        </p:nvSpPr>
        <p:spPr>
          <a:xfrm>
            <a:off x="4599432" y="1874520"/>
            <a:ext cx="640080" cy="640080"/>
          </a:xfrm>
          <a:prstGeom prst="ellipse">
            <a:avLst/>
          </a:prstGeom>
          <a:solidFill>
            <a:schemeClr val="accent2"/>
          </a:solidFill>
          <a:ln w="12700">
            <a:solidFill>
              <a:schemeClr val="accent2"/>
            </a:solidFill>
            <a:prstDash val="solid"/>
          </a:ln>
        </p:spPr>
      </p:sp>
      <p:pic>
        <p:nvPicPr>
          <p:cNvPr id="19" name="Image 1" descr="icono dato 2">    </p:cNvPr>
          <p:cNvPicPr>
            <a:picLocks noChangeAspect="1"/>
          </p:cNvPicPr>
          <p:nvPr/>
        </p:nvPicPr>
        <p:blipFill>
          <a:blip r:embed="rId2"/>
          <a:stretch>
            <a:fillRect/>
          </a:stretch>
        </p:blipFill>
        <p:spPr>
          <a:xfrm>
            <a:off x="4753051" y="2028139"/>
            <a:ext cx="332842" cy="332842"/>
          </a:xfrm>
          <a:prstGeom prst="rect">
            <a:avLst/>
          </a:prstGeom>
        </p:spPr>
      </p:pic>
      <p:sp>
        <p:nvSpPr>
          <p:cNvPr id="20" name="Text 16"/>
          <p:cNvSpPr txBox="1"/>
          <p:nvPr/>
        </p:nvSpPr>
        <p:spPr>
          <a:xfrm>
            <a:off x="4599432" y="2651760"/>
            <a:ext cx="3017520" cy="640080"/>
          </a:xfrm>
          <a:prstGeom prst="rect">
            <a:avLst/>
          </a:prstGeom>
          <a:noFill/>
          <a:ln/>
        </p:spPr>
        <p:txBody>
          <a:bodyPr wrap="square" lIns="0" tIns="0" rIns="0" bIns="0" rtlCol="0" anchor="ctr"/>
          <a:lstStyle/>
          <a:p>
            <a:pPr indent="0" marL="0">
              <a:buNone/>
            </a:pPr>
            <a:r>
              <a:rPr lang="en-US" sz="4400" b="1" dirty="0">
                <a:solidFill>
                  <a:schemeClr val="accent2"/>
                </a:solidFill>
                <a:latin typeface="Cambria" pitchFamily="34" charset="0"/>
                <a:ea typeface="Cambria" pitchFamily="34" charset="-122"/>
                <a:cs typeface="Cambria" pitchFamily="34" charset="-120"/>
              </a:rPr>
              <a:t>59,67 %</a:t>
            </a:r>
            <a:endParaRPr lang="en-US" sz="4400" dirty="0"/>
          </a:p>
        </p:txBody>
      </p:sp>
      <p:sp>
        <p:nvSpPr>
          <p:cNvPr id="21" name="Text 17"/>
          <p:cNvSpPr txBox="1"/>
          <p:nvPr/>
        </p:nvSpPr>
        <p:spPr>
          <a:xfrm>
            <a:off x="4599432" y="3310128"/>
            <a:ext cx="3017520" cy="594360"/>
          </a:xfrm>
          <a:prstGeom prst="rect">
            <a:avLst/>
          </a:prstGeom>
          <a:noFill/>
          <a:ln/>
        </p:spPr>
        <p:txBody>
          <a:bodyPr wrap="square" lIns="0" tIns="0" rIns="0" bIns="0" rtlCol="0" anchor="t"/>
          <a:lstStyle/>
          <a:p>
            <a:pPr indent="0" marL="0">
              <a:buNone/>
            </a:pPr>
            <a:r>
              <a:rPr lang="en-US" sz="1400" dirty="0">
                <a:solidFill>
                  <a:schemeClr val="tx1"/>
                </a:solidFill>
              </a:rPr>
              <a:t>llegó atrasado · intervalo de confianza (IC) 95 % de Wilson [58,75; 60,58]</a:t>
            </a:r>
            <a:endParaRPr lang="en-US" sz="1400" dirty="0"/>
          </a:p>
        </p:txBody>
      </p:sp>
      <p:sp>
        <p:nvSpPr>
          <p:cNvPr id="22" name="tarjeta dato 3"/>
          <p:cNvSpPr/>
          <p:nvPr/>
        </p:nvSpPr>
        <p:spPr>
          <a:xfrm>
            <a:off x="8101584" y="1645920"/>
            <a:ext cx="3502152" cy="2331720"/>
          </a:xfrm>
          <a:prstGeom prst="roundRect">
            <a:avLst>
              <a:gd name="adj" fmla="val 3137"/>
            </a:avLst>
          </a:prstGeom>
          <a:solidFill>
            <a:schemeClr val="bg2"/>
          </a:solidFill>
          <a:ln w="12700">
            <a:solidFill>
              <a:schemeClr val="bg2"/>
            </a:solidFill>
            <a:prstDash val="solid"/>
          </a:ln>
        </p:spPr>
      </p:sp>
      <p:sp>
        <p:nvSpPr>
          <p:cNvPr id="23" name="icono dato 3"/>
          <p:cNvSpPr/>
          <p:nvPr/>
        </p:nvSpPr>
        <p:spPr>
          <a:xfrm>
            <a:off x="8375904" y="1874520"/>
            <a:ext cx="640080" cy="640080"/>
          </a:xfrm>
          <a:prstGeom prst="ellipse">
            <a:avLst/>
          </a:prstGeom>
          <a:solidFill>
            <a:schemeClr val="accent1"/>
          </a:solidFill>
          <a:ln w="12700">
            <a:solidFill>
              <a:schemeClr val="accent1"/>
            </a:solidFill>
            <a:prstDash val="solid"/>
          </a:ln>
        </p:spPr>
      </p:sp>
      <p:pic>
        <p:nvPicPr>
          <p:cNvPr id="24" name="Image 2" descr="icono dato 3">    </p:cNvPr>
          <p:cNvPicPr>
            <a:picLocks noChangeAspect="1"/>
          </p:cNvPicPr>
          <p:nvPr/>
        </p:nvPicPr>
        <p:blipFill>
          <a:blip r:embed="rId3"/>
          <a:stretch>
            <a:fillRect/>
          </a:stretch>
        </p:blipFill>
        <p:spPr>
          <a:xfrm>
            <a:off x="8529523" y="2028139"/>
            <a:ext cx="332842" cy="332842"/>
          </a:xfrm>
          <a:prstGeom prst="rect">
            <a:avLst/>
          </a:prstGeom>
        </p:spPr>
      </p:pic>
      <p:sp>
        <p:nvSpPr>
          <p:cNvPr id="25" name="Text 20"/>
          <p:cNvSpPr txBox="1"/>
          <p:nvPr/>
        </p:nvSpPr>
        <p:spPr>
          <a:xfrm>
            <a:off x="8375904" y="2651760"/>
            <a:ext cx="3017520" cy="640080"/>
          </a:xfrm>
          <a:prstGeom prst="rect">
            <a:avLst/>
          </a:prstGeom>
          <a:noFill/>
          <a:ln/>
        </p:spPr>
        <p:txBody>
          <a:bodyPr wrap="square" lIns="0" tIns="0" rIns="0" bIns="0" rtlCol="0" anchor="ctr"/>
          <a:lstStyle/>
          <a:p>
            <a:pPr indent="0" marL="0">
              <a:buNone/>
            </a:pPr>
            <a:r>
              <a:rPr lang="en-US" sz="4400" b="1" dirty="0">
                <a:solidFill>
                  <a:schemeClr val="tx2"/>
                </a:solidFill>
                <a:latin typeface="Cambria" pitchFamily="34" charset="0"/>
                <a:ea typeface="Cambria" pitchFamily="34" charset="-122"/>
                <a:cs typeface="Cambria" pitchFamily="34" charset="-120"/>
              </a:rPr>
              <a:t>2.647</a:t>
            </a:r>
            <a:endParaRPr lang="en-US" sz="4400" dirty="0"/>
          </a:p>
        </p:txBody>
      </p:sp>
      <p:sp>
        <p:nvSpPr>
          <p:cNvPr id="26" name="Text 21"/>
          <p:cNvSpPr txBox="1"/>
          <p:nvPr/>
        </p:nvSpPr>
        <p:spPr>
          <a:xfrm>
            <a:off x="8375904" y="3310128"/>
            <a:ext cx="3017520" cy="594360"/>
          </a:xfrm>
          <a:prstGeom prst="rect">
            <a:avLst/>
          </a:prstGeom>
          <a:noFill/>
          <a:ln/>
        </p:spPr>
        <p:txBody>
          <a:bodyPr wrap="square" lIns="0" tIns="0" rIns="0" bIns="0" rtlCol="0" anchor="t"/>
          <a:lstStyle/>
          <a:p>
            <a:pPr indent="0" marL="0">
              <a:buNone/>
            </a:pPr>
            <a:r>
              <a:rPr lang="en-US" sz="1400" dirty="0">
                <a:solidFill>
                  <a:schemeClr val="tx1"/>
                </a:solidFill>
              </a:rPr>
              <a:t>envíos con descuento mayor que 10: el 100 % llegó atrasado</a:t>
            </a:r>
            <a:endParaRPr lang="en-US" sz="1400" dirty="0"/>
          </a:p>
        </p:txBody>
      </p:sp>
      <p:sp>
        <p:nvSpPr>
          <p:cNvPr id="27" name="pregunta"/>
          <p:cNvSpPr/>
          <p:nvPr/>
        </p:nvSpPr>
        <p:spPr>
          <a:xfrm>
            <a:off x="548640" y="4251960"/>
            <a:ext cx="11091672" cy="1097280"/>
          </a:xfrm>
          <a:prstGeom prst="roundRect">
            <a:avLst>
              <a:gd name="adj" fmla="val 6667"/>
            </a:avLst>
          </a:prstGeom>
          <a:solidFill>
            <a:schemeClr val="tx2"/>
          </a:solidFill>
          <a:ln w="12700">
            <a:solidFill>
              <a:schemeClr val="tx2"/>
            </a:solidFill>
            <a:prstDash val="solid"/>
          </a:ln>
        </p:spPr>
      </p:sp>
      <p:sp>
        <p:nvSpPr>
          <p:cNvPr id="28" name="Text 23"/>
          <p:cNvSpPr txBox="1"/>
          <p:nvPr/>
        </p:nvSpPr>
        <p:spPr>
          <a:xfrm>
            <a:off x="822960" y="4251960"/>
            <a:ext cx="10607040" cy="1097280"/>
          </a:xfrm>
          <a:prstGeom prst="rect">
            <a:avLst/>
          </a:prstGeom>
          <a:noFill/>
          <a:ln/>
        </p:spPr>
        <p:txBody>
          <a:bodyPr wrap="square" lIns="0" tIns="0" rIns="0" bIns="0" rtlCol="0" anchor="ctr"/>
          <a:lstStyle/>
          <a:p>
            <a:pPr indent="0" marL="0">
              <a:buNone/>
            </a:pPr>
            <a:r>
              <a:rPr lang="en-US" sz="2000" b="1" dirty="0">
                <a:solidFill>
                  <a:schemeClr val="accent4"/>
                </a:solidFill>
              </a:rPr>
              <a:t>Pregunta del proyecto (S1): </a:t>
            </a:r>
            <a:pPr indent="0" marL="0">
              <a:buNone/>
            </a:pPr>
            <a:r>
              <a:rPr lang="en-US" sz="2000" i="1" dirty="0">
                <a:solidFill>
                  <a:schemeClr val="bg1"/>
                </a:solidFill>
              </a:rPr>
              <a:t>¿qué características se asocian con el atraso y qué evidencia orienta una revisión operacional?</a:t>
            </a:r>
            <a:endParaRPr lang="en-US" sz="2000" dirty="0"/>
          </a:p>
        </p:txBody>
      </p:sp>
      <p:sp>
        <p:nvSpPr>
          <p:cNvPr id="29" name="Text 24"/>
          <p:cNvSpPr txBox="1"/>
          <p:nvPr/>
        </p:nvSpPr>
        <p:spPr>
          <a:xfrm>
            <a:off x="548640" y="5532120"/>
            <a:ext cx="11091672" cy="457200"/>
          </a:xfrm>
          <a:prstGeom prst="rect">
            <a:avLst/>
          </a:prstGeom>
          <a:noFill/>
          <a:ln/>
        </p:spPr>
        <p:txBody>
          <a:bodyPr wrap="square" lIns="0" tIns="0" rIns="0" bIns="0" rtlCol="0" anchor="ctr"/>
          <a:lstStyle/>
          <a:p>
            <a:pPr indent="0" marL="0">
              <a:buNone/>
            </a:pPr>
            <a:r>
              <a:rPr lang="en-US" sz="1600" b="1" dirty="0">
                <a:solidFill>
                  <a:schemeClr val="tx1"/>
                </a:solidFill>
              </a:rPr>
              <a:t>Objetivo de S3: </a:t>
            </a:r>
            <a:pPr indent="0" marL="0">
              <a:buNone/>
            </a:pPr>
            <a:r>
              <a:rPr lang="en-US" sz="1600" dirty="0">
                <a:solidFill>
                  <a:schemeClr val="tx1"/>
                </a:solidFill>
              </a:rPr>
              <a:t>pasar de describir asociaciones a clasificar el atraso con regresión logística, apoyados en lo aprendido en S1 y S2.</a:t>
            </a:r>
            <a:endParaRPr lang="en-US" sz="1600" dirty="0"/>
          </a:p>
        </p:txBody>
      </p:sp>
      <p:sp>
        <p:nvSpPr>
          <p:cNvPr id="30" name="Text 25"/>
          <p:cNvSpPr txBox="1"/>
          <p:nvPr/>
        </p:nvSpPr>
        <p:spPr>
          <a:xfrm>
            <a:off x="548640" y="6382512"/>
            <a:ext cx="5486400" cy="274320"/>
          </a:xfrm>
          <a:prstGeom prst="rect">
            <a:avLst/>
          </a:prstGeom>
          <a:noFill/>
          <a:ln/>
        </p:spPr>
        <p:txBody>
          <a:bodyPr wrap="square" lIns="0" tIns="0" rIns="0" bIns="0" rtlCol="0" anchor="ctr"/>
          <a:lstStyle/>
          <a:p>
            <a:pPr indent="0" marL="0">
              <a:buNone/>
            </a:pPr>
            <a:r>
              <a:rPr lang="en-US" sz="1100" b="1" dirty="0">
                <a:solidFill>
                  <a:schemeClr val="accent5"/>
                </a:solidFill>
              </a:rPr>
              <a:t>Expone: </a:t>
            </a:r>
            <a:pPr indent="0" marL="0">
              <a:buNone/>
            </a:pPr>
            <a:r>
              <a:rPr lang="en-US" sz="1100" dirty="0">
                <a:solidFill>
                  <a:schemeClr val="accent5"/>
                </a:solidFill>
              </a:rPr>
              <a:t>José Ignacio Rodríguez</a:t>
            </a:r>
            <a:endParaRPr lang="en-US" sz="1100" dirty="0"/>
          </a:p>
        </p:txBody>
      </p:sp>
      <p:sp>
        <p:nvSpPr>
          <p:cNvPr id="25" name="Slide Number Placeholder 0"/>
          <p:cNvSpPr>
            <a:spLocks noGrp="1"/>
          </p:cNvSpPr>
          <p:nvPr>
            <p:ph type="sldNum" sz="quarter" idx="4294967295"/>
          </p:nvPr>
        </p:nvSpPr>
        <p:spPr>
          <a:xfrm>
            <a:off x="11338560" y="6382512"/>
            <a:ext cx="3200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869680" cy="685800"/>
          </a:xfrm>
          <a:prstGeom prst="rect">
            <a:avLst/>
          </a:prstGeom>
          <a:noFill/>
          <a:ln/>
        </p:spPr>
        <p:txBody>
          <a:bodyPr wrap="square" lIns="0" tIns="0" rIns="0" bIns="0" rtlCol="0" anchor="ctr"/>
          <a:lstStyle/>
          <a:p>
            <a:pPr algn="l" indent="0" marL="0">
              <a:buNone/>
            </a:pPr>
            <a:r>
              <a:rPr lang="en-US" sz="3000" b="1" dirty="0">
                <a:solidFill>
                  <a:schemeClr val="tx2"/>
                </a:solidFill>
              </a:rPr>
              <a:t>Cada etapa se apoyó en la anterior</a:t>
            </a:r>
            <a:endParaRPr lang="en-US" sz="3000" dirty="0"/>
          </a:p>
        </p:txBody>
      </p:sp>
      <p:sp>
        <p:nvSpPr>
          <p:cNvPr id="3" name="Text 0"/>
          <p:cNvSpPr/>
          <p:nvPr>
            <p:ph idx="101" type="body" hasCustomPrompt="1"/>
          </p:nvPr>
        </p:nvSpPr>
        <p:spPr>
          <a:xfrm>
            <a:off x="548640" y="987552"/>
            <a:ext cx="8869680" cy="411480"/>
          </a:xfrm>
          <a:prstGeom prst="rect">
            <a:avLst/>
          </a:prstGeom>
          <a:noFill/>
          <a:ln/>
        </p:spPr>
        <p:txBody>
          <a:bodyPr wrap="square" lIns="0" tIns="0" rIns="0" bIns="0" rtlCol="0" anchor="t"/>
          <a:lstStyle/>
          <a:p>
            <a:pPr indent="0" marL="0">
              <a:buNone/>
            </a:pPr>
            <a:r>
              <a:rPr lang="en-US" sz="1600" dirty="0">
                <a:solidFill>
                  <a:schemeClr val="accent5"/>
                </a:solidFill>
              </a:rPr>
              <a:t>Describir → validar → ensayar → modelar</a:t>
            </a:r>
            <a:endParaRPr lang="en-US" sz="1600" dirty="0"/>
          </a:p>
        </p:txBody>
      </p:sp>
      <p:sp>
        <p:nvSpPr>
          <p:cNvPr id="4" name="fase S1"/>
          <p:cNvSpPr/>
          <p:nvPr/>
        </p:nvSpPr>
        <p:spPr>
          <a:xfrm>
            <a:off x="9537192" y="429768"/>
            <a:ext cx="457200" cy="457200"/>
          </a:xfrm>
          <a:prstGeom prst="ellipse">
            <a:avLst/>
          </a:prstGeom>
          <a:solidFill>
            <a:schemeClr val="accent1"/>
          </a:solidFill>
          <a:ln w="12700">
            <a:solidFill>
              <a:schemeClr val="accent1"/>
            </a:solidFill>
            <a:prstDash val="solid"/>
          </a:ln>
        </p:spPr>
      </p:sp>
      <p:sp>
        <p:nvSpPr>
          <p:cNvPr id="5" name="Text 3"/>
          <p:cNvSpPr txBox="1"/>
          <p:nvPr/>
        </p:nvSpPr>
        <p:spPr>
          <a:xfrm>
            <a:off x="9537192" y="429768"/>
            <a:ext cx="457200" cy="457200"/>
          </a:xfrm>
          <a:prstGeom prst="rect">
            <a:avLst/>
          </a:prstGeom>
          <a:noFill/>
          <a:ln/>
        </p:spPr>
        <p:txBody>
          <a:bodyPr wrap="square" lIns="0" tIns="0" rIns="0" bIns="0" rtlCol="0" anchor="ctr"/>
          <a:lstStyle/>
          <a:p>
            <a:pPr algn="ctr" indent="0" marL="0">
              <a:buNone/>
            </a:pPr>
            <a:r>
              <a:rPr lang="en-US" sz="1200" b="1" dirty="0">
                <a:solidFill>
                  <a:schemeClr val="bg1"/>
                </a:solidFill>
              </a:rPr>
              <a:t>S1</a:t>
            </a:r>
            <a:endParaRPr lang="en-US" sz="1200" dirty="0"/>
          </a:p>
        </p:txBody>
      </p:sp>
      <p:sp>
        <p:nvSpPr>
          <p:cNvPr id="6" name="fase S2"/>
          <p:cNvSpPr/>
          <p:nvPr/>
        </p:nvSpPr>
        <p:spPr>
          <a:xfrm>
            <a:off x="10085832" y="429768"/>
            <a:ext cx="457200" cy="457200"/>
          </a:xfrm>
          <a:prstGeom prst="ellipse">
            <a:avLst/>
          </a:prstGeom>
          <a:solidFill>
            <a:schemeClr val="accent1"/>
          </a:solidFill>
          <a:ln w="12700">
            <a:solidFill>
              <a:schemeClr val="accent1"/>
            </a:solidFill>
            <a:prstDash val="solid"/>
          </a:ln>
        </p:spPr>
      </p:sp>
      <p:sp>
        <p:nvSpPr>
          <p:cNvPr id="7" name="Text 5"/>
          <p:cNvSpPr txBox="1"/>
          <p:nvPr/>
        </p:nvSpPr>
        <p:spPr>
          <a:xfrm>
            <a:off x="10085832" y="429768"/>
            <a:ext cx="457200" cy="457200"/>
          </a:xfrm>
          <a:prstGeom prst="rect">
            <a:avLst/>
          </a:prstGeom>
          <a:noFill/>
          <a:ln/>
        </p:spPr>
        <p:txBody>
          <a:bodyPr wrap="square" lIns="0" tIns="0" rIns="0" bIns="0" rtlCol="0" anchor="ctr"/>
          <a:lstStyle/>
          <a:p>
            <a:pPr algn="ctr" indent="0" marL="0">
              <a:buNone/>
            </a:pPr>
            <a:r>
              <a:rPr lang="en-US" sz="1200" b="1" dirty="0">
                <a:solidFill>
                  <a:schemeClr val="bg1"/>
                </a:solidFill>
              </a:rPr>
              <a:t>S2</a:t>
            </a:r>
            <a:endParaRPr lang="en-US" sz="1200" dirty="0"/>
          </a:p>
        </p:txBody>
      </p:sp>
      <p:sp>
        <p:nvSpPr>
          <p:cNvPr id="8" name="fase F2"/>
          <p:cNvSpPr/>
          <p:nvPr/>
        </p:nvSpPr>
        <p:spPr>
          <a:xfrm>
            <a:off x="10634472" y="429768"/>
            <a:ext cx="457200" cy="457200"/>
          </a:xfrm>
          <a:prstGeom prst="ellipse">
            <a:avLst/>
          </a:prstGeom>
          <a:solidFill>
            <a:schemeClr val="accent1"/>
          </a:solidFill>
          <a:ln w="12700">
            <a:solidFill>
              <a:schemeClr val="accent1"/>
            </a:solidFill>
            <a:prstDash val="solid"/>
          </a:ln>
        </p:spPr>
      </p:sp>
      <p:sp>
        <p:nvSpPr>
          <p:cNvPr id="9" name="Text 7"/>
          <p:cNvSpPr txBox="1"/>
          <p:nvPr/>
        </p:nvSpPr>
        <p:spPr>
          <a:xfrm>
            <a:off x="10634472" y="429768"/>
            <a:ext cx="457200" cy="457200"/>
          </a:xfrm>
          <a:prstGeom prst="rect">
            <a:avLst/>
          </a:prstGeom>
          <a:noFill/>
          <a:ln/>
        </p:spPr>
        <p:txBody>
          <a:bodyPr wrap="square" lIns="0" tIns="0" rIns="0" bIns="0" rtlCol="0" anchor="ctr"/>
          <a:lstStyle/>
          <a:p>
            <a:pPr algn="ctr" indent="0" marL="0">
              <a:buNone/>
            </a:pPr>
            <a:r>
              <a:rPr lang="en-US" sz="1200" b="1" dirty="0">
                <a:solidFill>
                  <a:schemeClr val="bg1"/>
                </a:solidFill>
              </a:rPr>
              <a:t>F2</a:t>
            </a:r>
            <a:endParaRPr lang="en-US" sz="1200" dirty="0"/>
          </a:p>
        </p:txBody>
      </p:sp>
      <p:sp>
        <p:nvSpPr>
          <p:cNvPr id="10" name="fase S3"/>
          <p:cNvSpPr/>
          <p:nvPr/>
        </p:nvSpPr>
        <p:spPr>
          <a:xfrm>
            <a:off x="11183112" y="429768"/>
            <a:ext cx="457200" cy="457200"/>
          </a:xfrm>
          <a:prstGeom prst="ellipse">
            <a:avLst/>
          </a:prstGeom>
          <a:solidFill>
            <a:schemeClr val="accent2"/>
          </a:solidFill>
          <a:ln w="12700">
            <a:solidFill>
              <a:schemeClr val="accent2"/>
            </a:solidFill>
            <a:prstDash val="solid"/>
          </a:ln>
        </p:spPr>
      </p:sp>
      <p:sp>
        <p:nvSpPr>
          <p:cNvPr id="11" name="Text 9"/>
          <p:cNvSpPr txBox="1"/>
          <p:nvPr/>
        </p:nvSpPr>
        <p:spPr>
          <a:xfrm>
            <a:off x="11183112" y="429768"/>
            <a:ext cx="457200" cy="457200"/>
          </a:xfrm>
          <a:prstGeom prst="rect">
            <a:avLst/>
          </a:prstGeom>
          <a:noFill/>
          <a:ln/>
        </p:spPr>
        <p:txBody>
          <a:bodyPr wrap="square" lIns="0" tIns="0" rIns="0" bIns="0" rtlCol="0" anchor="ctr"/>
          <a:lstStyle/>
          <a:p>
            <a:pPr algn="ctr" indent="0" marL="0">
              <a:buNone/>
            </a:pPr>
            <a:r>
              <a:rPr lang="en-US" sz="1200" b="1" dirty="0">
                <a:solidFill>
                  <a:schemeClr val="tx1"/>
                </a:solidFill>
              </a:rPr>
              <a:t>S3</a:t>
            </a:r>
            <a:endParaRPr lang="en-US" sz="1200" dirty="0"/>
          </a:p>
        </p:txBody>
      </p:sp>
      <p:sp>
        <p:nvSpPr>
          <p:cNvPr id="12" name="línea de tiempo"/>
          <p:cNvSpPr/>
          <p:nvPr/>
        </p:nvSpPr>
        <p:spPr>
          <a:xfrm>
            <a:off x="1851660" y="1938528"/>
            <a:ext cx="8484718" cy="0"/>
          </a:xfrm>
          <a:prstGeom prst="line">
            <a:avLst/>
          </a:prstGeom>
          <a:noFill/>
          <a:ln w="25400">
            <a:solidFill>
              <a:schemeClr val="accent4"/>
            </a:solidFill>
            <a:prstDash val="solid"/>
          </a:ln>
        </p:spPr>
      </p:sp>
      <p:sp>
        <p:nvSpPr>
          <p:cNvPr id="13" name="hito S1"/>
          <p:cNvSpPr/>
          <p:nvPr/>
        </p:nvSpPr>
        <p:spPr>
          <a:xfrm>
            <a:off x="1467612" y="1554480"/>
            <a:ext cx="768096" cy="768096"/>
          </a:xfrm>
          <a:prstGeom prst="ellipse">
            <a:avLst/>
          </a:prstGeom>
          <a:solidFill>
            <a:schemeClr val="accent4"/>
          </a:solidFill>
          <a:ln w="38100">
            <a:solidFill>
              <a:schemeClr val="bg1"/>
            </a:solidFill>
            <a:prstDash val="solid"/>
          </a:ln>
        </p:spPr>
      </p:sp>
      <p:sp>
        <p:nvSpPr>
          <p:cNvPr id="14" name="Text 12"/>
          <p:cNvSpPr txBox="1"/>
          <p:nvPr/>
        </p:nvSpPr>
        <p:spPr>
          <a:xfrm>
            <a:off x="1467612" y="1554480"/>
            <a:ext cx="768096" cy="768096"/>
          </a:xfrm>
          <a:prstGeom prst="rect">
            <a:avLst/>
          </a:prstGeom>
          <a:noFill/>
          <a:ln/>
        </p:spPr>
        <p:txBody>
          <a:bodyPr wrap="square" lIns="0" tIns="0" rIns="0" bIns="0" rtlCol="0" anchor="ctr"/>
          <a:lstStyle/>
          <a:p>
            <a:pPr algn="ctr" indent="0" marL="0">
              <a:buNone/>
            </a:pPr>
            <a:r>
              <a:rPr lang="en-US" sz="2000" b="1" dirty="0">
                <a:solidFill>
                  <a:schemeClr val="tx1"/>
                </a:solidFill>
              </a:rPr>
              <a:t>S1</a:t>
            </a:r>
            <a:endParaRPr lang="en-US" sz="2000" dirty="0"/>
          </a:p>
        </p:txBody>
      </p:sp>
      <p:sp>
        <p:nvSpPr>
          <p:cNvPr id="15" name="Text 13"/>
          <p:cNvSpPr txBox="1"/>
          <p:nvPr/>
        </p:nvSpPr>
        <p:spPr>
          <a:xfrm>
            <a:off x="548640" y="2395728"/>
            <a:ext cx="2606040" cy="384048"/>
          </a:xfrm>
          <a:prstGeom prst="rect">
            <a:avLst/>
          </a:prstGeom>
          <a:noFill/>
          <a:ln/>
        </p:spPr>
        <p:txBody>
          <a:bodyPr wrap="square" lIns="0" tIns="0" rIns="0" bIns="0" rtlCol="0" anchor="ctr"/>
          <a:lstStyle/>
          <a:p>
            <a:pPr algn="ctr" indent="0" marL="0">
              <a:buNone/>
            </a:pPr>
            <a:r>
              <a:rPr lang="en-US" sz="1800" b="1" dirty="0">
                <a:solidFill>
                  <a:schemeClr val="tx2"/>
                </a:solidFill>
                <a:latin typeface="Cambria" pitchFamily="34" charset="0"/>
                <a:ea typeface="Cambria" pitchFamily="34" charset="-122"/>
                <a:cs typeface="Cambria" pitchFamily="34" charset="-120"/>
              </a:rPr>
              <a:t>Describir e inferir</a:t>
            </a:r>
            <a:endParaRPr lang="en-US" sz="1800" dirty="0"/>
          </a:p>
        </p:txBody>
      </p:sp>
      <p:sp>
        <p:nvSpPr>
          <p:cNvPr id="16" name="tarjeta S1"/>
          <p:cNvSpPr/>
          <p:nvPr/>
        </p:nvSpPr>
        <p:spPr>
          <a:xfrm>
            <a:off x="548640" y="2852928"/>
            <a:ext cx="2606040" cy="3246120"/>
          </a:xfrm>
          <a:prstGeom prst="roundRect">
            <a:avLst>
              <a:gd name="adj" fmla="val 2807"/>
            </a:avLst>
          </a:prstGeom>
          <a:solidFill>
            <a:schemeClr val="bg2"/>
          </a:solidFill>
          <a:ln w="12700">
            <a:solidFill>
              <a:schemeClr val="bg2"/>
            </a:solidFill>
            <a:prstDash val="solid"/>
          </a:ln>
        </p:spPr>
      </p:sp>
      <p:sp>
        <p:nvSpPr>
          <p:cNvPr id="17" name="Text 15"/>
          <p:cNvSpPr txBox="1"/>
          <p:nvPr/>
        </p:nvSpPr>
        <p:spPr>
          <a:xfrm>
            <a:off x="713232" y="2990088"/>
            <a:ext cx="2276856" cy="3017520"/>
          </a:xfrm>
          <a:prstGeom prst="rect">
            <a:avLst/>
          </a:prstGeom>
          <a:noFill/>
          <a:ln/>
        </p:spPr>
        <p:txBody>
          <a:bodyPr wrap="square" lIns="0" tIns="0" rIns="0" bIns="0" rtlCol="0" anchor="t"/>
          <a:lstStyle/>
          <a:p>
            <a:pPr indent="0" marL="0">
              <a:spcAft>
                <a:spcPts val="300"/>
              </a:spcAft>
              <a:buNone/>
            </a:pPr>
            <a:r>
              <a:rPr lang="en-US" sz="1200" b="1" dirty="0">
                <a:solidFill>
                  <a:schemeClr val="accent5"/>
                </a:solidFill>
              </a:rPr>
              <a:t>Técnicas</a:t>
            </a:r>
            <a:endParaRPr lang="en-US" sz="1200" dirty="0"/>
          </a:p>
          <a:p>
            <a:pPr indent="0" marL="0">
              <a:spcAft>
                <a:spcPts val="300"/>
              </a:spcAft>
              <a:buNone/>
            </a:pPr>
            <a:r>
              <a:rPr lang="en-US" sz="1400" dirty="0">
                <a:solidFill>
                  <a:schemeClr val="tx1"/>
                </a:solidFill>
              </a:rPr>
              <a:t>Descriptiva, IC de Wilson y t, siete pruebas con corrección de Holm</a:t>
            </a:r>
            <a:endParaRPr lang="en-US" sz="1200" dirty="0"/>
          </a:p>
          <a:p>
            <a:pPr indent="0" marL="0">
              <a:spcAft>
                <a:spcPts val="300"/>
              </a:spcAft>
              <a:buNone/>
            </a:pPr>
            <a:r>
              <a:rPr lang="en-US" sz="800" dirty="0">
                <a:solidFill>
                  <a:srgbClr val="000000"/>
                </a:solidFill>
              </a:rPr>
              <a:t> </a:t>
            </a:r>
            <a:endParaRPr lang="en-US" sz="1200" dirty="0"/>
          </a:p>
          <a:p>
            <a:pPr indent="0" marL="0">
              <a:spcAft>
                <a:spcPts val="300"/>
              </a:spcAft>
              <a:buNone/>
            </a:pPr>
            <a:r>
              <a:rPr lang="en-US" sz="1200" b="1" dirty="0">
                <a:solidFill>
                  <a:schemeClr val="accent5"/>
                </a:solidFill>
              </a:rPr>
              <a:t>Hallazgo clave</a:t>
            </a:r>
            <a:endParaRPr lang="en-US" sz="1200" dirty="0"/>
          </a:p>
          <a:p>
            <a:pPr indent="0" marL="0">
              <a:spcAft>
                <a:spcPts val="300"/>
              </a:spcAft>
              <a:buNone/>
            </a:pPr>
            <a:r>
              <a:rPr lang="en-US" sz="1400" b="1" dirty="0">
                <a:solidFill>
                  <a:schemeClr val="tx2"/>
                </a:solidFill>
              </a:rPr>
              <a:t>Atrasados pesan 896 g menos; descuento &gt; 10: 100 % atrasado; modalidad sin asociación</a:t>
            </a:r>
            <a:endParaRPr lang="en-US" sz="1200" dirty="0"/>
          </a:p>
        </p:txBody>
      </p:sp>
      <p:sp>
        <p:nvSpPr>
          <p:cNvPr id="18" name="hito S2"/>
          <p:cNvSpPr/>
          <p:nvPr/>
        </p:nvSpPr>
        <p:spPr>
          <a:xfrm>
            <a:off x="4295851" y="1554480"/>
            <a:ext cx="768096" cy="768096"/>
          </a:xfrm>
          <a:prstGeom prst="ellipse">
            <a:avLst/>
          </a:prstGeom>
          <a:solidFill>
            <a:schemeClr val="accent1"/>
          </a:solidFill>
          <a:ln w="38100">
            <a:solidFill>
              <a:schemeClr val="bg1"/>
            </a:solidFill>
            <a:prstDash val="solid"/>
          </a:ln>
        </p:spPr>
      </p:sp>
      <p:sp>
        <p:nvSpPr>
          <p:cNvPr id="19" name="Text 17"/>
          <p:cNvSpPr txBox="1"/>
          <p:nvPr/>
        </p:nvSpPr>
        <p:spPr>
          <a:xfrm>
            <a:off x="4295851" y="1554480"/>
            <a:ext cx="768096" cy="768096"/>
          </a:xfrm>
          <a:prstGeom prst="rect">
            <a:avLst/>
          </a:prstGeom>
          <a:noFill/>
          <a:ln/>
        </p:spPr>
        <p:txBody>
          <a:bodyPr wrap="square" lIns="0" tIns="0" rIns="0" bIns="0" rtlCol="0" anchor="ctr"/>
          <a:lstStyle/>
          <a:p>
            <a:pPr algn="ctr" indent="0" marL="0">
              <a:buNone/>
            </a:pPr>
            <a:r>
              <a:rPr lang="en-US" sz="2000" b="1" dirty="0">
                <a:solidFill>
                  <a:schemeClr val="bg1"/>
                </a:solidFill>
              </a:rPr>
              <a:t>S2</a:t>
            </a:r>
            <a:endParaRPr lang="en-US" sz="2000" dirty="0"/>
          </a:p>
        </p:txBody>
      </p:sp>
      <p:sp>
        <p:nvSpPr>
          <p:cNvPr id="20" name="Text 18"/>
          <p:cNvSpPr txBox="1"/>
          <p:nvPr/>
        </p:nvSpPr>
        <p:spPr>
          <a:xfrm>
            <a:off x="3376879" y="2395728"/>
            <a:ext cx="2606040" cy="384048"/>
          </a:xfrm>
          <a:prstGeom prst="rect">
            <a:avLst/>
          </a:prstGeom>
          <a:noFill/>
          <a:ln/>
        </p:spPr>
        <p:txBody>
          <a:bodyPr wrap="square" lIns="0" tIns="0" rIns="0" bIns="0" rtlCol="0" anchor="ctr"/>
          <a:lstStyle/>
          <a:p>
            <a:pPr algn="ctr" indent="0" marL="0">
              <a:buNone/>
            </a:pPr>
            <a:r>
              <a:rPr lang="en-US" sz="1800" b="1" dirty="0">
                <a:solidFill>
                  <a:schemeClr val="tx2"/>
                </a:solidFill>
                <a:latin typeface="Cambria" pitchFamily="34" charset="0"/>
                <a:ea typeface="Cambria" pitchFamily="34" charset="-122"/>
                <a:cs typeface="Cambria" pitchFamily="34" charset="-120"/>
              </a:rPr>
              <a:t>Validar</a:t>
            </a:r>
            <a:endParaRPr lang="en-US" sz="1800" dirty="0"/>
          </a:p>
        </p:txBody>
      </p:sp>
      <p:sp>
        <p:nvSpPr>
          <p:cNvPr id="21" name="tarjeta S2"/>
          <p:cNvSpPr/>
          <p:nvPr/>
        </p:nvSpPr>
        <p:spPr>
          <a:xfrm>
            <a:off x="3376879" y="2852928"/>
            <a:ext cx="2606040" cy="3246120"/>
          </a:xfrm>
          <a:prstGeom prst="roundRect">
            <a:avLst>
              <a:gd name="adj" fmla="val 2807"/>
            </a:avLst>
          </a:prstGeom>
          <a:solidFill>
            <a:schemeClr val="bg2"/>
          </a:solidFill>
          <a:ln w="12700">
            <a:solidFill>
              <a:schemeClr val="bg2"/>
            </a:solidFill>
            <a:prstDash val="solid"/>
          </a:ln>
        </p:spPr>
      </p:sp>
      <p:sp>
        <p:nvSpPr>
          <p:cNvPr id="22" name="Text 20"/>
          <p:cNvSpPr txBox="1"/>
          <p:nvPr/>
        </p:nvSpPr>
        <p:spPr>
          <a:xfrm>
            <a:off x="3541471" y="2990088"/>
            <a:ext cx="2276856" cy="3017520"/>
          </a:xfrm>
          <a:prstGeom prst="rect">
            <a:avLst/>
          </a:prstGeom>
          <a:noFill/>
          <a:ln/>
        </p:spPr>
        <p:txBody>
          <a:bodyPr wrap="square" lIns="0" tIns="0" rIns="0" bIns="0" rtlCol="0" anchor="t"/>
          <a:lstStyle/>
          <a:p>
            <a:pPr indent="0" marL="0">
              <a:spcAft>
                <a:spcPts val="300"/>
              </a:spcAft>
              <a:buNone/>
            </a:pPr>
            <a:r>
              <a:rPr lang="en-US" sz="1200" b="1" dirty="0">
                <a:solidFill>
                  <a:schemeClr val="accent5"/>
                </a:solidFill>
              </a:rPr>
              <a:t>Técnicas</a:t>
            </a:r>
            <a:endParaRPr lang="en-US" sz="1200" dirty="0"/>
          </a:p>
          <a:p>
            <a:pPr indent="0" marL="0">
              <a:spcAft>
                <a:spcPts val="300"/>
              </a:spcAft>
              <a:buNone/>
            </a:pPr>
            <a:r>
              <a:rPr lang="en-US" sz="1400" dirty="0">
                <a:solidFill>
                  <a:schemeClr val="tx1"/>
                </a:solidFill>
              </a:rPr>
              <a:t>Bootstrap, permutación, Monte Carlo, jackknife y escenarios</a:t>
            </a:r>
            <a:endParaRPr lang="en-US" sz="1200" dirty="0"/>
          </a:p>
          <a:p>
            <a:pPr indent="0" marL="0">
              <a:spcAft>
                <a:spcPts val="300"/>
              </a:spcAft>
              <a:buNone/>
            </a:pPr>
            <a:r>
              <a:rPr lang="en-US" sz="800" dirty="0">
                <a:solidFill>
                  <a:srgbClr val="000000"/>
                </a:solidFill>
              </a:rPr>
              <a:t> </a:t>
            </a:r>
            <a:endParaRPr lang="en-US" sz="1200" dirty="0"/>
          </a:p>
          <a:p>
            <a:pPr indent="0" marL="0">
              <a:spcAft>
                <a:spcPts val="300"/>
              </a:spcAft>
              <a:buNone/>
            </a:pPr>
            <a:r>
              <a:rPr lang="en-US" sz="1200" b="1" dirty="0">
                <a:solidFill>
                  <a:schemeClr val="accent5"/>
                </a:solidFill>
              </a:rPr>
              <a:t>Hallazgo clave</a:t>
            </a:r>
            <a:endParaRPr lang="en-US" sz="1200" dirty="0"/>
          </a:p>
          <a:p>
            <a:pPr indent="0" marL="0">
              <a:spcAft>
                <a:spcPts val="300"/>
              </a:spcAft>
              <a:buNone/>
            </a:pPr>
            <a:r>
              <a:rPr lang="en-US" sz="1400" b="1" dirty="0">
                <a:solidFill>
                  <a:schemeClr val="tx2"/>
                </a:solidFill>
              </a:rPr>
              <a:t>Solo el peso es robusto; el descuento depende del segmento &gt; 10 (envíos 1 a 3.135)</a:t>
            </a:r>
            <a:endParaRPr lang="en-US" sz="1200" dirty="0"/>
          </a:p>
        </p:txBody>
      </p:sp>
      <p:sp>
        <p:nvSpPr>
          <p:cNvPr id="23" name="hito F2"/>
          <p:cNvSpPr/>
          <p:nvPr/>
        </p:nvSpPr>
        <p:spPr>
          <a:xfrm>
            <a:off x="7124090" y="1554480"/>
            <a:ext cx="768096" cy="768096"/>
          </a:xfrm>
          <a:prstGeom prst="ellipse">
            <a:avLst/>
          </a:prstGeom>
          <a:solidFill>
            <a:schemeClr val="accent5"/>
          </a:solidFill>
          <a:ln w="38100">
            <a:solidFill>
              <a:schemeClr val="bg1"/>
            </a:solidFill>
            <a:prstDash val="solid"/>
          </a:ln>
        </p:spPr>
      </p:sp>
      <p:sp>
        <p:nvSpPr>
          <p:cNvPr id="24" name="Text 22"/>
          <p:cNvSpPr txBox="1"/>
          <p:nvPr/>
        </p:nvSpPr>
        <p:spPr>
          <a:xfrm>
            <a:off x="7124090" y="1554480"/>
            <a:ext cx="768096" cy="768096"/>
          </a:xfrm>
          <a:prstGeom prst="rect">
            <a:avLst/>
          </a:prstGeom>
          <a:noFill/>
          <a:ln/>
        </p:spPr>
        <p:txBody>
          <a:bodyPr wrap="square" lIns="0" tIns="0" rIns="0" bIns="0" rtlCol="0" anchor="ctr"/>
          <a:lstStyle/>
          <a:p>
            <a:pPr algn="ctr" indent="0" marL="0">
              <a:buNone/>
            </a:pPr>
            <a:r>
              <a:rPr lang="en-US" sz="2000" b="1" dirty="0">
                <a:solidFill>
                  <a:schemeClr val="bg1"/>
                </a:solidFill>
              </a:rPr>
              <a:t>F2</a:t>
            </a:r>
            <a:endParaRPr lang="en-US" sz="2000" dirty="0"/>
          </a:p>
        </p:txBody>
      </p:sp>
      <p:sp>
        <p:nvSpPr>
          <p:cNvPr id="25" name="Text 23"/>
          <p:cNvSpPr txBox="1"/>
          <p:nvPr/>
        </p:nvSpPr>
        <p:spPr>
          <a:xfrm>
            <a:off x="6205118" y="2395728"/>
            <a:ext cx="2606040" cy="384048"/>
          </a:xfrm>
          <a:prstGeom prst="rect">
            <a:avLst/>
          </a:prstGeom>
          <a:noFill/>
          <a:ln/>
        </p:spPr>
        <p:txBody>
          <a:bodyPr wrap="square" lIns="0" tIns="0" rIns="0" bIns="0" rtlCol="0" anchor="ctr"/>
          <a:lstStyle/>
          <a:p>
            <a:pPr algn="ctr" indent="0" marL="0">
              <a:buNone/>
            </a:pPr>
            <a:r>
              <a:rPr lang="en-US" sz="1800" b="1" dirty="0">
                <a:solidFill>
                  <a:schemeClr val="tx2"/>
                </a:solidFill>
                <a:latin typeface="Cambria" pitchFamily="34" charset="0"/>
                <a:ea typeface="Cambria" pitchFamily="34" charset="-122"/>
                <a:cs typeface="Cambria" pitchFamily="34" charset="-120"/>
              </a:rPr>
              <a:t>Ensayar</a:t>
            </a:r>
            <a:endParaRPr lang="en-US" sz="1800" dirty="0"/>
          </a:p>
        </p:txBody>
      </p:sp>
      <p:sp>
        <p:nvSpPr>
          <p:cNvPr id="26" name="tarjeta F2"/>
          <p:cNvSpPr/>
          <p:nvPr/>
        </p:nvSpPr>
        <p:spPr>
          <a:xfrm>
            <a:off x="6205118" y="2852928"/>
            <a:ext cx="2606040" cy="3246120"/>
          </a:xfrm>
          <a:prstGeom prst="roundRect">
            <a:avLst>
              <a:gd name="adj" fmla="val 2807"/>
            </a:avLst>
          </a:prstGeom>
          <a:solidFill>
            <a:schemeClr val="bg2"/>
          </a:solidFill>
          <a:ln w="12700">
            <a:solidFill>
              <a:schemeClr val="bg2"/>
            </a:solidFill>
            <a:prstDash val="solid"/>
          </a:ln>
        </p:spPr>
      </p:sp>
      <p:sp>
        <p:nvSpPr>
          <p:cNvPr id="27" name="Text 25"/>
          <p:cNvSpPr txBox="1"/>
          <p:nvPr/>
        </p:nvSpPr>
        <p:spPr>
          <a:xfrm>
            <a:off x="6369710" y="2990088"/>
            <a:ext cx="2276856" cy="3017520"/>
          </a:xfrm>
          <a:prstGeom prst="rect">
            <a:avLst/>
          </a:prstGeom>
          <a:noFill/>
          <a:ln/>
        </p:spPr>
        <p:txBody>
          <a:bodyPr wrap="square" lIns="0" tIns="0" rIns="0" bIns="0" rtlCol="0" anchor="t"/>
          <a:lstStyle/>
          <a:p>
            <a:pPr indent="0" marL="0">
              <a:spcAft>
                <a:spcPts val="300"/>
              </a:spcAft>
              <a:buNone/>
            </a:pPr>
            <a:r>
              <a:rPr lang="en-US" sz="1200" b="1" dirty="0">
                <a:solidFill>
                  <a:schemeClr val="accent5"/>
                </a:solidFill>
              </a:rPr>
              <a:t>Técnicas</a:t>
            </a:r>
            <a:endParaRPr lang="en-US" sz="1200" dirty="0"/>
          </a:p>
          <a:p>
            <a:pPr indent="0" marL="0">
              <a:spcAft>
                <a:spcPts val="300"/>
              </a:spcAft>
              <a:buNone/>
            </a:pPr>
            <a:r>
              <a:rPr lang="en-US" sz="1400" dirty="0">
                <a:solidFill>
                  <a:schemeClr val="tx1"/>
                </a:solidFill>
              </a:rPr>
              <a:t>Primera regresión logística (formativa)</a:t>
            </a:r>
            <a:endParaRPr lang="en-US" sz="1200" dirty="0"/>
          </a:p>
          <a:p>
            <a:pPr indent="0" marL="0">
              <a:spcAft>
                <a:spcPts val="300"/>
              </a:spcAft>
              <a:buNone/>
            </a:pPr>
            <a:r>
              <a:rPr lang="en-US" sz="800" dirty="0">
                <a:solidFill>
                  <a:srgbClr val="000000"/>
                </a:solidFill>
              </a:rPr>
              <a:t> </a:t>
            </a:r>
            <a:endParaRPr lang="en-US" sz="1200" dirty="0"/>
          </a:p>
          <a:p>
            <a:pPr indent="0" marL="0">
              <a:spcAft>
                <a:spcPts val="300"/>
              </a:spcAft>
              <a:buNone/>
            </a:pPr>
            <a:r>
              <a:rPr lang="en-US" sz="1200" b="1" dirty="0">
                <a:solidFill>
                  <a:schemeClr val="accent5"/>
                </a:solidFill>
              </a:rPr>
              <a:t>Hallazgo clave</a:t>
            </a:r>
            <a:endParaRPr lang="en-US" sz="1200" dirty="0"/>
          </a:p>
          <a:p>
            <a:pPr indent="0" marL="0">
              <a:spcAft>
                <a:spcPts val="300"/>
              </a:spcAft>
              <a:buNone/>
            </a:pPr>
            <a:r>
              <a:rPr lang="en-US" sz="1400" b="1" dirty="0">
                <a:solidFill>
                  <a:schemeClr val="tx2"/>
                </a:solidFill>
              </a:rPr>
              <a:t>Área bajo la curva ROC (AUC) de 0,714 en total, pero 0,521 con descuento ≤ 10</a:t>
            </a:r>
            <a:endParaRPr lang="en-US" sz="1200" dirty="0"/>
          </a:p>
        </p:txBody>
      </p:sp>
      <p:sp>
        <p:nvSpPr>
          <p:cNvPr id="28" name="hito S3"/>
          <p:cNvSpPr/>
          <p:nvPr/>
        </p:nvSpPr>
        <p:spPr>
          <a:xfrm>
            <a:off x="9952330" y="1554480"/>
            <a:ext cx="768096" cy="768096"/>
          </a:xfrm>
          <a:prstGeom prst="ellipse">
            <a:avLst/>
          </a:prstGeom>
          <a:solidFill>
            <a:schemeClr val="accent2"/>
          </a:solidFill>
          <a:ln w="38100">
            <a:solidFill>
              <a:schemeClr val="bg1"/>
            </a:solidFill>
            <a:prstDash val="solid"/>
          </a:ln>
        </p:spPr>
      </p:sp>
      <p:sp>
        <p:nvSpPr>
          <p:cNvPr id="29" name="Text 27"/>
          <p:cNvSpPr txBox="1"/>
          <p:nvPr/>
        </p:nvSpPr>
        <p:spPr>
          <a:xfrm>
            <a:off x="9952330" y="1554480"/>
            <a:ext cx="768096" cy="768096"/>
          </a:xfrm>
          <a:prstGeom prst="rect">
            <a:avLst/>
          </a:prstGeom>
          <a:noFill/>
          <a:ln/>
        </p:spPr>
        <p:txBody>
          <a:bodyPr wrap="square" lIns="0" tIns="0" rIns="0" bIns="0" rtlCol="0" anchor="ctr"/>
          <a:lstStyle/>
          <a:p>
            <a:pPr algn="ctr" indent="0" marL="0">
              <a:buNone/>
            </a:pPr>
            <a:r>
              <a:rPr lang="en-US" sz="2000" b="1" dirty="0">
                <a:solidFill>
                  <a:schemeClr val="tx1"/>
                </a:solidFill>
              </a:rPr>
              <a:t>S3</a:t>
            </a:r>
            <a:endParaRPr lang="en-US" sz="2000" dirty="0"/>
          </a:p>
        </p:txBody>
      </p:sp>
      <p:sp>
        <p:nvSpPr>
          <p:cNvPr id="30" name="Text 28"/>
          <p:cNvSpPr txBox="1"/>
          <p:nvPr/>
        </p:nvSpPr>
        <p:spPr>
          <a:xfrm>
            <a:off x="9033358" y="2395728"/>
            <a:ext cx="2606040" cy="384048"/>
          </a:xfrm>
          <a:prstGeom prst="rect">
            <a:avLst/>
          </a:prstGeom>
          <a:noFill/>
          <a:ln/>
        </p:spPr>
        <p:txBody>
          <a:bodyPr wrap="square" lIns="0" tIns="0" rIns="0" bIns="0" rtlCol="0" anchor="ctr"/>
          <a:lstStyle/>
          <a:p>
            <a:pPr algn="ctr" indent="0" marL="0">
              <a:buNone/>
            </a:pPr>
            <a:r>
              <a:rPr lang="en-US" sz="1800" b="1" dirty="0">
                <a:solidFill>
                  <a:schemeClr val="tx2"/>
                </a:solidFill>
                <a:latin typeface="Cambria" pitchFamily="34" charset="0"/>
                <a:ea typeface="Cambria" pitchFamily="34" charset="-122"/>
                <a:cs typeface="Cambria" pitchFamily="34" charset="-120"/>
              </a:rPr>
              <a:t>Modelar</a:t>
            </a:r>
            <a:endParaRPr lang="en-US" sz="1800" dirty="0"/>
          </a:p>
        </p:txBody>
      </p:sp>
      <p:sp>
        <p:nvSpPr>
          <p:cNvPr id="31" name="tarjeta S3"/>
          <p:cNvSpPr/>
          <p:nvPr/>
        </p:nvSpPr>
        <p:spPr>
          <a:xfrm>
            <a:off x="9033358" y="2852928"/>
            <a:ext cx="2606040" cy="3246120"/>
          </a:xfrm>
          <a:prstGeom prst="roundRect">
            <a:avLst>
              <a:gd name="adj" fmla="val 2807"/>
            </a:avLst>
          </a:prstGeom>
          <a:solidFill>
            <a:srgbClr val="F7E6CC"/>
          </a:solidFill>
          <a:ln w="12700">
            <a:solidFill>
              <a:srgbClr val="F7E6CC"/>
            </a:solidFill>
            <a:prstDash val="solid"/>
          </a:ln>
        </p:spPr>
      </p:sp>
      <p:sp>
        <p:nvSpPr>
          <p:cNvPr id="32" name="Text 30"/>
          <p:cNvSpPr txBox="1"/>
          <p:nvPr/>
        </p:nvSpPr>
        <p:spPr>
          <a:xfrm>
            <a:off x="9197950" y="2990088"/>
            <a:ext cx="2276856" cy="3017520"/>
          </a:xfrm>
          <a:prstGeom prst="rect">
            <a:avLst/>
          </a:prstGeom>
          <a:noFill/>
          <a:ln/>
        </p:spPr>
        <p:txBody>
          <a:bodyPr wrap="square" lIns="0" tIns="0" rIns="0" bIns="0" rtlCol="0" anchor="t"/>
          <a:lstStyle/>
          <a:p>
            <a:pPr indent="0" marL="0">
              <a:spcAft>
                <a:spcPts val="300"/>
              </a:spcAft>
              <a:buNone/>
            </a:pPr>
            <a:r>
              <a:rPr lang="en-US" sz="1200" b="1" dirty="0">
                <a:solidFill>
                  <a:schemeClr val="accent5"/>
                </a:solidFill>
              </a:rPr>
              <a:t>Técnicas</a:t>
            </a:r>
            <a:endParaRPr lang="en-US" sz="1200" dirty="0"/>
          </a:p>
          <a:p>
            <a:pPr indent="0" marL="0">
              <a:spcAft>
                <a:spcPts val="300"/>
              </a:spcAft>
              <a:buNone/>
            </a:pPr>
            <a:r>
              <a:rPr lang="en-US" sz="1400" dirty="0">
                <a:solidFill>
                  <a:schemeClr val="tx1"/>
                </a:solidFill>
              </a:rPr>
              <a:t>Imputación, tres regresiones logísticas, bootstrap y diagnóstico</a:t>
            </a:r>
            <a:endParaRPr lang="en-US" sz="1200" dirty="0"/>
          </a:p>
          <a:p>
            <a:pPr indent="0" marL="0">
              <a:spcAft>
                <a:spcPts val="300"/>
              </a:spcAft>
              <a:buNone/>
            </a:pPr>
            <a:r>
              <a:rPr lang="en-US" sz="800" dirty="0">
                <a:solidFill>
                  <a:srgbClr val="000000"/>
                </a:solidFill>
              </a:rPr>
              <a:t> </a:t>
            </a:r>
            <a:endParaRPr lang="en-US" sz="1200" dirty="0"/>
          </a:p>
          <a:p>
            <a:pPr indent="0" marL="0">
              <a:spcAft>
                <a:spcPts val="300"/>
              </a:spcAft>
              <a:buNone/>
            </a:pPr>
            <a:r>
              <a:rPr lang="en-US" sz="1200" b="1" dirty="0">
                <a:solidFill>
                  <a:schemeClr val="accent5"/>
                </a:solidFill>
              </a:rPr>
              <a:t>Hallazgo clave</a:t>
            </a:r>
            <a:endParaRPr lang="en-US" sz="1200" dirty="0"/>
          </a:p>
          <a:p>
            <a:pPr indent="0" marL="0">
              <a:spcAft>
                <a:spcPts val="300"/>
              </a:spcAft>
              <a:buNone/>
            </a:pPr>
            <a:r>
              <a:rPr lang="en-US" sz="1400" b="1" dirty="0">
                <a:solidFill>
                  <a:schemeClr val="tx2"/>
                </a:solidFill>
              </a:rPr>
              <a:t>Modelo final solo con el peso: razón de odds (OR) 0,905, signo estable en el 100 % de las réplicas</a:t>
            </a:r>
            <a:endParaRPr lang="en-US" sz="1200" dirty="0"/>
          </a:p>
        </p:txBody>
      </p:sp>
      <p:sp>
        <p:nvSpPr>
          <p:cNvPr id="33" name="Text 31"/>
          <p:cNvSpPr txBox="1"/>
          <p:nvPr/>
        </p:nvSpPr>
        <p:spPr>
          <a:xfrm>
            <a:off x="548640" y="6382512"/>
            <a:ext cx="5486400" cy="274320"/>
          </a:xfrm>
          <a:prstGeom prst="rect">
            <a:avLst/>
          </a:prstGeom>
          <a:noFill/>
          <a:ln/>
        </p:spPr>
        <p:txBody>
          <a:bodyPr wrap="square" lIns="0" tIns="0" rIns="0" bIns="0" rtlCol="0" anchor="ctr"/>
          <a:lstStyle/>
          <a:p>
            <a:pPr indent="0" marL="0">
              <a:buNone/>
            </a:pPr>
            <a:r>
              <a:rPr lang="en-US" sz="1100" b="1" dirty="0">
                <a:solidFill>
                  <a:schemeClr val="accent5"/>
                </a:solidFill>
              </a:rPr>
              <a:t>Expone: </a:t>
            </a:r>
            <a:pPr indent="0" marL="0">
              <a:buNone/>
            </a:pPr>
            <a:r>
              <a:rPr lang="en-US" sz="1100" dirty="0">
                <a:solidFill>
                  <a:schemeClr val="accent5"/>
                </a:solidFill>
              </a:rPr>
              <a:t>José Ignacio Rodríguez</a:t>
            </a:r>
            <a:endParaRPr lang="en-US" sz="1100" dirty="0"/>
          </a:p>
        </p:txBody>
      </p:sp>
      <p:sp>
        <p:nvSpPr>
          <p:cNvPr id="25" name="Slide Number Placeholder 0"/>
          <p:cNvSpPr>
            <a:spLocks noGrp="1"/>
          </p:cNvSpPr>
          <p:nvPr>
            <p:ph type="sldNum" sz="quarter" idx="4294967295"/>
          </p:nvPr>
        </p:nvSpPr>
        <p:spPr>
          <a:xfrm>
            <a:off x="11338560" y="6382512"/>
            <a:ext cx="3200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869680" cy="685800"/>
          </a:xfrm>
          <a:prstGeom prst="rect">
            <a:avLst/>
          </a:prstGeom>
          <a:noFill/>
          <a:ln/>
        </p:spPr>
        <p:txBody>
          <a:bodyPr wrap="square" lIns="0" tIns="0" rIns="0" bIns="0" rtlCol="0" anchor="ctr"/>
          <a:lstStyle/>
          <a:p>
            <a:pPr algn="l" indent="0" marL="0">
              <a:buNone/>
            </a:pPr>
            <a:r>
              <a:rPr lang="en-US" sz="3000" b="1" dirty="0">
                <a:solidFill>
                  <a:schemeClr val="tx2"/>
                </a:solidFill>
              </a:rPr>
              <a:t>Cada decisión de S3 nace de S1 o S2</a:t>
            </a:r>
            <a:endParaRPr lang="en-US" sz="3000" dirty="0"/>
          </a:p>
        </p:txBody>
      </p:sp>
      <p:sp>
        <p:nvSpPr>
          <p:cNvPr id="3" name="Text 0"/>
          <p:cNvSpPr/>
          <p:nvPr>
            <p:ph idx="101" type="body" hasCustomPrompt="1"/>
          </p:nvPr>
        </p:nvSpPr>
        <p:spPr>
          <a:xfrm>
            <a:off x="548640" y="987552"/>
            <a:ext cx="8869680" cy="411480"/>
          </a:xfrm>
          <a:prstGeom prst="rect">
            <a:avLst/>
          </a:prstGeom>
          <a:noFill/>
          <a:ln/>
        </p:spPr>
        <p:txBody>
          <a:bodyPr wrap="square" lIns="0" tIns="0" rIns="0" bIns="0" rtlCol="0" anchor="t"/>
          <a:lstStyle/>
          <a:p>
            <a:pPr indent="0" marL="0">
              <a:buNone/>
            </a:pPr>
            <a:r>
              <a:rPr lang="en-US" sz="1600" dirty="0">
                <a:solidFill>
                  <a:schemeClr val="accent5"/>
                </a:solidFill>
              </a:rPr>
              <a:t>No partimos de cero: los hallazgos previos fijaron el diseño</a:t>
            </a:r>
            <a:endParaRPr lang="en-US" sz="1600" dirty="0"/>
          </a:p>
        </p:txBody>
      </p:sp>
      <p:sp>
        <p:nvSpPr>
          <p:cNvPr id="4" name="fase S1"/>
          <p:cNvSpPr/>
          <p:nvPr/>
        </p:nvSpPr>
        <p:spPr>
          <a:xfrm>
            <a:off x="9537192" y="429768"/>
            <a:ext cx="457200" cy="457200"/>
          </a:xfrm>
          <a:prstGeom prst="ellipse">
            <a:avLst/>
          </a:prstGeom>
          <a:solidFill>
            <a:schemeClr val="accent1"/>
          </a:solidFill>
          <a:ln w="12700">
            <a:solidFill>
              <a:schemeClr val="accent1"/>
            </a:solidFill>
            <a:prstDash val="solid"/>
          </a:ln>
        </p:spPr>
      </p:sp>
      <p:sp>
        <p:nvSpPr>
          <p:cNvPr id="5" name="Text 3"/>
          <p:cNvSpPr txBox="1"/>
          <p:nvPr/>
        </p:nvSpPr>
        <p:spPr>
          <a:xfrm>
            <a:off x="9537192" y="429768"/>
            <a:ext cx="457200" cy="457200"/>
          </a:xfrm>
          <a:prstGeom prst="rect">
            <a:avLst/>
          </a:prstGeom>
          <a:noFill/>
          <a:ln/>
        </p:spPr>
        <p:txBody>
          <a:bodyPr wrap="square" lIns="0" tIns="0" rIns="0" bIns="0" rtlCol="0" anchor="ctr"/>
          <a:lstStyle/>
          <a:p>
            <a:pPr algn="ctr" indent="0" marL="0">
              <a:buNone/>
            </a:pPr>
            <a:r>
              <a:rPr lang="en-US" sz="1200" b="1" dirty="0">
                <a:solidFill>
                  <a:schemeClr val="bg1"/>
                </a:solidFill>
              </a:rPr>
              <a:t>S1</a:t>
            </a:r>
            <a:endParaRPr lang="en-US" sz="1200" dirty="0"/>
          </a:p>
        </p:txBody>
      </p:sp>
      <p:sp>
        <p:nvSpPr>
          <p:cNvPr id="6" name="fase S2"/>
          <p:cNvSpPr/>
          <p:nvPr/>
        </p:nvSpPr>
        <p:spPr>
          <a:xfrm>
            <a:off x="10085832" y="429768"/>
            <a:ext cx="457200" cy="457200"/>
          </a:xfrm>
          <a:prstGeom prst="ellipse">
            <a:avLst/>
          </a:prstGeom>
          <a:solidFill>
            <a:schemeClr val="accent1"/>
          </a:solidFill>
          <a:ln w="12700">
            <a:solidFill>
              <a:schemeClr val="accent1"/>
            </a:solidFill>
            <a:prstDash val="solid"/>
          </a:ln>
        </p:spPr>
      </p:sp>
      <p:sp>
        <p:nvSpPr>
          <p:cNvPr id="7" name="Text 5"/>
          <p:cNvSpPr txBox="1"/>
          <p:nvPr/>
        </p:nvSpPr>
        <p:spPr>
          <a:xfrm>
            <a:off x="10085832" y="429768"/>
            <a:ext cx="457200" cy="457200"/>
          </a:xfrm>
          <a:prstGeom prst="rect">
            <a:avLst/>
          </a:prstGeom>
          <a:noFill/>
          <a:ln/>
        </p:spPr>
        <p:txBody>
          <a:bodyPr wrap="square" lIns="0" tIns="0" rIns="0" bIns="0" rtlCol="0" anchor="ctr"/>
          <a:lstStyle/>
          <a:p>
            <a:pPr algn="ctr" indent="0" marL="0">
              <a:buNone/>
            </a:pPr>
            <a:r>
              <a:rPr lang="en-US" sz="1200" b="1" dirty="0">
                <a:solidFill>
                  <a:schemeClr val="bg1"/>
                </a:solidFill>
              </a:rPr>
              <a:t>S2</a:t>
            </a:r>
            <a:endParaRPr lang="en-US" sz="1200" dirty="0"/>
          </a:p>
        </p:txBody>
      </p:sp>
      <p:sp>
        <p:nvSpPr>
          <p:cNvPr id="8" name="fase F2"/>
          <p:cNvSpPr/>
          <p:nvPr/>
        </p:nvSpPr>
        <p:spPr>
          <a:xfrm>
            <a:off x="10634472" y="429768"/>
            <a:ext cx="457200" cy="457200"/>
          </a:xfrm>
          <a:prstGeom prst="ellipse">
            <a:avLst/>
          </a:prstGeom>
          <a:solidFill>
            <a:schemeClr val="accent1"/>
          </a:solidFill>
          <a:ln w="12700">
            <a:solidFill>
              <a:schemeClr val="accent1"/>
            </a:solidFill>
            <a:prstDash val="solid"/>
          </a:ln>
        </p:spPr>
      </p:sp>
      <p:sp>
        <p:nvSpPr>
          <p:cNvPr id="9" name="Text 7"/>
          <p:cNvSpPr txBox="1"/>
          <p:nvPr/>
        </p:nvSpPr>
        <p:spPr>
          <a:xfrm>
            <a:off x="10634472" y="429768"/>
            <a:ext cx="457200" cy="457200"/>
          </a:xfrm>
          <a:prstGeom prst="rect">
            <a:avLst/>
          </a:prstGeom>
          <a:noFill/>
          <a:ln/>
        </p:spPr>
        <p:txBody>
          <a:bodyPr wrap="square" lIns="0" tIns="0" rIns="0" bIns="0" rtlCol="0" anchor="ctr"/>
          <a:lstStyle/>
          <a:p>
            <a:pPr algn="ctr" indent="0" marL="0">
              <a:buNone/>
            </a:pPr>
            <a:r>
              <a:rPr lang="en-US" sz="1200" b="1" dirty="0">
                <a:solidFill>
                  <a:schemeClr val="bg1"/>
                </a:solidFill>
              </a:rPr>
              <a:t>F2</a:t>
            </a:r>
            <a:endParaRPr lang="en-US" sz="1200" dirty="0"/>
          </a:p>
        </p:txBody>
      </p:sp>
      <p:sp>
        <p:nvSpPr>
          <p:cNvPr id="10" name="fase S3"/>
          <p:cNvSpPr/>
          <p:nvPr/>
        </p:nvSpPr>
        <p:spPr>
          <a:xfrm>
            <a:off x="11183112" y="429768"/>
            <a:ext cx="457200" cy="457200"/>
          </a:xfrm>
          <a:prstGeom prst="ellipse">
            <a:avLst/>
          </a:prstGeom>
          <a:solidFill>
            <a:schemeClr val="accent2"/>
          </a:solidFill>
          <a:ln w="12700">
            <a:solidFill>
              <a:schemeClr val="accent2"/>
            </a:solidFill>
            <a:prstDash val="solid"/>
          </a:ln>
        </p:spPr>
      </p:sp>
      <p:sp>
        <p:nvSpPr>
          <p:cNvPr id="11" name="Text 9"/>
          <p:cNvSpPr txBox="1"/>
          <p:nvPr/>
        </p:nvSpPr>
        <p:spPr>
          <a:xfrm>
            <a:off x="11183112" y="429768"/>
            <a:ext cx="457200" cy="457200"/>
          </a:xfrm>
          <a:prstGeom prst="rect">
            <a:avLst/>
          </a:prstGeom>
          <a:noFill/>
          <a:ln/>
        </p:spPr>
        <p:txBody>
          <a:bodyPr wrap="square" lIns="0" tIns="0" rIns="0" bIns="0" rtlCol="0" anchor="ctr"/>
          <a:lstStyle/>
          <a:p>
            <a:pPr algn="ctr" indent="0" marL="0">
              <a:buNone/>
            </a:pPr>
            <a:r>
              <a:rPr lang="en-US" sz="1200" b="1" dirty="0">
                <a:solidFill>
                  <a:schemeClr val="tx1"/>
                </a:solidFill>
              </a:rPr>
              <a:t>S3</a:t>
            </a:r>
            <a:endParaRPr lang="en-US" sz="1200" dirty="0"/>
          </a:p>
        </p:txBody>
      </p:sp>
      <p:graphicFrame>
        <p:nvGraphicFramePr>
          <p:cNvPr id="5" name="tabla hilo"/>
          <p:cNvGraphicFramePr>
            <a:graphicFrameLocks noGrp="1"/>
          </p:cNvGraphicFramePr>
          <p:nvPr>
            <p:extLst>
              <p:ext uri="{D42A27DB-BD31-4B8C-83A1-F6EECF244321}">
                <p14:modId xmlns:p14="http://schemas.microsoft.com/office/powerpoint/2010/main" val="1579011935"/>
              </p:ext>
            </p:extLst>
          </p:nvPr>
        </p:nvGraphicFramePr>
        <p:xfrm>
          <a:off x="548640" y="1645920"/>
          <a:ext cx="11091672" cy="914400"/>
        </p:xfrm>
        <a:graphic>
          <a:graphicData uri="http://schemas.openxmlformats.org/drawingml/2006/table">
            <a:tbl>
              <a:tblPr/>
              <a:tblGrid>
                <a:gridCol w="4754880"/>
                <a:gridCol w="1463040"/>
                <a:gridCol w="4873752"/>
              </a:tblGrid>
              <a:tr h="548640">
                <a:tc>
                  <a:txBody>
                    <a:bodyPr/>
                    <a:lstStyle/>
                    <a:p>
                      <a:pPr indent="0" marL="0">
                        <a:buNone/>
                      </a:pPr>
                      <a:r>
                        <a:rPr lang="en-US" sz="1500" b="1" dirty="0">
                          <a:solidFill>
                            <a:srgbClr val="FFFFFF"/>
                          </a:solidFill>
                        </a:rPr>
                        <a:t>Hallazgo previo</a:t>
                      </a:r>
                      <a:endParaRPr lang="en-US" sz="1500" dirty="0"/>
                    </a:p>
                  </a:txBody>
                  <a:tcPr marL="109728" marR="109728" marT="0" marB="0" anchor="ctr">
                    <a:lnL w="0" cap="flat" cmpd="sng" algn="ctr">
                      <a:noFill/>
                    </a:lnL>
                    <a:lnR w="0" cap="flat" cmpd="sng" algn="ctr">
                      <a:noFill/>
                    </a:lnR>
                    <a:lnT w="0" cap="flat" cmpd="sng" algn="ctr">
                      <a:noFill/>
                    </a:lnT>
                    <a:lnB w="0" cap="flat" cmpd="sng" algn="ctr">
                      <a:noFill/>
                    </a:lnB>
                    <a:solidFill>
                      <a:srgbClr val="123F4A"/>
                    </a:solidFill>
                  </a:tcPr>
                </a:tc>
                <a:tc>
                  <a:txBody>
                    <a:bodyPr/>
                    <a:lstStyle/>
                    <a:p>
                      <a:pPr algn="ctr" indent="0" marL="0">
                        <a:buNone/>
                      </a:pPr>
                      <a:r>
                        <a:rPr lang="en-US" sz="1500" b="1" dirty="0">
                          <a:solidFill>
                            <a:srgbClr val="FFFFFF"/>
                          </a:solidFill>
                        </a:rPr>
                        <a:t>Etapa</a:t>
                      </a:r>
                      <a:endParaRPr lang="en-US" sz="1500" dirty="0"/>
                    </a:p>
                  </a:txBody>
                  <a:tcPr marL="109728" marR="109728" marT="0" marB="0" anchor="ctr">
                    <a:lnL w="0" cap="flat" cmpd="sng" algn="ctr">
                      <a:noFill/>
                    </a:lnL>
                    <a:lnR w="0" cap="flat" cmpd="sng" algn="ctr">
                      <a:noFill/>
                    </a:lnR>
                    <a:lnT w="0" cap="flat" cmpd="sng" algn="ctr">
                      <a:noFill/>
                    </a:lnT>
                    <a:lnB w="0" cap="flat" cmpd="sng" algn="ctr">
                      <a:noFill/>
                    </a:lnB>
                    <a:solidFill>
                      <a:srgbClr val="123F4A"/>
                    </a:solidFill>
                  </a:tcPr>
                </a:tc>
                <a:tc>
                  <a:txBody>
                    <a:bodyPr/>
                    <a:lstStyle/>
                    <a:p>
                      <a:pPr indent="0" marL="0">
                        <a:buNone/>
                      </a:pPr>
                      <a:r>
                        <a:rPr lang="en-US" sz="1500" b="1" dirty="0">
                          <a:solidFill>
                            <a:srgbClr val="FFFFFF"/>
                          </a:solidFill>
                        </a:rPr>
                        <a:t>Decisión en S3</a:t>
                      </a:r>
                      <a:endParaRPr lang="en-US" sz="1500" dirty="0"/>
                    </a:p>
                  </a:txBody>
                  <a:tcPr marL="109728" marR="109728" marT="0" marB="0" anchor="ctr">
                    <a:lnL w="0" cap="flat" cmpd="sng" algn="ctr">
                      <a:noFill/>
                    </a:lnL>
                    <a:lnR w="0" cap="flat" cmpd="sng" algn="ctr">
                      <a:noFill/>
                    </a:lnR>
                    <a:lnT w="0" cap="flat" cmpd="sng" algn="ctr">
                      <a:noFill/>
                    </a:lnT>
                    <a:lnB w="0" cap="flat" cmpd="sng" algn="ctr">
                      <a:noFill/>
                    </a:lnB>
                    <a:solidFill>
                      <a:srgbClr val="123F4A"/>
                    </a:solidFill>
                  </a:tcPr>
                </a:tc>
              </a:tr>
              <a:tr h="548640">
                <a:tc>
                  <a:txBody>
                    <a:bodyPr/>
                    <a:lstStyle/>
                    <a:p>
                      <a:pPr indent="0" marL="0">
                        <a:buNone/>
                      </a:pPr>
                      <a:r>
                        <a:rPr lang="en-US" sz="1500" dirty="0">
                          <a:solidFill>
                            <a:srgbClr val="1B2A33"/>
                          </a:solidFill>
                        </a:rPr>
                        <a:t>Ningún valor faltante en 10.999 envíos</a:t>
                      </a:r>
                      <a:endParaRPr lang="en-US" sz="1500" dirty="0"/>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500" b="1" dirty="0">
                          <a:solidFill>
                            <a:srgbClr val="1F6F7A"/>
                          </a:solidFill>
                        </a:rPr>
                        <a:t>S1</a:t>
                      </a:r>
                      <a:endParaRPr lang="en-US" sz="1500" dirty="0"/>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500" b="1" dirty="0">
                          <a:solidFill>
                            <a:srgbClr val="123F4A"/>
                          </a:solidFill>
                        </a:rPr>
                        <a:t>Simular faltantes con un mecanismo conocido</a:t>
                      </a:r>
                      <a:endParaRPr lang="en-US" sz="1500" dirty="0"/>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r>
              <a:tr h="548640">
                <a:tc>
                  <a:txBody>
                    <a:bodyPr/>
                    <a:lstStyle/>
                    <a:p>
                      <a:pPr indent="0" marL="0">
                        <a:buNone/>
                      </a:pPr>
                      <a:r>
                        <a:rPr lang="en-US" sz="1500" dirty="0">
                          <a:solidFill>
                            <a:srgbClr val="1B2A33"/>
                          </a:solidFill>
                        </a:rPr>
                        <a:t>Matriz de Spearman y correlaciones estables</a:t>
                      </a:r>
                      <a:endParaRPr lang="en-US" sz="1500" dirty="0"/>
                    </a:p>
                  </a:txBody>
                  <a:tcPr marL="109728" marR="109728" marT="0" marB="0" anchor="ctr">
                    <a:lnL w="0" cap="flat" cmpd="sng" algn="ctr">
                      <a:noFill/>
                    </a:lnL>
                    <a:lnR w="0" cap="flat" cmpd="sng" algn="ctr">
                      <a:noFill/>
                    </a:lnR>
                    <a:lnT w="0" cap="flat" cmpd="sng" algn="ctr">
                      <a:noFill/>
                    </a:lnT>
                    <a:lnB w="0" cap="flat" cmpd="sng" algn="ctr">
                      <a:noFill/>
                    </a:lnB>
                    <a:solidFill>
                      <a:srgbClr val="EDF2F3"/>
                    </a:solidFill>
                  </a:tcPr>
                </a:tc>
                <a:tc>
                  <a:txBody>
                    <a:bodyPr/>
                    <a:lstStyle/>
                    <a:p>
                      <a:pPr algn="ctr" indent="0" marL="0">
                        <a:buNone/>
                      </a:pPr>
                      <a:r>
                        <a:rPr lang="en-US" sz="1500" b="1" dirty="0">
                          <a:solidFill>
                            <a:srgbClr val="1F6F7A"/>
                          </a:solidFill>
                        </a:rPr>
                        <a:t>S1 · S2</a:t>
                      </a:r>
                      <a:endParaRPr lang="en-US" sz="1500" dirty="0"/>
                    </a:p>
                  </a:txBody>
                  <a:tcPr marL="109728" marR="109728" marT="0" marB="0" anchor="ctr">
                    <a:lnL w="0" cap="flat" cmpd="sng" algn="ctr">
                      <a:noFill/>
                    </a:lnL>
                    <a:lnR w="0" cap="flat" cmpd="sng" algn="ctr">
                      <a:noFill/>
                    </a:lnR>
                    <a:lnT w="0" cap="flat" cmpd="sng" algn="ctr">
                      <a:noFill/>
                    </a:lnT>
                    <a:lnB w="0" cap="flat" cmpd="sng" algn="ctr">
                      <a:noFill/>
                    </a:lnB>
                    <a:solidFill>
                      <a:srgbClr val="EDF2F3"/>
                    </a:solidFill>
                  </a:tcPr>
                </a:tc>
                <a:tc>
                  <a:txBody>
                    <a:bodyPr/>
                    <a:lstStyle/>
                    <a:p>
                      <a:pPr indent="0" marL="0">
                        <a:buNone/>
                      </a:pPr>
                      <a:r>
                        <a:rPr lang="en-US" sz="1500" b="1" dirty="0">
                          <a:solidFill>
                            <a:srgbClr val="123F4A"/>
                          </a:solidFill>
                        </a:rPr>
                        <a:t>Elegir los predictores de cada imputación</a:t>
                      </a:r>
                      <a:endParaRPr lang="en-US" sz="1500" dirty="0"/>
                    </a:p>
                  </a:txBody>
                  <a:tcPr marL="109728" marR="109728" marT="0" marB="0" anchor="ctr">
                    <a:lnL w="0" cap="flat" cmpd="sng" algn="ctr">
                      <a:noFill/>
                    </a:lnL>
                    <a:lnR w="0" cap="flat" cmpd="sng" algn="ctr">
                      <a:noFill/>
                    </a:lnR>
                    <a:lnT w="0" cap="flat" cmpd="sng" algn="ctr">
                      <a:noFill/>
                    </a:lnT>
                    <a:lnB w="0" cap="flat" cmpd="sng" algn="ctr">
                      <a:noFill/>
                    </a:lnB>
                    <a:solidFill>
                      <a:srgbClr val="EDF2F3"/>
                    </a:solidFill>
                  </a:tcPr>
                </a:tc>
              </a:tr>
              <a:tr h="548640">
                <a:tc>
                  <a:txBody>
                    <a:bodyPr/>
                    <a:lstStyle/>
                    <a:p>
                      <a:pPr indent="0" marL="0">
                        <a:buNone/>
                      </a:pPr>
                      <a:r>
                        <a:rPr lang="en-US" sz="1500" dirty="0">
                          <a:solidFill>
                            <a:srgbClr val="1B2A33"/>
                          </a:solidFill>
                        </a:rPr>
                        <a:t>Descuento &gt; 10: 100 % atrasado; sin señal fuera de él</a:t>
                      </a:r>
                      <a:endParaRPr lang="en-US" sz="1500" dirty="0"/>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500" b="1" dirty="0">
                          <a:solidFill>
                            <a:srgbClr val="1F6F7A"/>
                          </a:solidFill>
                        </a:rPr>
                        <a:t>S1 · S2 · F2</a:t>
                      </a:r>
                      <a:endParaRPr lang="en-US" sz="1500" dirty="0"/>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500" b="1" dirty="0">
                          <a:solidFill>
                            <a:srgbClr val="123F4A"/>
                          </a:solidFill>
                        </a:rPr>
                        <a:t>Modelar el segmento ≤ 10 y usar una regla para &gt; 10</a:t>
                      </a:r>
                      <a:endParaRPr lang="en-US" sz="1500" dirty="0"/>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r>
              <a:tr h="548640">
                <a:tc>
                  <a:txBody>
                    <a:bodyPr/>
                    <a:lstStyle/>
                    <a:p>
                      <a:pPr indent="0" marL="0">
                        <a:buNone/>
                      </a:pPr>
                      <a:r>
                        <a:rPr lang="en-US" sz="1500" dirty="0">
                          <a:solidFill>
                            <a:srgbClr val="1B2A33"/>
                          </a:solidFill>
                        </a:rPr>
                        <a:t>Extremos válidos; winsorizar no cambia nada</a:t>
                      </a:r>
                      <a:endParaRPr lang="en-US" sz="1500" dirty="0"/>
                    </a:p>
                  </a:txBody>
                  <a:tcPr marL="109728" marR="109728" marT="0" marB="0" anchor="ctr">
                    <a:lnL w="0" cap="flat" cmpd="sng" algn="ctr">
                      <a:noFill/>
                    </a:lnL>
                    <a:lnR w="0" cap="flat" cmpd="sng" algn="ctr">
                      <a:noFill/>
                    </a:lnR>
                    <a:lnT w="0" cap="flat" cmpd="sng" algn="ctr">
                      <a:noFill/>
                    </a:lnT>
                    <a:lnB w="0" cap="flat" cmpd="sng" algn="ctr">
                      <a:noFill/>
                    </a:lnB>
                    <a:solidFill>
                      <a:srgbClr val="EDF2F3"/>
                    </a:solidFill>
                  </a:tcPr>
                </a:tc>
                <a:tc>
                  <a:txBody>
                    <a:bodyPr/>
                    <a:lstStyle/>
                    <a:p>
                      <a:pPr algn="ctr" indent="0" marL="0">
                        <a:buNone/>
                      </a:pPr>
                      <a:r>
                        <a:rPr lang="en-US" sz="1500" b="1" dirty="0">
                          <a:solidFill>
                            <a:srgbClr val="1F6F7A"/>
                          </a:solidFill>
                        </a:rPr>
                        <a:t>S1 · S2</a:t>
                      </a:r>
                      <a:endParaRPr lang="en-US" sz="1500" dirty="0"/>
                    </a:p>
                  </a:txBody>
                  <a:tcPr marL="109728" marR="109728" marT="0" marB="0" anchor="ctr">
                    <a:lnL w="0" cap="flat" cmpd="sng" algn="ctr">
                      <a:noFill/>
                    </a:lnL>
                    <a:lnR w="0" cap="flat" cmpd="sng" algn="ctr">
                      <a:noFill/>
                    </a:lnR>
                    <a:lnT w="0" cap="flat" cmpd="sng" algn="ctr">
                      <a:noFill/>
                    </a:lnT>
                    <a:lnB w="0" cap="flat" cmpd="sng" algn="ctr">
                      <a:noFill/>
                    </a:lnB>
                    <a:solidFill>
                      <a:srgbClr val="EDF2F3"/>
                    </a:solidFill>
                  </a:tcPr>
                </a:tc>
                <a:tc>
                  <a:txBody>
                    <a:bodyPr/>
                    <a:lstStyle/>
                    <a:p>
                      <a:pPr indent="0" marL="0">
                        <a:buNone/>
                      </a:pPr>
                      <a:r>
                        <a:rPr lang="en-US" sz="1500" b="1" dirty="0">
                          <a:solidFill>
                            <a:srgbClr val="123F4A"/>
                          </a:solidFill>
                        </a:rPr>
                        <a:t>Conservar los valores extremos</a:t>
                      </a:r>
                      <a:endParaRPr lang="en-US" sz="1500" dirty="0"/>
                    </a:p>
                  </a:txBody>
                  <a:tcPr marL="109728" marR="109728" marT="0" marB="0" anchor="ctr">
                    <a:lnL w="0" cap="flat" cmpd="sng" algn="ctr">
                      <a:noFill/>
                    </a:lnL>
                    <a:lnR w="0" cap="flat" cmpd="sng" algn="ctr">
                      <a:noFill/>
                    </a:lnR>
                    <a:lnT w="0" cap="flat" cmpd="sng" algn="ctr">
                      <a:noFill/>
                    </a:lnT>
                    <a:lnB w="0" cap="flat" cmpd="sng" algn="ctr">
                      <a:noFill/>
                    </a:lnB>
                    <a:solidFill>
                      <a:srgbClr val="EDF2F3"/>
                    </a:solidFill>
                  </a:tcPr>
                </a:tc>
              </a:tr>
              <a:tr h="548640">
                <a:tc>
                  <a:txBody>
                    <a:bodyPr/>
                    <a:lstStyle/>
                    <a:p>
                      <a:pPr indent="0" marL="0">
                        <a:buNone/>
                      </a:pPr>
                      <a:r>
                        <a:rPr lang="en-US" sz="1500" dirty="0">
                          <a:solidFill>
                            <a:srgbClr val="1B2A33"/>
                          </a:solidFill>
                        </a:rPr>
                        <a:t>Llamadas y calificación quizá posteriores; bloque 1 a 3.135</a:t>
                      </a:r>
                      <a:endParaRPr lang="en-US" sz="1500" dirty="0"/>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500" b="1" dirty="0">
                          <a:solidFill>
                            <a:srgbClr val="1F6F7A"/>
                          </a:solidFill>
                        </a:rPr>
                        <a:t>S1 · S2</a:t>
                      </a:r>
                      <a:endParaRPr lang="en-US" sz="1500" dirty="0"/>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500" b="1" dirty="0">
                          <a:solidFill>
                            <a:srgbClr val="123F4A"/>
                          </a:solidFill>
                        </a:rPr>
                        <a:t>Excluirlas como predictores, junto con el identificador</a:t>
                      </a:r>
                      <a:endParaRPr lang="en-US" sz="1500" dirty="0"/>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r>
              <a:tr h="548640">
                <a:tc>
                  <a:txBody>
                    <a:bodyPr/>
                    <a:lstStyle/>
                    <a:p>
                      <a:pPr indent="0" marL="0">
                        <a:buNone/>
                      </a:pPr>
                      <a:r>
                        <a:rPr lang="en-US" sz="1500" dirty="0">
                          <a:solidFill>
                            <a:srgbClr val="1B2A33"/>
                          </a:solidFill>
                        </a:rPr>
                        <a:t>IC bootstrap percentil y BCa validados con B = 10.000</a:t>
                      </a:r>
                      <a:endParaRPr lang="en-US" sz="1500" dirty="0"/>
                    </a:p>
                  </a:txBody>
                  <a:tcPr marL="109728" marR="109728" marT="0" marB="0" anchor="ctr">
                    <a:lnL w="0" cap="flat" cmpd="sng" algn="ctr">
                      <a:noFill/>
                    </a:lnL>
                    <a:lnR w="0" cap="flat" cmpd="sng" algn="ctr">
                      <a:noFill/>
                    </a:lnR>
                    <a:lnT w="0" cap="flat" cmpd="sng" algn="ctr">
                      <a:noFill/>
                    </a:lnT>
                    <a:lnB w="0" cap="flat" cmpd="sng" algn="ctr">
                      <a:noFill/>
                    </a:lnB>
                    <a:solidFill>
                      <a:srgbClr val="EDF2F3"/>
                    </a:solidFill>
                  </a:tcPr>
                </a:tc>
                <a:tc>
                  <a:txBody>
                    <a:bodyPr/>
                    <a:lstStyle/>
                    <a:p>
                      <a:pPr algn="ctr" indent="0" marL="0">
                        <a:buNone/>
                      </a:pPr>
                      <a:r>
                        <a:rPr lang="en-US" sz="1500" b="1" dirty="0">
                          <a:solidFill>
                            <a:srgbClr val="1F6F7A"/>
                          </a:solidFill>
                        </a:rPr>
                        <a:t>S2</a:t>
                      </a:r>
                      <a:endParaRPr lang="en-US" sz="1500" dirty="0"/>
                    </a:p>
                  </a:txBody>
                  <a:tcPr marL="109728" marR="109728" marT="0" marB="0" anchor="ctr">
                    <a:lnL w="0" cap="flat" cmpd="sng" algn="ctr">
                      <a:noFill/>
                    </a:lnL>
                    <a:lnR w="0" cap="flat" cmpd="sng" algn="ctr">
                      <a:noFill/>
                    </a:lnR>
                    <a:lnT w="0" cap="flat" cmpd="sng" algn="ctr">
                      <a:noFill/>
                    </a:lnT>
                    <a:lnB w="0" cap="flat" cmpd="sng" algn="ctr">
                      <a:noFill/>
                    </a:lnB>
                    <a:solidFill>
                      <a:srgbClr val="EDF2F3"/>
                    </a:solidFill>
                  </a:tcPr>
                </a:tc>
                <a:tc>
                  <a:txBody>
                    <a:bodyPr/>
                    <a:lstStyle/>
                    <a:p>
                      <a:pPr indent="0" marL="0">
                        <a:buNone/>
                      </a:pPr>
                      <a:r>
                        <a:rPr lang="en-US" sz="1500" b="1" dirty="0">
                          <a:solidFill>
                            <a:srgbClr val="123F4A"/>
                          </a:solidFill>
                        </a:rPr>
                        <a:t>Mismo método para la estabilidad del modelo final</a:t>
                      </a:r>
                      <a:endParaRPr lang="en-US" sz="1500" dirty="0"/>
                    </a:p>
                  </a:txBody>
                  <a:tcPr marL="109728" marR="109728" marT="0" marB="0" anchor="ctr">
                    <a:lnL w="0" cap="flat" cmpd="sng" algn="ctr">
                      <a:noFill/>
                    </a:lnL>
                    <a:lnR w="0" cap="flat" cmpd="sng" algn="ctr">
                      <a:noFill/>
                    </a:lnR>
                    <a:lnT w="0" cap="flat" cmpd="sng" algn="ctr">
                      <a:noFill/>
                    </a:lnT>
                    <a:lnB w="0" cap="flat" cmpd="sng" algn="ctr">
                      <a:noFill/>
                    </a:lnB>
                    <a:solidFill>
                      <a:srgbClr val="EDF2F3"/>
                    </a:solidFill>
                  </a:tcPr>
                </a:tc>
              </a:tr>
            </a:tbl>
          </a:graphicData>
        </a:graphic>
      </p:graphicFrame>
      <p:sp>
        <p:nvSpPr>
          <p:cNvPr id="13" name="Text 10"/>
          <p:cNvSpPr txBox="1"/>
          <p:nvPr/>
        </p:nvSpPr>
        <p:spPr>
          <a:xfrm>
            <a:off x="548640" y="5623560"/>
            <a:ext cx="11091672" cy="320040"/>
          </a:xfrm>
          <a:prstGeom prst="rect">
            <a:avLst/>
          </a:prstGeom>
          <a:noFill/>
          <a:ln/>
        </p:spPr>
        <p:txBody>
          <a:bodyPr wrap="square" lIns="0" tIns="0" rIns="0" bIns="0" rtlCol="0" anchor="ctr"/>
          <a:lstStyle/>
          <a:p>
            <a:pPr indent="0" marL="0">
              <a:buNone/>
            </a:pPr>
            <a:r>
              <a:rPr lang="en-US" sz="1200" dirty="0">
                <a:solidFill>
                  <a:schemeClr val="accent5"/>
                </a:solidFill>
              </a:rPr>
              <a:t>BCa: bootstrap corregido por sesgo y acelerado. B: número de réplicas.</a:t>
            </a:r>
            <a:endParaRPr lang="en-US" sz="1200" dirty="0"/>
          </a:p>
        </p:txBody>
      </p:sp>
      <p:sp>
        <p:nvSpPr>
          <p:cNvPr id="14" name="Text 11"/>
          <p:cNvSpPr txBox="1"/>
          <p:nvPr/>
        </p:nvSpPr>
        <p:spPr>
          <a:xfrm>
            <a:off x="548640" y="6382512"/>
            <a:ext cx="5486400" cy="274320"/>
          </a:xfrm>
          <a:prstGeom prst="rect">
            <a:avLst/>
          </a:prstGeom>
          <a:noFill/>
          <a:ln/>
        </p:spPr>
        <p:txBody>
          <a:bodyPr wrap="square" lIns="0" tIns="0" rIns="0" bIns="0" rtlCol="0" anchor="ctr"/>
          <a:lstStyle/>
          <a:p>
            <a:pPr indent="0" marL="0">
              <a:buNone/>
            </a:pPr>
            <a:r>
              <a:rPr lang="en-US" sz="1100" b="1" dirty="0">
                <a:solidFill>
                  <a:schemeClr val="accent5"/>
                </a:solidFill>
              </a:rPr>
              <a:t>Expone: </a:t>
            </a:r>
            <a:pPr indent="0" marL="0">
              <a:buNone/>
            </a:pPr>
            <a:r>
              <a:rPr lang="en-US" sz="1100" dirty="0">
                <a:solidFill>
                  <a:schemeClr val="accent5"/>
                </a:solidFill>
              </a:rPr>
              <a:t>José Ignacio Rodríguez</a:t>
            </a:r>
            <a:endParaRPr lang="en-US" sz="1100" dirty="0"/>
          </a:p>
        </p:txBody>
      </p:sp>
      <p:sp>
        <p:nvSpPr>
          <p:cNvPr id="25" name="Slide Number Placeholder 0"/>
          <p:cNvSpPr>
            <a:spLocks noGrp="1"/>
          </p:cNvSpPr>
          <p:nvPr>
            <p:ph type="sldNum" sz="quarter" idx="4294967295"/>
          </p:nvPr>
        </p:nvSpPr>
        <p:spPr>
          <a:xfrm>
            <a:off x="11338560" y="6382512"/>
            <a:ext cx="3200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869680" cy="685800"/>
          </a:xfrm>
          <a:prstGeom prst="rect">
            <a:avLst/>
          </a:prstGeom>
          <a:noFill/>
          <a:ln/>
        </p:spPr>
        <p:txBody>
          <a:bodyPr wrap="square" lIns="0" tIns="0" rIns="0" bIns="0" rtlCol="0" anchor="ctr"/>
          <a:lstStyle/>
          <a:p>
            <a:pPr algn="l" indent="0" marL="0">
              <a:buNone/>
            </a:pPr>
            <a:r>
              <a:rPr lang="en-US" sz="3000" b="1" dirty="0">
                <a:solidFill>
                  <a:schemeClr val="tx2"/>
                </a:solidFill>
              </a:rPr>
              <a:t>Metodología integrada de S3</a:t>
            </a:r>
            <a:endParaRPr lang="en-US" sz="3000" dirty="0"/>
          </a:p>
        </p:txBody>
      </p:sp>
      <p:sp>
        <p:nvSpPr>
          <p:cNvPr id="3" name="Text 0"/>
          <p:cNvSpPr/>
          <p:nvPr>
            <p:ph idx="101" type="body" hasCustomPrompt="1"/>
          </p:nvPr>
        </p:nvSpPr>
        <p:spPr>
          <a:xfrm>
            <a:off x="548640" y="987552"/>
            <a:ext cx="8869680" cy="411480"/>
          </a:xfrm>
          <a:prstGeom prst="rect">
            <a:avLst/>
          </a:prstGeom>
          <a:noFill/>
          <a:ln/>
        </p:spPr>
        <p:txBody>
          <a:bodyPr wrap="square" lIns="0" tIns="0" rIns="0" bIns="0" rtlCol="0" anchor="t"/>
          <a:lstStyle/>
          <a:p>
            <a:pPr indent="0" marL="0">
              <a:buNone/>
            </a:pPr>
            <a:r>
              <a:rPr lang="en-US" sz="1600" dirty="0">
                <a:solidFill>
                  <a:schemeClr val="accent5"/>
                </a:solidFill>
              </a:rPr>
              <a:t>Cinco pasos, cada uno con su base en una etapa anterior</a:t>
            </a:r>
            <a:endParaRPr lang="en-US" sz="1600" dirty="0"/>
          </a:p>
        </p:txBody>
      </p:sp>
      <p:sp>
        <p:nvSpPr>
          <p:cNvPr id="4" name="fase S1"/>
          <p:cNvSpPr/>
          <p:nvPr/>
        </p:nvSpPr>
        <p:spPr>
          <a:xfrm>
            <a:off x="9537192" y="429768"/>
            <a:ext cx="457200" cy="457200"/>
          </a:xfrm>
          <a:prstGeom prst="ellipse">
            <a:avLst/>
          </a:prstGeom>
          <a:solidFill>
            <a:schemeClr val="accent1"/>
          </a:solidFill>
          <a:ln w="12700">
            <a:solidFill>
              <a:schemeClr val="accent1"/>
            </a:solidFill>
            <a:prstDash val="solid"/>
          </a:ln>
        </p:spPr>
      </p:sp>
      <p:sp>
        <p:nvSpPr>
          <p:cNvPr id="5" name="Text 3"/>
          <p:cNvSpPr txBox="1"/>
          <p:nvPr/>
        </p:nvSpPr>
        <p:spPr>
          <a:xfrm>
            <a:off x="9537192" y="429768"/>
            <a:ext cx="457200" cy="457200"/>
          </a:xfrm>
          <a:prstGeom prst="rect">
            <a:avLst/>
          </a:prstGeom>
          <a:noFill/>
          <a:ln/>
        </p:spPr>
        <p:txBody>
          <a:bodyPr wrap="square" lIns="0" tIns="0" rIns="0" bIns="0" rtlCol="0" anchor="ctr"/>
          <a:lstStyle/>
          <a:p>
            <a:pPr algn="ctr" indent="0" marL="0">
              <a:buNone/>
            </a:pPr>
            <a:r>
              <a:rPr lang="en-US" sz="1200" b="1" dirty="0">
                <a:solidFill>
                  <a:schemeClr val="bg1"/>
                </a:solidFill>
              </a:rPr>
              <a:t>S1</a:t>
            </a:r>
            <a:endParaRPr lang="en-US" sz="1200" dirty="0"/>
          </a:p>
        </p:txBody>
      </p:sp>
      <p:sp>
        <p:nvSpPr>
          <p:cNvPr id="6" name="fase S2"/>
          <p:cNvSpPr/>
          <p:nvPr/>
        </p:nvSpPr>
        <p:spPr>
          <a:xfrm>
            <a:off x="10085832" y="429768"/>
            <a:ext cx="457200" cy="457200"/>
          </a:xfrm>
          <a:prstGeom prst="ellipse">
            <a:avLst/>
          </a:prstGeom>
          <a:solidFill>
            <a:schemeClr val="accent1"/>
          </a:solidFill>
          <a:ln w="12700">
            <a:solidFill>
              <a:schemeClr val="accent1"/>
            </a:solidFill>
            <a:prstDash val="solid"/>
          </a:ln>
        </p:spPr>
      </p:sp>
      <p:sp>
        <p:nvSpPr>
          <p:cNvPr id="7" name="Text 5"/>
          <p:cNvSpPr txBox="1"/>
          <p:nvPr/>
        </p:nvSpPr>
        <p:spPr>
          <a:xfrm>
            <a:off x="10085832" y="429768"/>
            <a:ext cx="457200" cy="457200"/>
          </a:xfrm>
          <a:prstGeom prst="rect">
            <a:avLst/>
          </a:prstGeom>
          <a:noFill/>
          <a:ln/>
        </p:spPr>
        <p:txBody>
          <a:bodyPr wrap="square" lIns="0" tIns="0" rIns="0" bIns="0" rtlCol="0" anchor="ctr"/>
          <a:lstStyle/>
          <a:p>
            <a:pPr algn="ctr" indent="0" marL="0">
              <a:buNone/>
            </a:pPr>
            <a:r>
              <a:rPr lang="en-US" sz="1200" b="1" dirty="0">
                <a:solidFill>
                  <a:schemeClr val="bg1"/>
                </a:solidFill>
              </a:rPr>
              <a:t>S2</a:t>
            </a:r>
            <a:endParaRPr lang="en-US" sz="1200" dirty="0"/>
          </a:p>
        </p:txBody>
      </p:sp>
      <p:sp>
        <p:nvSpPr>
          <p:cNvPr id="8" name="fase F2"/>
          <p:cNvSpPr/>
          <p:nvPr/>
        </p:nvSpPr>
        <p:spPr>
          <a:xfrm>
            <a:off x="10634472" y="429768"/>
            <a:ext cx="457200" cy="457200"/>
          </a:xfrm>
          <a:prstGeom prst="ellipse">
            <a:avLst/>
          </a:prstGeom>
          <a:solidFill>
            <a:schemeClr val="accent1"/>
          </a:solidFill>
          <a:ln w="12700">
            <a:solidFill>
              <a:schemeClr val="accent1"/>
            </a:solidFill>
            <a:prstDash val="solid"/>
          </a:ln>
        </p:spPr>
      </p:sp>
      <p:sp>
        <p:nvSpPr>
          <p:cNvPr id="9" name="Text 7"/>
          <p:cNvSpPr txBox="1"/>
          <p:nvPr/>
        </p:nvSpPr>
        <p:spPr>
          <a:xfrm>
            <a:off x="10634472" y="429768"/>
            <a:ext cx="457200" cy="457200"/>
          </a:xfrm>
          <a:prstGeom prst="rect">
            <a:avLst/>
          </a:prstGeom>
          <a:noFill/>
          <a:ln/>
        </p:spPr>
        <p:txBody>
          <a:bodyPr wrap="square" lIns="0" tIns="0" rIns="0" bIns="0" rtlCol="0" anchor="ctr"/>
          <a:lstStyle/>
          <a:p>
            <a:pPr algn="ctr" indent="0" marL="0">
              <a:buNone/>
            </a:pPr>
            <a:r>
              <a:rPr lang="en-US" sz="1200" b="1" dirty="0">
                <a:solidFill>
                  <a:schemeClr val="bg1"/>
                </a:solidFill>
              </a:rPr>
              <a:t>F2</a:t>
            </a:r>
            <a:endParaRPr lang="en-US" sz="1200" dirty="0"/>
          </a:p>
        </p:txBody>
      </p:sp>
      <p:sp>
        <p:nvSpPr>
          <p:cNvPr id="10" name="fase S3"/>
          <p:cNvSpPr/>
          <p:nvPr/>
        </p:nvSpPr>
        <p:spPr>
          <a:xfrm>
            <a:off x="11183112" y="429768"/>
            <a:ext cx="457200" cy="457200"/>
          </a:xfrm>
          <a:prstGeom prst="ellipse">
            <a:avLst/>
          </a:prstGeom>
          <a:solidFill>
            <a:schemeClr val="accent2"/>
          </a:solidFill>
          <a:ln w="12700">
            <a:solidFill>
              <a:schemeClr val="accent2"/>
            </a:solidFill>
            <a:prstDash val="solid"/>
          </a:ln>
        </p:spPr>
      </p:sp>
      <p:sp>
        <p:nvSpPr>
          <p:cNvPr id="11" name="Text 9"/>
          <p:cNvSpPr txBox="1"/>
          <p:nvPr/>
        </p:nvSpPr>
        <p:spPr>
          <a:xfrm>
            <a:off x="11183112" y="429768"/>
            <a:ext cx="457200" cy="457200"/>
          </a:xfrm>
          <a:prstGeom prst="rect">
            <a:avLst/>
          </a:prstGeom>
          <a:noFill/>
          <a:ln/>
        </p:spPr>
        <p:txBody>
          <a:bodyPr wrap="square" lIns="0" tIns="0" rIns="0" bIns="0" rtlCol="0" anchor="ctr"/>
          <a:lstStyle/>
          <a:p>
            <a:pPr algn="ctr" indent="0" marL="0">
              <a:buNone/>
            </a:pPr>
            <a:r>
              <a:rPr lang="en-US" sz="1200" b="1" dirty="0">
                <a:solidFill>
                  <a:schemeClr val="tx1"/>
                </a:solidFill>
              </a:rPr>
              <a:t>S3</a:t>
            </a:r>
            <a:endParaRPr lang="en-US" sz="1200" dirty="0"/>
          </a:p>
        </p:txBody>
      </p:sp>
      <p:sp>
        <p:nvSpPr>
          <p:cNvPr id="12" name="paso 1"/>
          <p:cNvSpPr/>
          <p:nvPr/>
        </p:nvSpPr>
        <p:spPr>
          <a:xfrm>
            <a:off x="548640" y="1645920"/>
            <a:ext cx="2075688" cy="4069080"/>
          </a:xfrm>
          <a:prstGeom prst="roundRect">
            <a:avLst>
              <a:gd name="adj" fmla="val 3524"/>
            </a:avLst>
          </a:prstGeom>
          <a:solidFill>
            <a:schemeClr val="bg2"/>
          </a:solidFill>
          <a:ln w="12700">
            <a:solidFill>
              <a:schemeClr val="bg2"/>
            </a:solidFill>
            <a:prstDash val="solid"/>
          </a:ln>
        </p:spPr>
      </p:sp>
      <p:sp>
        <p:nvSpPr>
          <p:cNvPr id="13" name="icono paso 1"/>
          <p:cNvSpPr/>
          <p:nvPr/>
        </p:nvSpPr>
        <p:spPr>
          <a:xfrm>
            <a:off x="731520" y="1828800"/>
            <a:ext cx="640080" cy="640080"/>
          </a:xfrm>
          <a:prstGeom prst="ellipse">
            <a:avLst/>
          </a:prstGeom>
          <a:solidFill>
            <a:schemeClr val="accent1"/>
          </a:solidFill>
          <a:ln w="12700">
            <a:solidFill>
              <a:schemeClr val="accent1"/>
            </a:solidFill>
            <a:prstDash val="solid"/>
          </a:ln>
        </p:spPr>
      </p:sp>
      <p:pic>
        <p:nvPicPr>
          <p:cNvPr id="14" name="Image 0" descr="icono paso 1">    </p:cNvPr>
          <p:cNvPicPr>
            <a:picLocks noChangeAspect="1"/>
          </p:cNvPicPr>
          <p:nvPr/>
        </p:nvPicPr>
        <p:blipFill>
          <a:blip r:embed="rId1"/>
          <a:stretch>
            <a:fillRect/>
          </a:stretch>
        </p:blipFill>
        <p:spPr>
          <a:xfrm>
            <a:off x="885139" y="1982419"/>
            <a:ext cx="332842" cy="332842"/>
          </a:xfrm>
          <a:prstGeom prst="rect">
            <a:avLst/>
          </a:prstGeom>
        </p:spPr>
      </p:pic>
      <p:sp>
        <p:nvSpPr>
          <p:cNvPr id="15" name="Text 12"/>
          <p:cNvSpPr txBox="1"/>
          <p:nvPr/>
        </p:nvSpPr>
        <p:spPr>
          <a:xfrm>
            <a:off x="1920240" y="1783080"/>
            <a:ext cx="548640" cy="685800"/>
          </a:xfrm>
          <a:prstGeom prst="rect">
            <a:avLst/>
          </a:prstGeom>
          <a:noFill/>
          <a:ln/>
        </p:spPr>
        <p:txBody>
          <a:bodyPr wrap="square" lIns="0" tIns="0" rIns="0" bIns="0" rtlCol="0" anchor="ctr"/>
          <a:lstStyle/>
          <a:p>
            <a:pPr algn="r" indent="0" marL="0">
              <a:buNone/>
            </a:pPr>
            <a:r>
              <a:rPr lang="en-US" sz="3400" b="1" dirty="0">
                <a:solidFill>
                  <a:schemeClr val="accent4"/>
                </a:solidFill>
                <a:latin typeface="Cambria" pitchFamily="34" charset="0"/>
                <a:ea typeface="Cambria" pitchFamily="34" charset="-122"/>
                <a:cs typeface="Cambria" pitchFamily="34" charset="-120"/>
              </a:rPr>
              <a:t>1</a:t>
            </a:r>
            <a:endParaRPr lang="en-US" sz="3400" dirty="0"/>
          </a:p>
        </p:txBody>
      </p:sp>
      <p:sp>
        <p:nvSpPr>
          <p:cNvPr id="16" name="Text 13"/>
          <p:cNvSpPr txBox="1"/>
          <p:nvPr/>
        </p:nvSpPr>
        <p:spPr>
          <a:xfrm>
            <a:off x="731520" y="2606040"/>
            <a:ext cx="1709928" cy="640080"/>
          </a:xfrm>
          <a:prstGeom prst="rect">
            <a:avLst/>
          </a:prstGeom>
          <a:noFill/>
          <a:ln/>
        </p:spPr>
        <p:txBody>
          <a:bodyPr wrap="square" lIns="0" tIns="0" rIns="0" bIns="0" rtlCol="0" anchor="t"/>
          <a:lstStyle/>
          <a:p>
            <a:pPr indent="0" marL="0">
              <a:buNone/>
            </a:pPr>
            <a:r>
              <a:rPr lang="en-US" sz="1700" b="1" dirty="0">
                <a:solidFill>
                  <a:schemeClr val="tx2"/>
                </a:solidFill>
                <a:latin typeface="Cambria" pitchFamily="34" charset="0"/>
                <a:ea typeface="Cambria" pitchFamily="34" charset="-122"/>
                <a:cs typeface="Cambria" pitchFamily="34" charset="-120"/>
              </a:rPr>
              <a:t>Datos faltantes</a:t>
            </a:r>
            <a:endParaRPr lang="en-US" sz="1700" dirty="0"/>
          </a:p>
        </p:txBody>
      </p:sp>
      <p:sp>
        <p:nvSpPr>
          <p:cNvPr id="17" name="Text 14"/>
          <p:cNvSpPr txBox="1"/>
          <p:nvPr/>
        </p:nvSpPr>
        <p:spPr>
          <a:xfrm>
            <a:off x="731520" y="3291840"/>
            <a:ext cx="1709928" cy="1783080"/>
          </a:xfrm>
          <a:prstGeom prst="rect">
            <a:avLst/>
          </a:prstGeom>
          <a:noFill/>
          <a:ln/>
        </p:spPr>
        <p:txBody>
          <a:bodyPr wrap="square" lIns="0" tIns="0" rIns="0" bIns="0" rtlCol="0" anchor="t"/>
          <a:lstStyle/>
          <a:p>
            <a:pPr indent="0" marL="0">
              <a:buNone/>
            </a:pPr>
            <a:r>
              <a:rPr lang="en-US" sz="1400" dirty="0">
                <a:solidFill>
                  <a:schemeClr val="tx1"/>
                </a:solidFill>
              </a:rPr>
              <a:t>Faltantes al azar condicionados (MAR) al 10 %; imputación por regresión frente a eliminación y mediana</a:t>
            </a:r>
            <a:endParaRPr lang="en-US" sz="1400" dirty="0"/>
          </a:p>
        </p:txBody>
      </p:sp>
      <p:sp>
        <p:nvSpPr>
          <p:cNvPr id="18" name="Text 15"/>
          <p:cNvSpPr txBox="1"/>
          <p:nvPr/>
        </p:nvSpPr>
        <p:spPr>
          <a:xfrm>
            <a:off x="731520" y="5212080"/>
            <a:ext cx="1709928" cy="320040"/>
          </a:xfrm>
          <a:prstGeom prst="rect">
            <a:avLst/>
          </a:prstGeom>
          <a:noFill/>
          <a:ln/>
        </p:spPr>
        <p:txBody>
          <a:bodyPr wrap="square" lIns="0" tIns="0" rIns="0" bIns="0" rtlCol="0" anchor="ctr"/>
          <a:lstStyle/>
          <a:p>
            <a:pPr indent="0" marL="0">
              <a:buNone/>
            </a:pPr>
            <a:r>
              <a:rPr lang="en-US" sz="1200" b="1" dirty="0">
                <a:solidFill>
                  <a:schemeClr val="accent1"/>
                </a:solidFill>
              </a:rPr>
              <a:t>Base: S1 · S2</a:t>
            </a:r>
            <a:endParaRPr lang="en-US" sz="1200" dirty="0"/>
          </a:p>
        </p:txBody>
      </p:sp>
      <p:sp>
        <p:nvSpPr>
          <p:cNvPr id="19" name="paso 2"/>
          <p:cNvSpPr/>
          <p:nvPr/>
        </p:nvSpPr>
        <p:spPr>
          <a:xfrm>
            <a:off x="2802636" y="1645920"/>
            <a:ext cx="2075688" cy="4069080"/>
          </a:xfrm>
          <a:prstGeom prst="roundRect">
            <a:avLst>
              <a:gd name="adj" fmla="val 3524"/>
            </a:avLst>
          </a:prstGeom>
          <a:solidFill>
            <a:schemeClr val="bg2"/>
          </a:solidFill>
          <a:ln w="12700">
            <a:solidFill>
              <a:schemeClr val="bg2"/>
            </a:solidFill>
            <a:prstDash val="solid"/>
          </a:ln>
        </p:spPr>
      </p:sp>
      <p:sp>
        <p:nvSpPr>
          <p:cNvPr id="20" name="icono paso 2"/>
          <p:cNvSpPr/>
          <p:nvPr/>
        </p:nvSpPr>
        <p:spPr>
          <a:xfrm>
            <a:off x="2985516" y="1828800"/>
            <a:ext cx="640080" cy="640080"/>
          </a:xfrm>
          <a:prstGeom prst="ellipse">
            <a:avLst/>
          </a:prstGeom>
          <a:solidFill>
            <a:schemeClr val="accent2"/>
          </a:solidFill>
          <a:ln w="12700">
            <a:solidFill>
              <a:schemeClr val="accent2"/>
            </a:solidFill>
            <a:prstDash val="solid"/>
          </a:ln>
        </p:spPr>
      </p:sp>
      <p:pic>
        <p:nvPicPr>
          <p:cNvPr id="21" name="Image 1" descr="icono paso 2">    </p:cNvPr>
          <p:cNvPicPr>
            <a:picLocks noChangeAspect="1"/>
          </p:cNvPicPr>
          <p:nvPr/>
        </p:nvPicPr>
        <p:blipFill>
          <a:blip r:embed="rId2"/>
          <a:stretch>
            <a:fillRect/>
          </a:stretch>
        </p:blipFill>
        <p:spPr>
          <a:xfrm>
            <a:off x="3139135" y="1982419"/>
            <a:ext cx="332842" cy="332842"/>
          </a:xfrm>
          <a:prstGeom prst="rect">
            <a:avLst/>
          </a:prstGeom>
        </p:spPr>
      </p:pic>
      <p:sp>
        <p:nvSpPr>
          <p:cNvPr id="22" name="Text 18"/>
          <p:cNvSpPr txBox="1"/>
          <p:nvPr/>
        </p:nvSpPr>
        <p:spPr>
          <a:xfrm>
            <a:off x="4174236" y="1783080"/>
            <a:ext cx="548640" cy="685800"/>
          </a:xfrm>
          <a:prstGeom prst="rect">
            <a:avLst/>
          </a:prstGeom>
          <a:noFill/>
          <a:ln/>
        </p:spPr>
        <p:txBody>
          <a:bodyPr wrap="square" lIns="0" tIns="0" rIns="0" bIns="0" rtlCol="0" anchor="ctr"/>
          <a:lstStyle/>
          <a:p>
            <a:pPr algn="r" indent="0" marL="0">
              <a:buNone/>
            </a:pPr>
            <a:r>
              <a:rPr lang="en-US" sz="3400" b="1" dirty="0">
                <a:solidFill>
                  <a:schemeClr val="accent4"/>
                </a:solidFill>
                <a:latin typeface="Cambria" pitchFamily="34" charset="0"/>
                <a:ea typeface="Cambria" pitchFamily="34" charset="-122"/>
                <a:cs typeface="Cambria" pitchFamily="34" charset="-120"/>
              </a:rPr>
              <a:t>2</a:t>
            </a:r>
            <a:endParaRPr lang="en-US" sz="3400" dirty="0"/>
          </a:p>
        </p:txBody>
      </p:sp>
      <p:sp>
        <p:nvSpPr>
          <p:cNvPr id="23" name="Text 19"/>
          <p:cNvSpPr txBox="1"/>
          <p:nvPr/>
        </p:nvSpPr>
        <p:spPr>
          <a:xfrm>
            <a:off x="2985516" y="2606040"/>
            <a:ext cx="1709928" cy="640080"/>
          </a:xfrm>
          <a:prstGeom prst="rect">
            <a:avLst/>
          </a:prstGeom>
          <a:noFill/>
          <a:ln/>
        </p:spPr>
        <p:txBody>
          <a:bodyPr wrap="square" lIns="0" tIns="0" rIns="0" bIns="0" rtlCol="0" anchor="t"/>
          <a:lstStyle/>
          <a:p>
            <a:pPr indent="0" marL="0">
              <a:buNone/>
            </a:pPr>
            <a:r>
              <a:rPr lang="en-US" sz="1700" b="1" dirty="0">
                <a:solidFill>
                  <a:schemeClr val="tx2"/>
                </a:solidFill>
                <a:latin typeface="Cambria" pitchFamily="34" charset="0"/>
                <a:ea typeface="Cambria" pitchFamily="34" charset="-122"/>
                <a:cs typeface="Cambria" pitchFamily="34" charset="-120"/>
              </a:rPr>
              <a:t>Segmentación</a:t>
            </a:r>
            <a:endParaRPr lang="en-US" sz="1700" dirty="0"/>
          </a:p>
        </p:txBody>
      </p:sp>
      <p:sp>
        <p:nvSpPr>
          <p:cNvPr id="24" name="Text 20"/>
          <p:cNvSpPr txBox="1"/>
          <p:nvPr/>
        </p:nvSpPr>
        <p:spPr>
          <a:xfrm>
            <a:off x="2985516" y="3291840"/>
            <a:ext cx="1709928" cy="1783080"/>
          </a:xfrm>
          <a:prstGeom prst="rect">
            <a:avLst/>
          </a:prstGeom>
          <a:noFill/>
          <a:ln/>
        </p:spPr>
        <p:txBody>
          <a:bodyPr wrap="square" lIns="0" tIns="0" rIns="0" bIns="0" rtlCol="0" anchor="t"/>
          <a:lstStyle/>
          <a:p>
            <a:pPr indent="0" marL="0">
              <a:buNone/>
            </a:pPr>
            <a:r>
              <a:rPr lang="en-US" sz="1400" dirty="0">
                <a:solidFill>
                  <a:schemeClr val="tx1"/>
                </a:solidFill>
              </a:rPr>
              <a:t>Descuento ≤ 10 se modela; descuento &gt; 10 se clasifica con una regla</a:t>
            </a:r>
            <a:endParaRPr lang="en-US" sz="1400" dirty="0"/>
          </a:p>
        </p:txBody>
      </p:sp>
      <p:sp>
        <p:nvSpPr>
          <p:cNvPr id="25" name="Text 21"/>
          <p:cNvSpPr txBox="1"/>
          <p:nvPr/>
        </p:nvSpPr>
        <p:spPr>
          <a:xfrm>
            <a:off x="2985516" y="5212080"/>
            <a:ext cx="1709928" cy="320040"/>
          </a:xfrm>
          <a:prstGeom prst="rect">
            <a:avLst/>
          </a:prstGeom>
          <a:noFill/>
          <a:ln/>
        </p:spPr>
        <p:txBody>
          <a:bodyPr wrap="square" lIns="0" tIns="0" rIns="0" bIns="0" rtlCol="0" anchor="ctr"/>
          <a:lstStyle/>
          <a:p>
            <a:pPr indent="0" marL="0">
              <a:buNone/>
            </a:pPr>
            <a:r>
              <a:rPr lang="en-US" sz="1200" b="1" dirty="0">
                <a:solidFill>
                  <a:schemeClr val="accent1"/>
                </a:solidFill>
              </a:rPr>
              <a:t>Base: S1 · S2 · F2</a:t>
            </a:r>
            <a:endParaRPr lang="en-US" sz="1200" dirty="0"/>
          </a:p>
        </p:txBody>
      </p:sp>
      <p:sp>
        <p:nvSpPr>
          <p:cNvPr id="26" name="paso 3"/>
          <p:cNvSpPr/>
          <p:nvPr/>
        </p:nvSpPr>
        <p:spPr>
          <a:xfrm>
            <a:off x="5056632" y="1645920"/>
            <a:ext cx="2075688" cy="4069080"/>
          </a:xfrm>
          <a:prstGeom prst="roundRect">
            <a:avLst>
              <a:gd name="adj" fmla="val 3524"/>
            </a:avLst>
          </a:prstGeom>
          <a:solidFill>
            <a:schemeClr val="bg2"/>
          </a:solidFill>
          <a:ln w="12700">
            <a:solidFill>
              <a:schemeClr val="bg2"/>
            </a:solidFill>
            <a:prstDash val="solid"/>
          </a:ln>
        </p:spPr>
      </p:sp>
      <p:sp>
        <p:nvSpPr>
          <p:cNvPr id="27" name="icono paso 3"/>
          <p:cNvSpPr/>
          <p:nvPr/>
        </p:nvSpPr>
        <p:spPr>
          <a:xfrm>
            <a:off x="5239512" y="1828800"/>
            <a:ext cx="640080" cy="640080"/>
          </a:xfrm>
          <a:prstGeom prst="ellipse">
            <a:avLst/>
          </a:prstGeom>
          <a:solidFill>
            <a:schemeClr val="accent1"/>
          </a:solidFill>
          <a:ln w="12700">
            <a:solidFill>
              <a:schemeClr val="accent1"/>
            </a:solidFill>
            <a:prstDash val="solid"/>
          </a:ln>
        </p:spPr>
      </p:sp>
      <p:pic>
        <p:nvPicPr>
          <p:cNvPr id="28" name="Image 2" descr="icono paso 3">    </p:cNvPr>
          <p:cNvPicPr>
            <a:picLocks noChangeAspect="1"/>
          </p:cNvPicPr>
          <p:nvPr/>
        </p:nvPicPr>
        <p:blipFill>
          <a:blip r:embed="rId3"/>
          <a:stretch>
            <a:fillRect/>
          </a:stretch>
        </p:blipFill>
        <p:spPr>
          <a:xfrm>
            <a:off x="5393131" y="1982419"/>
            <a:ext cx="332842" cy="332842"/>
          </a:xfrm>
          <a:prstGeom prst="rect">
            <a:avLst/>
          </a:prstGeom>
        </p:spPr>
      </p:pic>
      <p:sp>
        <p:nvSpPr>
          <p:cNvPr id="29" name="Text 24"/>
          <p:cNvSpPr txBox="1"/>
          <p:nvPr/>
        </p:nvSpPr>
        <p:spPr>
          <a:xfrm>
            <a:off x="6428232" y="1783080"/>
            <a:ext cx="548640" cy="685800"/>
          </a:xfrm>
          <a:prstGeom prst="rect">
            <a:avLst/>
          </a:prstGeom>
          <a:noFill/>
          <a:ln/>
        </p:spPr>
        <p:txBody>
          <a:bodyPr wrap="square" lIns="0" tIns="0" rIns="0" bIns="0" rtlCol="0" anchor="ctr"/>
          <a:lstStyle/>
          <a:p>
            <a:pPr algn="r" indent="0" marL="0">
              <a:buNone/>
            </a:pPr>
            <a:r>
              <a:rPr lang="en-US" sz="3400" b="1" dirty="0">
                <a:solidFill>
                  <a:schemeClr val="accent4"/>
                </a:solidFill>
                <a:latin typeface="Cambria" pitchFamily="34" charset="0"/>
                <a:ea typeface="Cambria" pitchFamily="34" charset="-122"/>
                <a:cs typeface="Cambria" pitchFamily="34" charset="-120"/>
              </a:rPr>
              <a:t>3</a:t>
            </a:r>
            <a:endParaRPr lang="en-US" sz="3400" dirty="0"/>
          </a:p>
        </p:txBody>
      </p:sp>
      <p:sp>
        <p:nvSpPr>
          <p:cNvPr id="30" name="Text 25"/>
          <p:cNvSpPr txBox="1"/>
          <p:nvPr/>
        </p:nvSpPr>
        <p:spPr>
          <a:xfrm>
            <a:off x="5239512" y="2606040"/>
            <a:ext cx="1709928" cy="640080"/>
          </a:xfrm>
          <a:prstGeom prst="rect">
            <a:avLst/>
          </a:prstGeom>
          <a:noFill/>
          <a:ln/>
        </p:spPr>
        <p:txBody>
          <a:bodyPr wrap="square" lIns="0" tIns="0" rIns="0" bIns="0" rtlCol="0" anchor="t"/>
          <a:lstStyle/>
          <a:p>
            <a:pPr indent="0" marL="0">
              <a:buNone/>
            </a:pPr>
            <a:r>
              <a:rPr lang="en-US" sz="1700" b="1" dirty="0">
                <a:solidFill>
                  <a:schemeClr val="tx2"/>
                </a:solidFill>
                <a:latin typeface="Cambria" pitchFamily="34" charset="0"/>
                <a:ea typeface="Cambria" pitchFamily="34" charset="-122"/>
                <a:cs typeface="Cambria" pitchFamily="34" charset="-120"/>
              </a:rPr>
              <a:t>Tres modelos logísticos</a:t>
            </a:r>
            <a:endParaRPr lang="en-US" sz="1700" dirty="0"/>
          </a:p>
        </p:txBody>
      </p:sp>
      <p:sp>
        <p:nvSpPr>
          <p:cNvPr id="31" name="Text 26"/>
          <p:cNvSpPr txBox="1"/>
          <p:nvPr/>
        </p:nvSpPr>
        <p:spPr>
          <a:xfrm>
            <a:off x="5239512" y="3291840"/>
            <a:ext cx="1709928" cy="1783080"/>
          </a:xfrm>
          <a:prstGeom prst="rect">
            <a:avLst/>
          </a:prstGeom>
          <a:noFill/>
          <a:ln/>
        </p:spPr>
        <p:txBody>
          <a:bodyPr wrap="square" lIns="0" tIns="0" rIns="0" bIns="0" rtlCol="0" anchor="t"/>
          <a:lstStyle/>
          <a:p>
            <a:pPr indent="0" marL="0">
              <a:buNone/>
            </a:pPr>
            <a:r>
              <a:rPr lang="en-US" sz="1400" dirty="0">
                <a:solidFill>
                  <a:schemeClr val="tx1"/>
                </a:solidFill>
              </a:rPr>
              <a:t>M1 con variables de S1 y S2; M2 stepwise por AIC; M3 de mínimo BIC</a:t>
            </a:r>
            <a:endParaRPr lang="en-US" sz="1400" dirty="0"/>
          </a:p>
        </p:txBody>
      </p:sp>
      <p:sp>
        <p:nvSpPr>
          <p:cNvPr id="32" name="Text 27"/>
          <p:cNvSpPr txBox="1"/>
          <p:nvPr/>
        </p:nvSpPr>
        <p:spPr>
          <a:xfrm>
            <a:off x="5239512" y="5212080"/>
            <a:ext cx="1709928" cy="320040"/>
          </a:xfrm>
          <a:prstGeom prst="rect">
            <a:avLst/>
          </a:prstGeom>
          <a:noFill/>
          <a:ln/>
        </p:spPr>
        <p:txBody>
          <a:bodyPr wrap="square" lIns="0" tIns="0" rIns="0" bIns="0" rtlCol="0" anchor="ctr"/>
          <a:lstStyle/>
          <a:p>
            <a:pPr indent="0" marL="0">
              <a:buNone/>
            </a:pPr>
            <a:r>
              <a:rPr lang="en-US" sz="1200" b="1" dirty="0">
                <a:solidFill>
                  <a:schemeClr val="accent1"/>
                </a:solidFill>
              </a:rPr>
              <a:t>Base: S1 · S2</a:t>
            </a:r>
            <a:endParaRPr lang="en-US" sz="1200" dirty="0"/>
          </a:p>
        </p:txBody>
      </p:sp>
      <p:sp>
        <p:nvSpPr>
          <p:cNvPr id="33" name="paso 4"/>
          <p:cNvSpPr/>
          <p:nvPr/>
        </p:nvSpPr>
        <p:spPr>
          <a:xfrm>
            <a:off x="7310628" y="1645920"/>
            <a:ext cx="2075688" cy="4069080"/>
          </a:xfrm>
          <a:prstGeom prst="roundRect">
            <a:avLst>
              <a:gd name="adj" fmla="val 3524"/>
            </a:avLst>
          </a:prstGeom>
          <a:solidFill>
            <a:schemeClr val="bg2"/>
          </a:solidFill>
          <a:ln w="12700">
            <a:solidFill>
              <a:schemeClr val="bg2"/>
            </a:solidFill>
            <a:prstDash val="solid"/>
          </a:ln>
        </p:spPr>
      </p:sp>
      <p:sp>
        <p:nvSpPr>
          <p:cNvPr id="34" name="icono paso 4"/>
          <p:cNvSpPr/>
          <p:nvPr/>
        </p:nvSpPr>
        <p:spPr>
          <a:xfrm>
            <a:off x="7493508" y="1828800"/>
            <a:ext cx="640080" cy="640080"/>
          </a:xfrm>
          <a:prstGeom prst="ellipse">
            <a:avLst/>
          </a:prstGeom>
          <a:solidFill>
            <a:schemeClr val="accent1"/>
          </a:solidFill>
          <a:ln w="12700">
            <a:solidFill>
              <a:schemeClr val="accent1"/>
            </a:solidFill>
            <a:prstDash val="solid"/>
          </a:ln>
        </p:spPr>
      </p:sp>
      <p:pic>
        <p:nvPicPr>
          <p:cNvPr id="35" name="Image 3" descr="icono paso 4">    </p:cNvPr>
          <p:cNvPicPr>
            <a:picLocks noChangeAspect="1"/>
          </p:cNvPicPr>
          <p:nvPr/>
        </p:nvPicPr>
        <p:blipFill>
          <a:blip r:embed="rId4"/>
          <a:stretch>
            <a:fillRect/>
          </a:stretch>
        </p:blipFill>
        <p:spPr>
          <a:xfrm>
            <a:off x="7647127" y="1982419"/>
            <a:ext cx="332842" cy="332842"/>
          </a:xfrm>
          <a:prstGeom prst="rect">
            <a:avLst/>
          </a:prstGeom>
        </p:spPr>
      </p:pic>
      <p:sp>
        <p:nvSpPr>
          <p:cNvPr id="36" name="Text 30"/>
          <p:cNvSpPr txBox="1"/>
          <p:nvPr/>
        </p:nvSpPr>
        <p:spPr>
          <a:xfrm>
            <a:off x="8682228" y="1783080"/>
            <a:ext cx="548640" cy="685800"/>
          </a:xfrm>
          <a:prstGeom prst="rect">
            <a:avLst/>
          </a:prstGeom>
          <a:noFill/>
          <a:ln/>
        </p:spPr>
        <p:txBody>
          <a:bodyPr wrap="square" lIns="0" tIns="0" rIns="0" bIns="0" rtlCol="0" anchor="ctr"/>
          <a:lstStyle/>
          <a:p>
            <a:pPr algn="r" indent="0" marL="0">
              <a:buNone/>
            </a:pPr>
            <a:r>
              <a:rPr lang="en-US" sz="3400" b="1" dirty="0">
                <a:solidFill>
                  <a:schemeClr val="accent4"/>
                </a:solidFill>
                <a:latin typeface="Cambria" pitchFamily="34" charset="0"/>
                <a:ea typeface="Cambria" pitchFamily="34" charset="-122"/>
                <a:cs typeface="Cambria" pitchFamily="34" charset="-120"/>
              </a:rPr>
              <a:t>4</a:t>
            </a:r>
            <a:endParaRPr lang="en-US" sz="3400" dirty="0"/>
          </a:p>
        </p:txBody>
      </p:sp>
      <p:sp>
        <p:nvSpPr>
          <p:cNvPr id="37" name="Text 31"/>
          <p:cNvSpPr txBox="1"/>
          <p:nvPr/>
        </p:nvSpPr>
        <p:spPr>
          <a:xfrm>
            <a:off x="7493508" y="2606040"/>
            <a:ext cx="1709928" cy="640080"/>
          </a:xfrm>
          <a:prstGeom prst="rect">
            <a:avLst/>
          </a:prstGeom>
          <a:noFill/>
          <a:ln/>
        </p:spPr>
        <p:txBody>
          <a:bodyPr wrap="square" lIns="0" tIns="0" rIns="0" bIns="0" rtlCol="0" anchor="t"/>
          <a:lstStyle/>
          <a:p>
            <a:pPr indent="0" marL="0">
              <a:buNone/>
            </a:pPr>
            <a:r>
              <a:rPr lang="en-US" sz="1700" b="1" dirty="0">
                <a:solidFill>
                  <a:schemeClr val="tx2"/>
                </a:solidFill>
                <a:latin typeface="Cambria" pitchFamily="34" charset="0"/>
                <a:ea typeface="Cambria" pitchFamily="34" charset="-122"/>
                <a:cs typeface="Cambria" pitchFamily="34" charset="-120"/>
              </a:rPr>
              <a:t>Estabilidad y diagnóstico</a:t>
            </a:r>
            <a:endParaRPr lang="en-US" sz="1700" dirty="0"/>
          </a:p>
        </p:txBody>
      </p:sp>
      <p:sp>
        <p:nvSpPr>
          <p:cNvPr id="38" name="Text 32"/>
          <p:cNvSpPr txBox="1"/>
          <p:nvPr/>
        </p:nvSpPr>
        <p:spPr>
          <a:xfrm>
            <a:off x="7493508" y="3291840"/>
            <a:ext cx="1709928" cy="1783080"/>
          </a:xfrm>
          <a:prstGeom prst="rect">
            <a:avLst/>
          </a:prstGeom>
          <a:noFill/>
          <a:ln/>
        </p:spPr>
        <p:txBody>
          <a:bodyPr wrap="square" lIns="0" tIns="0" rIns="0" bIns="0" rtlCol="0" anchor="t"/>
          <a:lstStyle/>
          <a:p>
            <a:pPr indent="0" marL="0">
              <a:buNone/>
            </a:pPr>
            <a:r>
              <a:rPr lang="en-US" sz="1400" dirty="0">
                <a:solidFill>
                  <a:schemeClr val="tx1"/>
                </a:solidFill>
              </a:rPr>
              <a:t>Bootstrap (B = 10.000), VIF, Box-Tidwell, influencia y residuos</a:t>
            </a:r>
            <a:endParaRPr lang="en-US" sz="1400" dirty="0"/>
          </a:p>
        </p:txBody>
      </p:sp>
      <p:sp>
        <p:nvSpPr>
          <p:cNvPr id="39" name="Text 33"/>
          <p:cNvSpPr txBox="1"/>
          <p:nvPr/>
        </p:nvSpPr>
        <p:spPr>
          <a:xfrm>
            <a:off x="7493508" y="5212080"/>
            <a:ext cx="1709928" cy="320040"/>
          </a:xfrm>
          <a:prstGeom prst="rect">
            <a:avLst/>
          </a:prstGeom>
          <a:noFill/>
          <a:ln/>
        </p:spPr>
        <p:txBody>
          <a:bodyPr wrap="square" lIns="0" tIns="0" rIns="0" bIns="0" rtlCol="0" anchor="ctr"/>
          <a:lstStyle/>
          <a:p>
            <a:pPr indent="0" marL="0">
              <a:buNone/>
            </a:pPr>
            <a:r>
              <a:rPr lang="en-US" sz="1200" b="1" dirty="0">
                <a:solidFill>
                  <a:schemeClr val="accent1"/>
                </a:solidFill>
              </a:rPr>
              <a:t>Base: S2</a:t>
            </a:r>
            <a:endParaRPr lang="en-US" sz="1200" dirty="0"/>
          </a:p>
        </p:txBody>
      </p:sp>
      <p:sp>
        <p:nvSpPr>
          <p:cNvPr id="40" name="paso 5"/>
          <p:cNvSpPr/>
          <p:nvPr/>
        </p:nvSpPr>
        <p:spPr>
          <a:xfrm>
            <a:off x="9564624" y="1645920"/>
            <a:ext cx="2075688" cy="4069080"/>
          </a:xfrm>
          <a:prstGeom prst="roundRect">
            <a:avLst>
              <a:gd name="adj" fmla="val 3524"/>
            </a:avLst>
          </a:prstGeom>
          <a:solidFill>
            <a:schemeClr val="bg2"/>
          </a:solidFill>
          <a:ln w="12700">
            <a:solidFill>
              <a:schemeClr val="bg2"/>
            </a:solidFill>
            <a:prstDash val="solid"/>
          </a:ln>
        </p:spPr>
      </p:sp>
      <p:sp>
        <p:nvSpPr>
          <p:cNvPr id="41" name="icono paso 5"/>
          <p:cNvSpPr/>
          <p:nvPr/>
        </p:nvSpPr>
        <p:spPr>
          <a:xfrm>
            <a:off x="9747504" y="1828800"/>
            <a:ext cx="640080" cy="640080"/>
          </a:xfrm>
          <a:prstGeom prst="ellipse">
            <a:avLst/>
          </a:prstGeom>
          <a:solidFill>
            <a:schemeClr val="accent1"/>
          </a:solidFill>
          <a:ln w="12700">
            <a:solidFill>
              <a:schemeClr val="accent1"/>
            </a:solidFill>
            <a:prstDash val="solid"/>
          </a:ln>
        </p:spPr>
      </p:sp>
      <p:pic>
        <p:nvPicPr>
          <p:cNvPr id="42" name="Image 4" descr="icono paso 5">    </p:cNvPr>
          <p:cNvPicPr>
            <a:picLocks noChangeAspect="1"/>
          </p:cNvPicPr>
          <p:nvPr/>
        </p:nvPicPr>
        <p:blipFill>
          <a:blip r:embed="rId5"/>
          <a:stretch>
            <a:fillRect/>
          </a:stretch>
        </p:blipFill>
        <p:spPr>
          <a:xfrm>
            <a:off x="9901123" y="1982419"/>
            <a:ext cx="332842" cy="332842"/>
          </a:xfrm>
          <a:prstGeom prst="rect">
            <a:avLst/>
          </a:prstGeom>
        </p:spPr>
      </p:pic>
      <p:sp>
        <p:nvSpPr>
          <p:cNvPr id="43" name="Text 36"/>
          <p:cNvSpPr txBox="1"/>
          <p:nvPr/>
        </p:nvSpPr>
        <p:spPr>
          <a:xfrm>
            <a:off x="10936224" y="1783080"/>
            <a:ext cx="548640" cy="685800"/>
          </a:xfrm>
          <a:prstGeom prst="rect">
            <a:avLst/>
          </a:prstGeom>
          <a:noFill/>
          <a:ln/>
        </p:spPr>
        <p:txBody>
          <a:bodyPr wrap="square" lIns="0" tIns="0" rIns="0" bIns="0" rtlCol="0" anchor="ctr"/>
          <a:lstStyle/>
          <a:p>
            <a:pPr algn="r" indent="0" marL="0">
              <a:buNone/>
            </a:pPr>
            <a:r>
              <a:rPr lang="en-US" sz="3400" b="1" dirty="0">
                <a:solidFill>
                  <a:schemeClr val="accent4"/>
                </a:solidFill>
                <a:latin typeface="Cambria" pitchFamily="34" charset="0"/>
                <a:ea typeface="Cambria" pitchFamily="34" charset="-122"/>
                <a:cs typeface="Cambria" pitchFamily="34" charset="-120"/>
              </a:rPr>
              <a:t>5</a:t>
            </a:r>
            <a:endParaRPr lang="en-US" sz="3400" dirty="0"/>
          </a:p>
        </p:txBody>
      </p:sp>
      <p:sp>
        <p:nvSpPr>
          <p:cNvPr id="44" name="Text 37"/>
          <p:cNvSpPr txBox="1"/>
          <p:nvPr/>
        </p:nvSpPr>
        <p:spPr>
          <a:xfrm>
            <a:off x="9747504" y="2606040"/>
            <a:ext cx="1709928" cy="640080"/>
          </a:xfrm>
          <a:prstGeom prst="rect">
            <a:avLst/>
          </a:prstGeom>
          <a:noFill/>
          <a:ln/>
        </p:spPr>
        <p:txBody>
          <a:bodyPr wrap="square" lIns="0" tIns="0" rIns="0" bIns="0" rtlCol="0" anchor="t"/>
          <a:lstStyle/>
          <a:p>
            <a:pPr indent="0" marL="0">
              <a:buNone/>
            </a:pPr>
            <a:r>
              <a:rPr lang="en-US" sz="1700" b="1" dirty="0">
                <a:solidFill>
                  <a:schemeClr val="tx2"/>
                </a:solidFill>
                <a:latin typeface="Cambria" pitchFamily="34" charset="0"/>
                <a:ea typeface="Cambria" pitchFamily="34" charset="-122"/>
                <a:cs typeface="Cambria" pitchFamily="34" charset="-120"/>
              </a:rPr>
              <a:t>Impacto de la imputación</a:t>
            </a:r>
            <a:endParaRPr lang="en-US" sz="1700" dirty="0"/>
          </a:p>
        </p:txBody>
      </p:sp>
      <p:sp>
        <p:nvSpPr>
          <p:cNvPr id="45" name="Text 38"/>
          <p:cNvSpPr txBox="1"/>
          <p:nvPr/>
        </p:nvSpPr>
        <p:spPr>
          <a:xfrm>
            <a:off x="9747504" y="3291840"/>
            <a:ext cx="1709928" cy="1783080"/>
          </a:xfrm>
          <a:prstGeom prst="rect">
            <a:avLst/>
          </a:prstGeom>
          <a:noFill/>
          <a:ln/>
        </p:spPr>
        <p:txBody>
          <a:bodyPr wrap="square" lIns="0" tIns="0" rIns="0" bIns="0" rtlCol="0" anchor="t"/>
          <a:lstStyle/>
          <a:p>
            <a:pPr indent="0" marL="0">
              <a:buNone/>
            </a:pPr>
            <a:r>
              <a:rPr lang="en-US" sz="1400" dirty="0">
                <a:solidFill>
                  <a:schemeClr val="tx1"/>
                </a:solidFill>
              </a:rPr>
              <a:t>Modelo final con cada estrategia y con los datos originales</a:t>
            </a:r>
            <a:endParaRPr lang="en-US" sz="1400" dirty="0"/>
          </a:p>
        </p:txBody>
      </p:sp>
      <p:sp>
        <p:nvSpPr>
          <p:cNvPr id="46" name="Text 39"/>
          <p:cNvSpPr txBox="1"/>
          <p:nvPr/>
        </p:nvSpPr>
        <p:spPr>
          <a:xfrm>
            <a:off x="9747504" y="5212080"/>
            <a:ext cx="1709928" cy="320040"/>
          </a:xfrm>
          <a:prstGeom prst="rect">
            <a:avLst/>
          </a:prstGeom>
          <a:noFill/>
          <a:ln/>
        </p:spPr>
        <p:txBody>
          <a:bodyPr wrap="square" lIns="0" tIns="0" rIns="0" bIns="0" rtlCol="0" anchor="ctr"/>
          <a:lstStyle/>
          <a:p>
            <a:pPr indent="0" marL="0">
              <a:buNone/>
            </a:pPr>
            <a:r>
              <a:rPr lang="en-US" sz="1200" b="1" dirty="0">
                <a:solidFill>
                  <a:schemeClr val="accent1"/>
                </a:solidFill>
              </a:rPr>
              <a:t>Base: pasos 1 a 3</a:t>
            </a:r>
            <a:endParaRPr lang="en-US" sz="1200" dirty="0"/>
          </a:p>
        </p:txBody>
      </p:sp>
      <p:sp>
        <p:nvSpPr>
          <p:cNvPr id="47" name="Text 40"/>
          <p:cNvSpPr txBox="1"/>
          <p:nvPr/>
        </p:nvSpPr>
        <p:spPr>
          <a:xfrm>
            <a:off x="548640" y="5788152"/>
            <a:ext cx="11091672" cy="502920"/>
          </a:xfrm>
          <a:prstGeom prst="rect">
            <a:avLst/>
          </a:prstGeom>
          <a:noFill/>
          <a:ln/>
        </p:spPr>
        <p:txBody>
          <a:bodyPr wrap="square" lIns="0" tIns="0" rIns="0" bIns="0" rtlCol="0" anchor="t"/>
          <a:lstStyle/>
          <a:p>
            <a:pPr indent="0" marL="0">
              <a:buNone/>
            </a:pPr>
            <a:r>
              <a:rPr lang="en-US" sz="1200" dirty="0">
                <a:solidFill>
                  <a:schemeClr val="accent5"/>
                </a:solidFill>
              </a:rPr>
              <a:t>AIC y BIC: criterios de información de Akaike y bayesiano. VIF: factor de inflación de la varianza. Partición 70/30 estratificada (7.699 / 3.300) y semilla 1505514103 del faro de aleatoriedad de la Universidad de Chile, igual que en S2.</a:t>
            </a:r>
            <a:endParaRPr lang="en-US" sz="1200" dirty="0"/>
          </a:p>
        </p:txBody>
      </p:sp>
      <p:sp>
        <p:nvSpPr>
          <p:cNvPr id="48" name="Text 41"/>
          <p:cNvSpPr txBox="1"/>
          <p:nvPr/>
        </p:nvSpPr>
        <p:spPr>
          <a:xfrm>
            <a:off x="548640" y="6382512"/>
            <a:ext cx="5486400" cy="274320"/>
          </a:xfrm>
          <a:prstGeom prst="rect">
            <a:avLst/>
          </a:prstGeom>
          <a:noFill/>
          <a:ln/>
        </p:spPr>
        <p:txBody>
          <a:bodyPr wrap="square" lIns="0" tIns="0" rIns="0" bIns="0" rtlCol="0" anchor="ctr"/>
          <a:lstStyle/>
          <a:p>
            <a:pPr indent="0" marL="0">
              <a:buNone/>
            </a:pPr>
            <a:r>
              <a:rPr lang="en-US" sz="1100" b="1" dirty="0">
                <a:solidFill>
                  <a:schemeClr val="accent5"/>
                </a:solidFill>
              </a:rPr>
              <a:t>Expone: </a:t>
            </a:r>
            <a:pPr indent="0" marL="0">
              <a:buNone/>
            </a:pPr>
            <a:r>
              <a:rPr lang="en-US" sz="1100" dirty="0">
                <a:solidFill>
                  <a:schemeClr val="accent5"/>
                </a:solidFill>
              </a:rPr>
              <a:t>José Ignacio Rodríguez</a:t>
            </a:r>
            <a:endParaRPr lang="en-US" sz="1100" dirty="0"/>
          </a:p>
        </p:txBody>
      </p:sp>
      <p:sp>
        <p:nvSpPr>
          <p:cNvPr id="25" name="Slide Number Placeholder 0"/>
          <p:cNvSpPr>
            <a:spLocks noGrp="1"/>
          </p:cNvSpPr>
          <p:nvPr>
            <p:ph type="sldNum" sz="quarter" idx="4294967295"/>
          </p:nvPr>
        </p:nvSpPr>
        <p:spPr>
          <a:xfrm>
            <a:off x="11338560" y="6382512"/>
            <a:ext cx="3200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869680" cy="685800"/>
          </a:xfrm>
          <a:prstGeom prst="rect">
            <a:avLst/>
          </a:prstGeom>
          <a:noFill/>
          <a:ln/>
        </p:spPr>
        <p:txBody>
          <a:bodyPr wrap="square" lIns="0" tIns="0" rIns="0" bIns="0" rtlCol="0" anchor="ctr"/>
          <a:lstStyle/>
          <a:p>
            <a:pPr algn="l" indent="0" marL="0">
              <a:buNone/>
            </a:pPr>
            <a:r>
              <a:rPr lang="en-US" sz="3000" b="1" dirty="0">
                <a:solidFill>
                  <a:schemeClr val="tx2"/>
                </a:solidFill>
              </a:rPr>
              <a:t>Faltantes simulados con un mecanismo conocido</a:t>
            </a:r>
            <a:endParaRPr lang="en-US" sz="3000" dirty="0"/>
          </a:p>
        </p:txBody>
      </p:sp>
      <p:sp>
        <p:nvSpPr>
          <p:cNvPr id="3" name="Text 0"/>
          <p:cNvSpPr/>
          <p:nvPr>
            <p:ph idx="101" type="body" hasCustomPrompt="1"/>
          </p:nvPr>
        </p:nvSpPr>
        <p:spPr>
          <a:xfrm>
            <a:off x="548640" y="987552"/>
            <a:ext cx="8869680" cy="411480"/>
          </a:xfrm>
          <a:prstGeom prst="rect">
            <a:avLst/>
          </a:prstGeom>
          <a:noFill/>
          <a:ln/>
        </p:spPr>
        <p:txBody>
          <a:bodyPr wrap="square" lIns="0" tIns="0" rIns="0" bIns="0" rtlCol="0" anchor="t"/>
          <a:lstStyle/>
          <a:p>
            <a:pPr indent="0" marL="0">
              <a:buNone/>
            </a:pPr>
            <a:r>
              <a:rPr lang="en-US" sz="1600" dirty="0">
                <a:solidFill>
                  <a:schemeClr val="accent5"/>
                </a:solidFill>
              </a:rPr>
              <a:t>S1 no tenía faltantes: los creamos para ejercitar la imputación</a:t>
            </a:r>
            <a:endParaRPr lang="en-US" sz="1600" dirty="0"/>
          </a:p>
        </p:txBody>
      </p:sp>
      <p:sp>
        <p:nvSpPr>
          <p:cNvPr id="4" name="fase S1"/>
          <p:cNvSpPr/>
          <p:nvPr/>
        </p:nvSpPr>
        <p:spPr>
          <a:xfrm>
            <a:off x="9537192" y="429768"/>
            <a:ext cx="457200" cy="457200"/>
          </a:xfrm>
          <a:prstGeom prst="ellipse">
            <a:avLst/>
          </a:prstGeom>
          <a:solidFill>
            <a:schemeClr val="accent1"/>
          </a:solidFill>
          <a:ln w="12700">
            <a:solidFill>
              <a:schemeClr val="accent1"/>
            </a:solidFill>
            <a:prstDash val="solid"/>
          </a:ln>
        </p:spPr>
      </p:sp>
      <p:sp>
        <p:nvSpPr>
          <p:cNvPr id="5" name="Text 3"/>
          <p:cNvSpPr txBox="1"/>
          <p:nvPr/>
        </p:nvSpPr>
        <p:spPr>
          <a:xfrm>
            <a:off x="9537192" y="429768"/>
            <a:ext cx="457200" cy="457200"/>
          </a:xfrm>
          <a:prstGeom prst="rect">
            <a:avLst/>
          </a:prstGeom>
          <a:noFill/>
          <a:ln/>
        </p:spPr>
        <p:txBody>
          <a:bodyPr wrap="square" lIns="0" tIns="0" rIns="0" bIns="0" rtlCol="0" anchor="ctr"/>
          <a:lstStyle/>
          <a:p>
            <a:pPr algn="ctr" indent="0" marL="0">
              <a:buNone/>
            </a:pPr>
            <a:r>
              <a:rPr lang="en-US" sz="1200" b="1" dirty="0">
                <a:solidFill>
                  <a:schemeClr val="bg1"/>
                </a:solidFill>
              </a:rPr>
              <a:t>S1</a:t>
            </a:r>
            <a:endParaRPr lang="en-US" sz="1200" dirty="0"/>
          </a:p>
        </p:txBody>
      </p:sp>
      <p:sp>
        <p:nvSpPr>
          <p:cNvPr id="6" name="fase S2"/>
          <p:cNvSpPr/>
          <p:nvPr/>
        </p:nvSpPr>
        <p:spPr>
          <a:xfrm>
            <a:off x="10085832" y="429768"/>
            <a:ext cx="457200" cy="457200"/>
          </a:xfrm>
          <a:prstGeom prst="ellipse">
            <a:avLst/>
          </a:prstGeom>
          <a:solidFill>
            <a:schemeClr val="accent1"/>
          </a:solidFill>
          <a:ln w="12700">
            <a:solidFill>
              <a:schemeClr val="accent1"/>
            </a:solidFill>
            <a:prstDash val="solid"/>
          </a:ln>
        </p:spPr>
      </p:sp>
      <p:sp>
        <p:nvSpPr>
          <p:cNvPr id="7" name="Text 5"/>
          <p:cNvSpPr txBox="1"/>
          <p:nvPr/>
        </p:nvSpPr>
        <p:spPr>
          <a:xfrm>
            <a:off x="10085832" y="429768"/>
            <a:ext cx="457200" cy="457200"/>
          </a:xfrm>
          <a:prstGeom prst="rect">
            <a:avLst/>
          </a:prstGeom>
          <a:noFill/>
          <a:ln/>
        </p:spPr>
        <p:txBody>
          <a:bodyPr wrap="square" lIns="0" tIns="0" rIns="0" bIns="0" rtlCol="0" anchor="ctr"/>
          <a:lstStyle/>
          <a:p>
            <a:pPr algn="ctr" indent="0" marL="0">
              <a:buNone/>
            </a:pPr>
            <a:r>
              <a:rPr lang="en-US" sz="1200" b="1" dirty="0">
                <a:solidFill>
                  <a:schemeClr val="bg1"/>
                </a:solidFill>
              </a:rPr>
              <a:t>S2</a:t>
            </a:r>
            <a:endParaRPr lang="en-US" sz="1200" dirty="0"/>
          </a:p>
        </p:txBody>
      </p:sp>
      <p:sp>
        <p:nvSpPr>
          <p:cNvPr id="8" name="fase F2"/>
          <p:cNvSpPr/>
          <p:nvPr/>
        </p:nvSpPr>
        <p:spPr>
          <a:xfrm>
            <a:off x="10634472" y="429768"/>
            <a:ext cx="457200" cy="457200"/>
          </a:xfrm>
          <a:prstGeom prst="ellipse">
            <a:avLst/>
          </a:prstGeom>
          <a:solidFill>
            <a:schemeClr val="bg2"/>
          </a:solidFill>
          <a:ln w="12700">
            <a:solidFill>
              <a:schemeClr val="bg2"/>
            </a:solidFill>
            <a:prstDash val="solid"/>
          </a:ln>
        </p:spPr>
      </p:sp>
      <p:sp>
        <p:nvSpPr>
          <p:cNvPr id="9" name="Text 7"/>
          <p:cNvSpPr txBox="1"/>
          <p:nvPr/>
        </p:nvSpPr>
        <p:spPr>
          <a:xfrm>
            <a:off x="10634472" y="429768"/>
            <a:ext cx="457200" cy="457200"/>
          </a:xfrm>
          <a:prstGeom prst="rect">
            <a:avLst/>
          </a:prstGeom>
          <a:noFill/>
          <a:ln/>
        </p:spPr>
        <p:txBody>
          <a:bodyPr wrap="square" lIns="0" tIns="0" rIns="0" bIns="0" rtlCol="0" anchor="ctr"/>
          <a:lstStyle/>
          <a:p>
            <a:pPr algn="ctr" indent="0" marL="0">
              <a:buNone/>
            </a:pPr>
            <a:r>
              <a:rPr lang="en-US" sz="1200" b="1" dirty="0">
                <a:solidFill>
                  <a:schemeClr val="accent5"/>
                </a:solidFill>
              </a:rPr>
              <a:t>F2</a:t>
            </a:r>
            <a:endParaRPr lang="en-US" sz="1200" dirty="0"/>
          </a:p>
        </p:txBody>
      </p:sp>
      <p:sp>
        <p:nvSpPr>
          <p:cNvPr id="10" name="fase S3"/>
          <p:cNvSpPr/>
          <p:nvPr/>
        </p:nvSpPr>
        <p:spPr>
          <a:xfrm>
            <a:off x="11183112" y="429768"/>
            <a:ext cx="457200" cy="457200"/>
          </a:xfrm>
          <a:prstGeom prst="ellipse">
            <a:avLst/>
          </a:prstGeom>
          <a:solidFill>
            <a:schemeClr val="accent2"/>
          </a:solidFill>
          <a:ln w="12700">
            <a:solidFill>
              <a:schemeClr val="accent2"/>
            </a:solidFill>
            <a:prstDash val="solid"/>
          </a:ln>
        </p:spPr>
      </p:sp>
      <p:sp>
        <p:nvSpPr>
          <p:cNvPr id="11" name="Text 9"/>
          <p:cNvSpPr txBox="1"/>
          <p:nvPr/>
        </p:nvSpPr>
        <p:spPr>
          <a:xfrm>
            <a:off x="11183112" y="429768"/>
            <a:ext cx="457200" cy="457200"/>
          </a:xfrm>
          <a:prstGeom prst="rect">
            <a:avLst/>
          </a:prstGeom>
          <a:noFill/>
          <a:ln/>
        </p:spPr>
        <p:txBody>
          <a:bodyPr wrap="square" lIns="0" tIns="0" rIns="0" bIns="0" rtlCol="0" anchor="ctr"/>
          <a:lstStyle/>
          <a:p>
            <a:pPr algn="ctr" indent="0" marL="0">
              <a:buNone/>
            </a:pPr>
            <a:r>
              <a:rPr lang="en-US" sz="1200" b="1" dirty="0">
                <a:solidFill>
                  <a:schemeClr val="tx1"/>
                </a:solidFill>
              </a:rPr>
              <a:t>S3</a:t>
            </a:r>
            <a:endParaRPr lang="en-US" sz="1200" dirty="0"/>
          </a:p>
        </p:txBody>
      </p:sp>
      <p:sp>
        <p:nvSpPr>
          <p:cNvPr id="12" name="dato faltantes 1"/>
          <p:cNvSpPr/>
          <p:nvPr/>
        </p:nvSpPr>
        <p:spPr>
          <a:xfrm>
            <a:off x="548640" y="1691640"/>
            <a:ext cx="5212080" cy="1188720"/>
          </a:xfrm>
          <a:prstGeom prst="roundRect">
            <a:avLst>
              <a:gd name="adj" fmla="val 6154"/>
            </a:avLst>
          </a:prstGeom>
          <a:solidFill>
            <a:schemeClr val="bg2"/>
          </a:solidFill>
          <a:ln w="12700">
            <a:solidFill>
              <a:schemeClr val="bg2"/>
            </a:solidFill>
            <a:prstDash val="solid"/>
          </a:ln>
        </p:spPr>
      </p:sp>
      <p:sp>
        <p:nvSpPr>
          <p:cNvPr id="13" name="Text 11"/>
          <p:cNvSpPr txBox="1"/>
          <p:nvPr/>
        </p:nvSpPr>
        <p:spPr>
          <a:xfrm>
            <a:off x="731520" y="1691640"/>
            <a:ext cx="1600200" cy="1188720"/>
          </a:xfrm>
          <a:prstGeom prst="rect">
            <a:avLst/>
          </a:prstGeom>
          <a:noFill/>
          <a:ln/>
        </p:spPr>
        <p:txBody>
          <a:bodyPr wrap="square" lIns="0" tIns="0" rIns="0" bIns="0" rtlCol="0" anchor="ctr"/>
          <a:lstStyle/>
          <a:p>
            <a:pPr indent="0" marL="0">
              <a:buNone/>
            </a:pPr>
            <a:r>
              <a:rPr lang="en-US" sz="3000" b="1" dirty="0">
                <a:solidFill>
                  <a:schemeClr val="accent2"/>
                </a:solidFill>
                <a:latin typeface="Cambria" pitchFamily="34" charset="0"/>
                <a:ea typeface="Cambria" pitchFamily="34" charset="-122"/>
                <a:cs typeface="Cambria" pitchFamily="34" charset="-120"/>
              </a:rPr>
              <a:t>≈ 10 %</a:t>
            </a:r>
            <a:endParaRPr lang="en-US" sz="3000" dirty="0"/>
          </a:p>
        </p:txBody>
      </p:sp>
      <p:sp>
        <p:nvSpPr>
          <p:cNvPr id="14" name="Text 12"/>
          <p:cNvSpPr txBox="1"/>
          <p:nvPr/>
        </p:nvSpPr>
        <p:spPr>
          <a:xfrm>
            <a:off x="2377440" y="1691640"/>
            <a:ext cx="3246120" cy="1188720"/>
          </a:xfrm>
          <a:prstGeom prst="rect">
            <a:avLst/>
          </a:prstGeom>
          <a:noFill/>
          <a:ln/>
        </p:spPr>
        <p:txBody>
          <a:bodyPr wrap="square" lIns="0" tIns="0" rIns="0" bIns="0" rtlCol="0" anchor="ctr"/>
          <a:lstStyle/>
          <a:p>
            <a:pPr indent="0" marL="0">
              <a:buNone/>
            </a:pPr>
            <a:r>
              <a:rPr lang="en-US" sz="1400" dirty="0">
                <a:solidFill>
                  <a:schemeClr val="tx1"/>
                </a:solidFill>
              </a:rPr>
              <a:t>de faltantes en peso, costo, compras previas y descuento: 4.360 valores</a:t>
            </a:r>
            <a:endParaRPr lang="en-US" sz="1400" dirty="0"/>
          </a:p>
        </p:txBody>
      </p:sp>
      <p:sp>
        <p:nvSpPr>
          <p:cNvPr id="15" name="dato faltantes 2"/>
          <p:cNvSpPr/>
          <p:nvPr/>
        </p:nvSpPr>
        <p:spPr>
          <a:xfrm>
            <a:off x="548640" y="3063240"/>
            <a:ext cx="5212080" cy="1188720"/>
          </a:xfrm>
          <a:prstGeom prst="roundRect">
            <a:avLst>
              <a:gd name="adj" fmla="val 6154"/>
            </a:avLst>
          </a:prstGeom>
          <a:solidFill>
            <a:schemeClr val="bg2"/>
          </a:solidFill>
          <a:ln w="12700">
            <a:solidFill>
              <a:schemeClr val="bg2"/>
            </a:solidFill>
            <a:prstDash val="solid"/>
          </a:ln>
        </p:spPr>
      </p:sp>
      <p:sp>
        <p:nvSpPr>
          <p:cNvPr id="16" name="Text 14"/>
          <p:cNvSpPr txBox="1"/>
          <p:nvPr/>
        </p:nvSpPr>
        <p:spPr>
          <a:xfrm>
            <a:off x="731520" y="3063240"/>
            <a:ext cx="1600200" cy="1188720"/>
          </a:xfrm>
          <a:prstGeom prst="rect">
            <a:avLst/>
          </a:prstGeom>
          <a:noFill/>
          <a:ln/>
        </p:spPr>
        <p:txBody>
          <a:bodyPr wrap="square" lIns="0" tIns="0" rIns="0" bIns="0" rtlCol="0" anchor="ctr"/>
          <a:lstStyle/>
          <a:p>
            <a:pPr indent="0" marL="0">
              <a:buNone/>
            </a:pPr>
            <a:r>
              <a:rPr lang="en-US" sz="3000" b="1" dirty="0">
                <a:solidFill>
                  <a:schemeClr val="accent2"/>
                </a:solidFill>
                <a:latin typeface="Cambria" pitchFamily="34" charset="0"/>
                <a:ea typeface="Cambria" pitchFamily="34" charset="-122"/>
                <a:cs typeface="Cambria" pitchFamily="34" charset="-120"/>
              </a:rPr>
              <a:t>34,4 %</a:t>
            </a:r>
            <a:endParaRPr lang="en-US" sz="3000" dirty="0"/>
          </a:p>
        </p:txBody>
      </p:sp>
      <p:sp>
        <p:nvSpPr>
          <p:cNvPr id="17" name="Text 15"/>
          <p:cNvSpPr txBox="1"/>
          <p:nvPr/>
        </p:nvSpPr>
        <p:spPr>
          <a:xfrm>
            <a:off x="2377440" y="3063240"/>
            <a:ext cx="3246120" cy="1188720"/>
          </a:xfrm>
          <a:prstGeom prst="rect">
            <a:avLst/>
          </a:prstGeom>
          <a:noFill/>
          <a:ln/>
        </p:spPr>
        <p:txBody>
          <a:bodyPr wrap="square" lIns="0" tIns="0" rIns="0" bIns="0" rtlCol="0" anchor="ctr"/>
          <a:lstStyle/>
          <a:p>
            <a:pPr indent="0" marL="0">
              <a:buNone/>
            </a:pPr>
            <a:r>
              <a:rPr lang="en-US" sz="1400" dirty="0">
                <a:solidFill>
                  <a:schemeClr val="tx1"/>
                </a:solidFill>
              </a:rPr>
              <a:t>de los envíos con algún faltante: solo 7.213 quedan completos</a:t>
            </a:r>
            <a:endParaRPr lang="en-US" sz="1400" dirty="0"/>
          </a:p>
        </p:txBody>
      </p:sp>
      <p:sp>
        <p:nvSpPr>
          <p:cNvPr id="18" name="dato faltantes 3"/>
          <p:cNvSpPr/>
          <p:nvPr/>
        </p:nvSpPr>
        <p:spPr>
          <a:xfrm>
            <a:off x="548640" y="4434840"/>
            <a:ext cx="5212080" cy="1188720"/>
          </a:xfrm>
          <a:prstGeom prst="roundRect">
            <a:avLst>
              <a:gd name="adj" fmla="val 6154"/>
            </a:avLst>
          </a:prstGeom>
          <a:solidFill>
            <a:schemeClr val="bg2"/>
          </a:solidFill>
          <a:ln w="12700">
            <a:solidFill>
              <a:schemeClr val="bg2"/>
            </a:solidFill>
            <a:prstDash val="solid"/>
          </a:ln>
        </p:spPr>
      </p:sp>
      <p:sp>
        <p:nvSpPr>
          <p:cNvPr id="19" name="Text 17"/>
          <p:cNvSpPr txBox="1"/>
          <p:nvPr/>
        </p:nvSpPr>
        <p:spPr>
          <a:xfrm>
            <a:off x="731520" y="4434840"/>
            <a:ext cx="1600200" cy="118872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MAR</a:t>
            </a:r>
            <a:endParaRPr lang="en-US" sz="3000" dirty="0"/>
          </a:p>
        </p:txBody>
      </p:sp>
      <p:sp>
        <p:nvSpPr>
          <p:cNvPr id="20" name="Text 18"/>
          <p:cNvSpPr txBox="1"/>
          <p:nvPr/>
        </p:nvSpPr>
        <p:spPr>
          <a:xfrm>
            <a:off x="2377440" y="4434840"/>
            <a:ext cx="3246120" cy="1188720"/>
          </a:xfrm>
          <a:prstGeom prst="rect">
            <a:avLst/>
          </a:prstGeom>
          <a:noFill/>
          <a:ln/>
        </p:spPr>
        <p:txBody>
          <a:bodyPr wrap="square" lIns="0" tIns="0" rIns="0" bIns="0" rtlCol="0" anchor="ctr"/>
          <a:lstStyle/>
          <a:p>
            <a:pPr indent="0" marL="0">
              <a:buNone/>
            </a:pPr>
            <a:r>
              <a:rPr lang="en-US" sz="1400" dirty="0">
                <a:solidFill>
                  <a:schemeClr val="tx1"/>
                </a:solidFill>
              </a:rPr>
              <a:t>verificado: depende de lo observado (razón de verosimilitud, p &lt; 0,001), no del valor propio (p entre 0,17 y 0,65)</a:t>
            </a:r>
            <a:endParaRPr lang="en-US" sz="1400" dirty="0"/>
          </a:p>
        </p:txBody>
      </p:sp>
      <p:graphicFrame>
        <p:nvGraphicFramePr>
          <p:cNvPr id="21" name="gráfico R2 imputación" descr=""/>
          <p:cNvGraphicFramePr/>
          <p:nvPr/>
        </p:nvGraphicFramePr>
        <p:xfrm>
          <a:off x="6126480" y="1600200"/>
          <a:ext cx="5513832" cy="3429000"/>
        </p:xfrm>
        <a:graphic xmlns:a="http://schemas.openxmlformats.org/drawingml/2006/main">
          <a:graphicData uri="http://schemas.openxmlformats.org/drawingml/2006/chart">
            <c:chart xmlns:c="http://schemas.openxmlformats.org/drawingml/2006/chart" r:id="rId1"/>
          </a:graphicData>
        </a:graphic>
      </p:graphicFrame>
      <p:sp>
        <p:nvSpPr>
          <p:cNvPr id="22" name="Text 19"/>
          <p:cNvSpPr txBox="1"/>
          <p:nvPr/>
        </p:nvSpPr>
        <p:spPr>
          <a:xfrm>
            <a:off x="6126480" y="5120640"/>
            <a:ext cx="5513832" cy="914400"/>
          </a:xfrm>
          <a:prstGeom prst="rect">
            <a:avLst/>
          </a:prstGeom>
          <a:noFill/>
          <a:ln/>
        </p:spPr>
        <p:txBody>
          <a:bodyPr wrap="square" lIns="0" tIns="0" rIns="0" bIns="0" rtlCol="0" anchor="t"/>
          <a:lstStyle/>
          <a:p>
            <a:pPr indent="0" marL="0">
              <a:buNone/>
            </a:pPr>
            <a:r>
              <a:rPr lang="en-US" sz="1400" b="1" dirty="0">
                <a:solidFill>
                  <a:schemeClr val="tx1"/>
                </a:solidFill>
              </a:rPr>
              <a:t>Predictores: </a:t>
            </a:r>
            <a:pPr indent="0" marL="0">
              <a:buNone/>
            </a:pPr>
            <a:r>
              <a:rPr lang="en-US" sz="1400" dirty="0">
                <a:solidFill>
                  <a:schemeClr val="tx1"/>
                </a:solidFill>
              </a:rPr>
              <a:t>correlaciones de Spearman de S1, priorizando las estables en S2. El atraso nunca es predictor. Supuestos revisados: VIF máximo 1,21; normalidad, homocedasticidad e independencia.</a:t>
            </a:r>
            <a:endParaRPr lang="en-US" sz="1400" dirty="0"/>
          </a:p>
        </p:txBody>
      </p:sp>
      <p:sp>
        <p:nvSpPr>
          <p:cNvPr id="23" name="Text 20"/>
          <p:cNvSpPr txBox="1"/>
          <p:nvPr/>
        </p:nvSpPr>
        <p:spPr>
          <a:xfrm>
            <a:off x="548640" y="6382512"/>
            <a:ext cx="5486400" cy="274320"/>
          </a:xfrm>
          <a:prstGeom prst="rect">
            <a:avLst/>
          </a:prstGeom>
          <a:noFill/>
          <a:ln/>
        </p:spPr>
        <p:txBody>
          <a:bodyPr wrap="square" lIns="0" tIns="0" rIns="0" bIns="0" rtlCol="0" anchor="ctr"/>
          <a:lstStyle/>
          <a:p>
            <a:pPr indent="0" marL="0">
              <a:buNone/>
            </a:pPr>
            <a:r>
              <a:rPr lang="en-US" sz="1100" b="1" dirty="0">
                <a:solidFill>
                  <a:schemeClr val="accent5"/>
                </a:solidFill>
              </a:rPr>
              <a:t>Expone: </a:t>
            </a:r>
            <a:pPr indent="0" marL="0">
              <a:buNone/>
            </a:pPr>
            <a:r>
              <a:rPr lang="en-US" sz="1100" dirty="0">
                <a:solidFill>
                  <a:schemeClr val="accent5"/>
                </a:solidFill>
              </a:rPr>
              <a:t>Yerko Gallardo Miranda</a:t>
            </a:r>
            <a:endParaRPr lang="en-US" sz="1100" dirty="0"/>
          </a:p>
        </p:txBody>
      </p:sp>
      <p:sp>
        <p:nvSpPr>
          <p:cNvPr id="25" name="Slide Number Placeholder 0"/>
          <p:cNvSpPr>
            <a:spLocks noGrp="1"/>
          </p:cNvSpPr>
          <p:nvPr>
            <p:ph type="sldNum" sz="quarter" idx="4294967295"/>
          </p:nvPr>
        </p:nvSpPr>
        <p:spPr>
          <a:xfrm>
            <a:off x="11338560" y="6382512"/>
            <a:ext cx="3200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869680" cy="685800"/>
          </a:xfrm>
          <a:prstGeom prst="rect">
            <a:avLst/>
          </a:prstGeom>
          <a:noFill/>
          <a:ln/>
        </p:spPr>
        <p:txBody>
          <a:bodyPr wrap="square" lIns="0" tIns="0" rIns="0" bIns="0" rtlCol="0" anchor="ctr"/>
          <a:lstStyle/>
          <a:p>
            <a:pPr algn="l" indent="0" marL="0">
              <a:buNone/>
            </a:pPr>
            <a:r>
              <a:rPr lang="en-US" sz="3000" b="1" dirty="0">
                <a:solidFill>
                  <a:schemeClr val="tx2"/>
                </a:solidFill>
              </a:rPr>
              <a:t>La regresión es la imputación más fiel</a:t>
            </a:r>
            <a:endParaRPr lang="en-US" sz="3000" dirty="0"/>
          </a:p>
        </p:txBody>
      </p:sp>
      <p:sp>
        <p:nvSpPr>
          <p:cNvPr id="3" name="Text 0"/>
          <p:cNvSpPr/>
          <p:nvPr>
            <p:ph idx="101" type="body" hasCustomPrompt="1"/>
          </p:nvPr>
        </p:nvSpPr>
        <p:spPr>
          <a:xfrm>
            <a:off x="548640" y="987552"/>
            <a:ext cx="8869680" cy="411480"/>
          </a:xfrm>
          <a:prstGeom prst="rect">
            <a:avLst/>
          </a:prstGeom>
          <a:noFill/>
          <a:ln/>
        </p:spPr>
        <p:txBody>
          <a:bodyPr wrap="square" lIns="0" tIns="0" rIns="0" bIns="0" rtlCol="0" anchor="t"/>
          <a:lstStyle/>
          <a:p>
            <a:pPr indent="0" marL="0">
              <a:buNone/>
            </a:pPr>
            <a:r>
              <a:rPr lang="en-US" sz="1600" dirty="0">
                <a:solidFill>
                  <a:schemeClr val="accent5"/>
                </a:solidFill>
              </a:rPr>
              <a:t>Comparamos tres estrategias frente a los valores reales, que conocemos por simular</a:t>
            </a:r>
            <a:endParaRPr lang="en-US" sz="1600" dirty="0"/>
          </a:p>
        </p:txBody>
      </p:sp>
      <p:sp>
        <p:nvSpPr>
          <p:cNvPr id="4" name="fase S1"/>
          <p:cNvSpPr/>
          <p:nvPr/>
        </p:nvSpPr>
        <p:spPr>
          <a:xfrm>
            <a:off x="9537192" y="429768"/>
            <a:ext cx="457200" cy="457200"/>
          </a:xfrm>
          <a:prstGeom prst="ellipse">
            <a:avLst/>
          </a:prstGeom>
          <a:solidFill>
            <a:schemeClr val="accent1"/>
          </a:solidFill>
          <a:ln w="12700">
            <a:solidFill>
              <a:schemeClr val="accent1"/>
            </a:solidFill>
            <a:prstDash val="solid"/>
          </a:ln>
        </p:spPr>
      </p:sp>
      <p:sp>
        <p:nvSpPr>
          <p:cNvPr id="5" name="Text 3"/>
          <p:cNvSpPr txBox="1"/>
          <p:nvPr/>
        </p:nvSpPr>
        <p:spPr>
          <a:xfrm>
            <a:off x="9537192" y="429768"/>
            <a:ext cx="457200" cy="457200"/>
          </a:xfrm>
          <a:prstGeom prst="rect">
            <a:avLst/>
          </a:prstGeom>
          <a:noFill/>
          <a:ln/>
        </p:spPr>
        <p:txBody>
          <a:bodyPr wrap="square" lIns="0" tIns="0" rIns="0" bIns="0" rtlCol="0" anchor="ctr"/>
          <a:lstStyle/>
          <a:p>
            <a:pPr algn="ctr" indent="0" marL="0">
              <a:buNone/>
            </a:pPr>
            <a:r>
              <a:rPr lang="en-US" sz="1200" b="1" dirty="0">
                <a:solidFill>
                  <a:schemeClr val="bg1"/>
                </a:solidFill>
              </a:rPr>
              <a:t>S1</a:t>
            </a:r>
            <a:endParaRPr lang="en-US" sz="1200" dirty="0"/>
          </a:p>
        </p:txBody>
      </p:sp>
      <p:sp>
        <p:nvSpPr>
          <p:cNvPr id="6" name="fase S2"/>
          <p:cNvSpPr/>
          <p:nvPr/>
        </p:nvSpPr>
        <p:spPr>
          <a:xfrm>
            <a:off x="10085832" y="429768"/>
            <a:ext cx="457200" cy="457200"/>
          </a:xfrm>
          <a:prstGeom prst="ellipse">
            <a:avLst/>
          </a:prstGeom>
          <a:solidFill>
            <a:schemeClr val="bg2"/>
          </a:solidFill>
          <a:ln w="12700">
            <a:solidFill>
              <a:schemeClr val="bg2"/>
            </a:solidFill>
            <a:prstDash val="solid"/>
          </a:ln>
        </p:spPr>
      </p:sp>
      <p:sp>
        <p:nvSpPr>
          <p:cNvPr id="7" name="Text 5"/>
          <p:cNvSpPr txBox="1"/>
          <p:nvPr/>
        </p:nvSpPr>
        <p:spPr>
          <a:xfrm>
            <a:off x="10085832" y="429768"/>
            <a:ext cx="457200" cy="457200"/>
          </a:xfrm>
          <a:prstGeom prst="rect">
            <a:avLst/>
          </a:prstGeom>
          <a:noFill/>
          <a:ln/>
        </p:spPr>
        <p:txBody>
          <a:bodyPr wrap="square" lIns="0" tIns="0" rIns="0" bIns="0" rtlCol="0" anchor="ctr"/>
          <a:lstStyle/>
          <a:p>
            <a:pPr algn="ctr" indent="0" marL="0">
              <a:buNone/>
            </a:pPr>
            <a:r>
              <a:rPr lang="en-US" sz="1200" b="1" dirty="0">
                <a:solidFill>
                  <a:schemeClr val="accent5"/>
                </a:solidFill>
              </a:rPr>
              <a:t>S2</a:t>
            </a:r>
            <a:endParaRPr lang="en-US" sz="1200" dirty="0"/>
          </a:p>
        </p:txBody>
      </p:sp>
      <p:sp>
        <p:nvSpPr>
          <p:cNvPr id="8" name="fase F2"/>
          <p:cNvSpPr/>
          <p:nvPr/>
        </p:nvSpPr>
        <p:spPr>
          <a:xfrm>
            <a:off x="10634472" y="429768"/>
            <a:ext cx="457200" cy="457200"/>
          </a:xfrm>
          <a:prstGeom prst="ellipse">
            <a:avLst/>
          </a:prstGeom>
          <a:solidFill>
            <a:schemeClr val="bg2"/>
          </a:solidFill>
          <a:ln w="12700">
            <a:solidFill>
              <a:schemeClr val="bg2"/>
            </a:solidFill>
            <a:prstDash val="solid"/>
          </a:ln>
        </p:spPr>
      </p:sp>
      <p:sp>
        <p:nvSpPr>
          <p:cNvPr id="9" name="Text 7"/>
          <p:cNvSpPr txBox="1"/>
          <p:nvPr/>
        </p:nvSpPr>
        <p:spPr>
          <a:xfrm>
            <a:off x="10634472" y="429768"/>
            <a:ext cx="457200" cy="457200"/>
          </a:xfrm>
          <a:prstGeom prst="rect">
            <a:avLst/>
          </a:prstGeom>
          <a:noFill/>
          <a:ln/>
        </p:spPr>
        <p:txBody>
          <a:bodyPr wrap="square" lIns="0" tIns="0" rIns="0" bIns="0" rtlCol="0" anchor="ctr"/>
          <a:lstStyle/>
          <a:p>
            <a:pPr algn="ctr" indent="0" marL="0">
              <a:buNone/>
            </a:pPr>
            <a:r>
              <a:rPr lang="en-US" sz="1200" b="1" dirty="0">
                <a:solidFill>
                  <a:schemeClr val="accent5"/>
                </a:solidFill>
              </a:rPr>
              <a:t>F2</a:t>
            </a:r>
            <a:endParaRPr lang="en-US" sz="1200" dirty="0"/>
          </a:p>
        </p:txBody>
      </p:sp>
      <p:sp>
        <p:nvSpPr>
          <p:cNvPr id="10" name="fase S3"/>
          <p:cNvSpPr/>
          <p:nvPr/>
        </p:nvSpPr>
        <p:spPr>
          <a:xfrm>
            <a:off x="11183112" y="429768"/>
            <a:ext cx="457200" cy="457200"/>
          </a:xfrm>
          <a:prstGeom prst="ellipse">
            <a:avLst/>
          </a:prstGeom>
          <a:solidFill>
            <a:schemeClr val="accent2"/>
          </a:solidFill>
          <a:ln w="12700">
            <a:solidFill>
              <a:schemeClr val="accent2"/>
            </a:solidFill>
            <a:prstDash val="solid"/>
          </a:ln>
        </p:spPr>
      </p:sp>
      <p:sp>
        <p:nvSpPr>
          <p:cNvPr id="11" name="Text 9"/>
          <p:cNvSpPr txBox="1"/>
          <p:nvPr/>
        </p:nvSpPr>
        <p:spPr>
          <a:xfrm>
            <a:off x="11183112" y="429768"/>
            <a:ext cx="457200" cy="457200"/>
          </a:xfrm>
          <a:prstGeom prst="rect">
            <a:avLst/>
          </a:prstGeom>
          <a:noFill/>
          <a:ln/>
        </p:spPr>
        <p:txBody>
          <a:bodyPr wrap="square" lIns="0" tIns="0" rIns="0" bIns="0" rtlCol="0" anchor="ctr"/>
          <a:lstStyle/>
          <a:p>
            <a:pPr algn="ctr" indent="0" marL="0">
              <a:buNone/>
            </a:pPr>
            <a:r>
              <a:rPr lang="en-US" sz="1200" b="1" dirty="0">
                <a:solidFill>
                  <a:schemeClr val="tx1"/>
                </a:solidFill>
              </a:rPr>
              <a:t>S3</a:t>
            </a:r>
            <a:endParaRPr lang="en-US" sz="1200" dirty="0"/>
          </a:p>
        </p:txBody>
      </p:sp>
      <p:graphicFrame>
        <p:nvGraphicFramePr>
          <p:cNvPr id="8" name="tabla estrategias"/>
          <p:cNvGraphicFramePr>
            <a:graphicFrameLocks noGrp="1"/>
          </p:cNvGraphicFramePr>
          <p:nvPr>
            <p:extLst>
              <p:ext uri="{D42A27DB-BD31-4B8C-83A1-F6EECF244321}">
                <p14:modId xmlns:p14="http://schemas.microsoft.com/office/powerpoint/2010/main" val="1579011935"/>
              </p:ext>
            </p:extLst>
          </p:nvPr>
        </p:nvGraphicFramePr>
        <p:xfrm>
          <a:off x="548640" y="1645920"/>
          <a:ext cx="7406640" cy="914400"/>
        </p:xfrm>
        <a:graphic>
          <a:graphicData uri="http://schemas.openxmlformats.org/drawingml/2006/table">
            <a:tbl>
              <a:tblPr/>
              <a:tblGrid>
                <a:gridCol w="3566160"/>
                <a:gridCol w="1280160"/>
                <a:gridCol w="1280160"/>
                <a:gridCol w="1280160"/>
              </a:tblGrid>
              <a:tr h="603504">
                <a:tc>
                  <a:txBody>
                    <a:bodyPr/>
                    <a:lstStyle/>
                    <a:p>
                      <a:pPr indent="0" marL="0">
                        <a:buNone/>
                      </a:pPr>
                      <a:r>
                        <a:rPr lang="en-US" sz="1500" b="1" dirty="0">
                          <a:solidFill>
                            <a:srgbClr val="FFFFFF"/>
                          </a:solidFill>
                        </a:rPr>
                        <a:t>Criterio</a:t>
                      </a:r>
                      <a:endParaRPr lang="en-US" sz="1500" dirty="0"/>
                    </a:p>
                  </a:txBody>
                  <a:tcPr marL="109728" marR="109728" marT="0" marB="0" anchor="ctr">
                    <a:lnL w="0" cap="flat" cmpd="sng" algn="ctr">
                      <a:noFill/>
                    </a:lnL>
                    <a:lnR w="0" cap="flat" cmpd="sng" algn="ctr">
                      <a:noFill/>
                    </a:lnR>
                    <a:lnT w="0" cap="flat" cmpd="sng" algn="ctr">
                      <a:noFill/>
                    </a:lnT>
                    <a:lnB w="0" cap="flat" cmpd="sng" algn="ctr">
                      <a:noFill/>
                    </a:lnB>
                    <a:solidFill>
                      <a:srgbClr val="123F4A"/>
                    </a:solidFill>
                  </a:tcPr>
                </a:tc>
                <a:tc>
                  <a:txBody>
                    <a:bodyPr/>
                    <a:lstStyle/>
                    <a:p>
                      <a:pPr algn="ctr" indent="0" marL="0">
                        <a:buNone/>
                      </a:pPr>
                      <a:r>
                        <a:rPr lang="en-US" sz="1500" b="1" dirty="0">
                          <a:solidFill>
                            <a:srgbClr val="FFFFFF"/>
                          </a:solidFill>
                        </a:rPr>
                        <a:t>Eliminación</a:t>
                      </a:r>
                      <a:endParaRPr lang="en-US" sz="1500" dirty="0"/>
                    </a:p>
                  </a:txBody>
                  <a:tcPr marL="109728" marR="109728" marT="0" marB="0" anchor="ctr">
                    <a:lnL w="0" cap="flat" cmpd="sng" algn="ctr">
                      <a:noFill/>
                    </a:lnL>
                    <a:lnR w="0" cap="flat" cmpd="sng" algn="ctr">
                      <a:noFill/>
                    </a:lnR>
                    <a:lnT w="0" cap="flat" cmpd="sng" algn="ctr">
                      <a:noFill/>
                    </a:lnT>
                    <a:lnB w="0" cap="flat" cmpd="sng" algn="ctr">
                      <a:noFill/>
                    </a:lnB>
                    <a:solidFill>
                      <a:srgbClr val="123F4A"/>
                    </a:solidFill>
                  </a:tcPr>
                </a:tc>
                <a:tc>
                  <a:txBody>
                    <a:bodyPr/>
                    <a:lstStyle/>
                    <a:p>
                      <a:pPr algn="ctr" indent="0" marL="0">
                        <a:buNone/>
                      </a:pPr>
                      <a:r>
                        <a:rPr lang="en-US" sz="1500" b="1" dirty="0">
                          <a:solidFill>
                            <a:srgbClr val="FFFFFF"/>
                          </a:solidFill>
                        </a:rPr>
                        <a:t>Mediana</a:t>
                      </a:r>
                      <a:endParaRPr lang="en-US" sz="1500" dirty="0"/>
                    </a:p>
                  </a:txBody>
                  <a:tcPr marL="109728" marR="109728" marT="0" marB="0" anchor="ctr">
                    <a:lnL w="0" cap="flat" cmpd="sng" algn="ctr">
                      <a:noFill/>
                    </a:lnL>
                    <a:lnR w="0" cap="flat" cmpd="sng" algn="ctr">
                      <a:noFill/>
                    </a:lnR>
                    <a:lnT w="0" cap="flat" cmpd="sng" algn="ctr">
                      <a:noFill/>
                    </a:lnT>
                    <a:lnB w="0" cap="flat" cmpd="sng" algn="ctr">
                      <a:noFill/>
                    </a:lnB>
                    <a:solidFill>
                      <a:srgbClr val="123F4A"/>
                    </a:solidFill>
                  </a:tcPr>
                </a:tc>
                <a:tc>
                  <a:txBody>
                    <a:bodyPr/>
                    <a:lstStyle/>
                    <a:p>
                      <a:pPr algn="ctr" indent="0" marL="0">
                        <a:buNone/>
                      </a:pPr>
                      <a:r>
                        <a:rPr lang="en-US" sz="1500" b="1" dirty="0">
                          <a:solidFill>
                            <a:srgbClr val="1B2A33"/>
                          </a:solidFill>
                        </a:rPr>
                        <a:t>Regresión</a:t>
                      </a:r>
                      <a:endParaRPr lang="en-US" sz="1500" dirty="0"/>
                    </a:p>
                  </a:txBody>
                  <a:tcPr marL="109728" marR="109728" marT="0" marB="0" anchor="ctr">
                    <a:lnL w="0" cap="flat" cmpd="sng" algn="ctr">
                      <a:noFill/>
                    </a:lnL>
                    <a:lnR w="0" cap="flat" cmpd="sng" algn="ctr">
                      <a:noFill/>
                    </a:lnR>
                    <a:lnT w="0" cap="flat" cmpd="sng" algn="ctr">
                      <a:noFill/>
                    </a:lnT>
                    <a:lnB w="0" cap="flat" cmpd="sng" algn="ctr">
                      <a:noFill/>
                    </a:lnB>
                    <a:solidFill>
                      <a:srgbClr val="C9791A"/>
                    </a:solidFill>
                  </a:tcPr>
                </a:tc>
              </a:tr>
              <a:tr h="603504">
                <a:tc>
                  <a:txBody>
                    <a:bodyPr/>
                    <a:lstStyle/>
                    <a:p>
                      <a:pPr indent="0" marL="0">
                        <a:buNone/>
                      </a:pPr>
                      <a:r>
                        <a:rPr lang="en-US" sz="1500" dirty="0">
                          <a:solidFill>
                            <a:srgbClr val="1B2A33"/>
                          </a:solidFill>
                        </a:rPr>
                        <a:t>Envíos conservados</a:t>
                      </a:r>
                      <a:endParaRPr lang="en-US" sz="1500" dirty="0"/>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500" dirty="0">
                          <a:solidFill>
                            <a:srgbClr val="1B2A33"/>
                          </a:solidFill>
                        </a:rPr>
                        <a:t>7.213</a:t>
                      </a:r>
                      <a:endParaRPr lang="en-US" sz="1500" dirty="0"/>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500" dirty="0">
                          <a:solidFill>
                            <a:srgbClr val="1B2A33"/>
                          </a:solidFill>
                        </a:rPr>
                        <a:t>10.999</a:t>
                      </a:r>
                      <a:endParaRPr lang="en-US" sz="1500" dirty="0"/>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500" b="1" dirty="0">
                          <a:solidFill>
                            <a:srgbClr val="1B2A33"/>
                          </a:solidFill>
                        </a:rPr>
                        <a:t>10.999</a:t>
                      </a:r>
                      <a:endParaRPr lang="en-US" sz="1500" dirty="0"/>
                    </a:p>
                  </a:txBody>
                  <a:tcPr marL="109728" marR="109728" marT="0" marB="0" anchor="ctr">
                    <a:lnL w="0" cap="flat" cmpd="sng" algn="ctr">
                      <a:noFill/>
                    </a:lnL>
                    <a:lnR w="0" cap="flat" cmpd="sng" algn="ctr">
                      <a:noFill/>
                    </a:lnR>
                    <a:lnT w="0" cap="flat" cmpd="sng" algn="ctr">
                      <a:noFill/>
                    </a:lnT>
                    <a:lnB w="0" cap="flat" cmpd="sng" algn="ctr">
                      <a:noFill/>
                    </a:lnB>
                    <a:solidFill>
                      <a:srgbClr val="F7E6CC"/>
                    </a:solidFill>
                  </a:tcPr>
                </a:tc>
              </a:tr>
              <a:tr h="603504">
                <a:tc>
                  <a:txBody>
                    <a:bodyPr/>
                    <a:lstStyle/>
                    <a:p>
                      <a:pPr indent="0" marL="0">
                        <a:buNone/>
                      </a:pPr>
                      <a:r>
                        <a:rPr lang="en-US" sz="1500" dirty="0">
                          <a:solidFill>
                            <a:srgbClr val="1B2A33"/>
                          </a:solidFill>
                        </a:rPr>
                        <a:t>Distancia KS media al original</a:t>
                      </a:r>
                      <a:endParaRPr lang="en-US" sz="1500" dirty="0"/>
                    </a:p>
                  </a:txBody>
                  <a:tcPr marL="109728" marR="109728" marT="0" marB="0" anchor="ctr">
                    <a:lnL w="0" cap="flat" cmpd="sng" algn="ctr">
                      <a:noFill/>
                    </a:lnL>
                    <a:lnR w="0" cap="flat" cmpd="sng" algn="ctr">
                      <a:noFill/>
                    </a:lnR>
                    <a:lnT w="0" cap="flat" cmpd="sng" algn="ctr">
                      <a:noFill/>
                    </a:lnT>
                    <a:lnB w="0" cap="flat" cmpd="sng" algn="ctr">
                      <a:noFill/>
                    </a:lnB>
                    <a:solidFill>
                      <a:srgbClr val="EDF2F3"/>
                    </a:solidFill>
                  </a:tcPr>
                </a:tc>
                <a:tc>
                  <a:txBody>
                    <a:bodyPr/>
                    <a:lstStyle/>
                    <a:p>
                      <a:pPr algn="ctr" indent="0" marL="0">
                        <a:buNone/>
                      </a:pPr>
                      <a:r>
                        <a:rPr lang="en-US" sz="1500" dirty="0">
                          <a:solidFill>
                            <a:srgbClr val="1B2A33"/>
                          </a:solidFill>
                        </a:rPr>
                        <a:t>0,004</a:t>
                      </a:r>
                      <a:endParaRPr lang="en-US" sz="1500" dirty="0"/>
                    </a:p>
                  </a:txBody>
                  <a:tcPr marL="109728" marR="109728" marT="0" marB="0" anchor="ctr">
                    <a:lnL w="0" cap="flat" cmpd="sng" algn="ctr">
                      <a:noFill/>
                    </a:lnL>
                    <a:lnR w="0" cap="flat" cmpd="sng" algn="ctr">
                      <a:noFill/>
                    </a:lnR>
                    <a:lnT w="0" cap="flat" cmpd="sng" algn="ctr">
                      <a:noFill/>
                    </a:lnT>
                    <a:lnB w="0" cap="flat" cmpd="sng" algn="ctr">
                      <a:noFill/>
                    </a:lnB>
                    <a:solidFill>
                      <a:srgbClr val="EDF2F3"/>
                    </a:solidFill>
                  </a:tcPr>
                </a:tc>
                <a:tc>
                  <a:txBody>
                    <a:bodyPr/>
                    <a:lstStyle/>
                    <a:p>
                      <a:pPr algn="ctr" indent="0" marL="0">
                        <a:buNone/>
                      </a:pPr>
                      <a:r>
                        <a:rPr lang="en-US" sz="1500" dirty="0">
                          <a:solidFill>
                            <a:srgbClr val="1B2A33"/>
                          </a:solidFill>
                        </a:rPr>
                        <a:t>0,048</a:t>
                      </a:r>
                      <a:endParaRPr lang="en-US" sz="1500" dirty="0"/>
                    </a:p>
                  </a:txBody>
                  <a:tcPr marL="109728" marR="109728" marT="0" marB="0" anchor="ctr">
                    <a:lnL w="0" cap="flat" cmpd="sng" algn="ctr">
                      <a:noFill/>
                    </a:lnL>
                    <a:lnR w="0" cap="flat" cmpd="sng" algn="ctr">
                      <a:noFill/>
                    </a:lnR>
                    <a:lnT w="0" cap="flat" cmpd="sng" algn="ctr">
                      <a:noFill/>
                    </a:lnT>
                    <a:lnB w="0" cap="flat" cmpd="sng" algn="ctr">
                      <a:noFill/>
                    </a:lnB>
                    <a:solidFill>
                      <a:srgbClr val="EDF2F3"/>
                    </a:solidFill>
                  </a:tcPr>
                </a:tc>
                <a:tc>
                  <a:txBody>
                    <a:bodyPr/>
                    <a:lstStyle/>
                    <a:p>
                      <a:pPr algn="ctr" indent="0" marL="0">
                        <a:buNone/>
                      </a:pPr>
                      <a:r>
                        <a:rPr lang="en-US" sz="1500" b="1" dirty="0">
                          <a:solidFill>
                            <a:srgbClr val="1B2A33"/>
                          </a:solidFill>
                        </a:rPr>
                        <a:t>0,030</a:t>
                      </a:r>
                      <a:endParaRPr lang="en-US" sz="1500" dirty="0"/>
                    </a:p>
                  </a:txBody>
                  <a:tcPr marL="109728" marR="109728" marT="0" marB="0" anchor="ctr">
                    <a:lnL w="0" cap="flat" cmpd="sng" algn="ctr">
                      <a:noFill/>
                    </a:lnL>
                    <a:lnR w="0" cap="flat" cmpd="sng" algn="ctr">
                      <a:noFill/>
                    </a:lnR>
                    <a:lnT w="0" cap="flat" cmpd="sng" algn="ctr">
                      <a:noFill/>
                    </a:lnT>
                    <a:lnB w="0" cap="flat" cmpd="sng" algn="ctr">
                      <a:noFill/>
                    </a:lnB>
                    <a:solidFill>
                      <a:srgbClr val="F7E6CC"/>
                    </a:solidFill>
                  </a:tcPr>
                </a:tc>
              </a:tr>
              <a:tr h="603504">
                <a:tc>
                  <a:txBody>
                    <a:bodyPr/>
                    <a:lstStyle/>
                    <a:p>
                      <a:pPr indent="0" marL="0">
                        <a:buNone/>
                      </a:pPr>
                      <a:r>
                        <a:rPr lang="en-US" sz="1500" dirty="0">
                          <a:solidFill>
                            <a:srgbClr val="1B2A33"/>
                          </a:solidFill>
                        </a:rPr>
                        <a:t>Error frente al valor real (RMSE / DE)</a:t>
                      </a:r>
                      <a:endParaRPr lang="en-US" sz="1500" dirty="0"/>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500" dirty="0">
                          <a:solidFill>
                            <a:srgbClr val="1B2A33"/>
                          </a:solidFill>
                        </a:rPr>
                        <a:t>—</a:t>
                      </a:r>
                      <a:endParaRPr lang="en-US" sz="1500" dirty="0"/>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500" dirty="0">
                          <a:solidFill>
                            <a:srgbClr val="1B2A33"/>
                          </a:solidFill>
                        </a:rPr>
                        <a:t>1,05</a:t>
                      </a:r>
                      <a:endParaRPr lang="en-US" sz="1500" dirty="0"/>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500" b="1" dirty="0">
                          <a:solidFill>
                            <a:srgbClr val="1B2A33"/>
                          </a:solidFill>
                        </a:rPr>
                        <a:t>0,92</a:t>
                      </a:r>
                      <a:endParaRPr lang="en-US" sz="1500" dirty="0"/>
                    </a:p>
                  </a:txBody>
                  <a:tcPr marL="109728" marR="109728" marT="0" marB="0" anchor="ctr">
                    <a:lnL w="0" cap="flat" cmpd="sng" algn="ctr">
                      <a:noFill/>
                    </a:lnL>
                    <a:lnR w="0" cap="flat" cmpd="sng" algn="ctr">
                      <a:noFill/>
                    </a:lnR>
                    <a:lnT w="0" cap="flat" cmpd="sng" algn="ctr">
                      <a:noFill/>
                    </a:lnT>
                    <a:lnB w="0" cap="flat" cmpd="sng" algn="ctr">
                      <a:noFill/>
                    </a:lnB>
                    <a:solidFill>
                      <a:srgbClr val="F7E6CC"/>
                    </a:solidFill>
                  </a:tcPr>
                </a:tc>
              </a:tr>
              <a:tr h="603504">
                <a:tc>
                  <a:txBody>
                    <a:bodyPr/>
                    <a:lstStyle/>
                    <a:p>
                      <a:pPr indent="0" marL="0">
                        <a:buNone/>
                      </a:pPr>
                      <a:r>
                        <a:rPr lang="en-US" sz="1500" dirty="0">
                          <a:solidFill>
                            <a:srgbClr val="1B2A33"/>
                          </a:solidFill>
                        </a:rPr>
                        <a:t>Envíos en el segmento equivocado</a:t>
                      </a:r>
                      <a:endParaRPr lang="en-US" sz="1500" dirty="0"/>
                    </a:p>
                  </a:txBody>
                  <a:tcPr marL="109728" marR="109728" marT="0" marB="0" anchor="ctr">
                    <a:lnL w="0" cap="flat" cmpd="sng" algn="ctr">
                      <a:noFill/>
                    </a:lnL>
                    <a:lnR w="0" cap="flat" cmpd="sng" algn="ctr">
                      <a:noFill/>
                    </a:lnR>
                    <a:lnT w="0" cap="flat" cmpd="sng" algn="ctr">
                      <a:noFill/>
                    </a:lnT>
                    <a:lnB w="0" cap="flat" cmpd="sng" algn="ctr">
                      <a:noFill/>
                    </a:lnB>
                    <a:solidFill>
                      <a:srgbClr val="EDF2F3"/>
                    </a:solidFill>
                  </a:tcPr>
                </a:tc>
                <a:tc>
                  <a:txBody>
                    <a:bodyPr/>
                    <a:lstStyle/>
                    <a:p>
                      <a:pPr algn="ctr" indent="0" marL="0">
                        <a:buNone/>
                      </a:pPr>
                      <a:r>
                        <a:rPr lang="en-US" sz="1500" dirty="0">
                          <a:solidFill>
                            <a:srgbClr val="1B2A33"/>
                          </a:solidFill>
                        </a:rPr>
                        <a:t>0</a:t>
                      </a:r>
                      <a:endParaRPr lang="en-US" sz="1500" dirty="0"/>
                    </a:p>
                  </a:txBody>
                  <a:tcPr marL="109728" marR="109728" marT="0" marB="0" anchor="ctr">
                    <a:lnL w="0" cap="flat" cmpd="sng" algn="ctr">
                      <a:noFill/>
                    </a:lnL>
                    <a:lnR w="0" cap="flat" cmpd="sng" algn="ctr">
                      <a:noFill/>
                    </a:lnR>
                    <a:lnT w="0" cap="flat" cmpd="sng" algn="ctr">
                      <a:noFill/>
                    </a:lnT>
                    <a:lnB w="0" cap="flat" cmpd="sng" algn="ctr">
                      <a:noFill/>
                    </a:lnB>
                    <a:solidFill>
                      <a:srgbClr val="EDF2F3"/>
                    </a:solidFill>
                  </a:tcPr>
                </a:tc>
                <a:tc>
                  <a:txBody>
                    <a:bodyPr/>
                    <a:lstStyle/>
                    <a:p>
                      <a:pPr algn="ctr" indent="0" marL="0">
                        <a:buNone/>
                      </a:pPr>
                      <a:r>
                        <a:rPr lang="en-US" sz="1500" dirty="0">
                          <a:solidFill>
                            <a:srgbClr val="1B2A33"/>
                          </a:solidFill>
                        </a:rPr>
                        <a:t>268</a:t>
                      </a:r>
                      <a:endParaRPr lang="en-US" sz="1500" dirty="0"/>
                    </a:p>
                  </a:txBody>
                  <a:tcPr marL="109728" marR="109728" marT="0" marB="0" anchor="ctr">
                    <a:lnL w="0" cap="flat" cmpd="sng" algn="ctr">
                      <a:noFill/>
                    </a:lnL>
                    <a:lnR w="0" cap="flat" cmpd="sng" algn="ctr">
                      <a:noFill/>
                    </a:lnR>
                    <a:lnT w="0" cap="flat" cmpd="sng" algn="ctr">
                      <a:noFill/>
                    </a:lnT>
                    <a:lnB w="0" cap="flat" cmpd="sng" algn="ctr">
                      <a:noFill/>
                    </a:lnB>
                    <a:solidFill>
                      <a:srgbClr val="EDF2F3"/>
                    </a:solidFill>
                  </a:tcPr>
                </a:tc>
                <a:tc>
                  <a:txBody>
                    <a:bodyPr/>
                    <a:lstStyle/>
                    <a:p>
                      <a:pPr algn="ctr" indent="0" marL="0">
                        <a:buNone/>
                      </a:pPr>
                      <a:r>
                        <a:rPr lang="en-US" sz="1500" b="1" dirty="0">
                          <a:solidFill>
                            <a:srgbClr val="1B2A33"/>
                          </a:solidFill>
                        </a:rPr>
                        <a:t>447</a:t>
                      </a:r>
                      <a:endParaRPr lang="en-US" sz="1500" dirty="0"/>
                    </a:p>
                  </a:txBody>
                  <a:tcPr marL="109728" marR="109728" marT="0" marB="0" anchor="ctr">
                    <a:lnL w="0" cap="flat" cmpd="sng" algn="ctr">
                      <a:noFill/>
                    </a:lnL>
                    <a:lnR w="0" cap="flat" cmpd="sng" algn="ctr">
                      <a:noFill/>
                    </a:lnR>
                    <a:lnT w="0" cap="flat" cmpd="sng" algn="ctr">
                      <a:noFill/>
                    </a:lnT>
                    <a:lnB w="0" cap="flat" cmpd="sng" algn="ctr">
                      <a:noFill/>
                    </a:lnB>
                    <a:solidFill>
                      <a:srgbClr val="F7E6CC"/>
                    </a:solidFill>
                  </a:tcPr>
                </a:tc>
              </a:tr>
              <a:tr h="603504">
                <a:tc>
                  <a:txBody>
                    <a:bodyPr/>
                    <a:lstStyle/>
                    <a:p>
                      <a:pPr indent="0" marL="0">
                        <a:buNone/>
                      </a:pPr>
                      <a:r>
                        <a:rPr lang="en-US" sz="1500" dirty="0">
                          <a:solidFill>
                            <a:srgbClr val="1B2A33"/>
                          </a:solidFill>
                        </a:rPr>
                        <a:t>Atraso en el segmento &gt; 10 (S1: 100 %)</a:t>
                      </a:r>
                      <a:endParaRPr lang="en-US" sz="1500" dirty="0"/>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500" dirty="0">
                          <a:solidFill>
                            <a:srgbClr val="1B2A33"/>
                          </a:solidFill>
                        </a:rPr>
                        <a:t>100 %</a:t>
                      </a:r>
                      <a:endParaRPr lang="en-US" sz="1500" dirty="0"/>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500" dirty="0">
                          <a:solidFill>
                            <a:srgbClr val="1B2A33"/>
                          </a:solidFill>
                        </a:rPr>
                        <a:t>100 %</a:t>
                      </a:r>
                      <a:endParaRPr lang="en-US" sz="1500" dirty="0"/>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500" b="1" dirty="0">
                          <a:solidFill>
                            <a:srgbClr val="1B2A33"/>
                          </a:solidFill>
                        </a:rPr>
                        <a:t>92,6 %</a:t>
                      </a:r>
                      <a:endParaRPr lang="en-US" sz="1500" dirty="0"/>
                    </a:p>
                  </a:txBody>
                  <a:tcPr marL="109728" marR="109728" marT="0" marB="0" anchor="ctr">
                    <a:lnL w="0" cap="flat" cmpd="sng" algn="ctr">
                      <a:noFill/>
                    </a:lnL>
                    <a:lnR w="0" cap="flat" cmpd="sng" algn="ctr">
                      <a:noFill/>
                    </a:lnR>
                    <a:lnT w="0" cap="flat" cmpd="sng" algn="ctr">
                      <a:noFill/>
                    </a:lnT>
                    <a:lnB w="0" cap="flat" cmpd="sng" algn="ctr">
                      <a:noFill/>
                    </a:lnB>
                    <a:solidFill>
                      <a:srgbClr val="F7E6CC"/>
                    </a:solidFill>
                  </a:tcPr>
                </a:tc>
              </a:tr>
            </a:tbl>
          </a:graphicData>
        </a:graphic>
      </p:graphicFrame>
      <p:sp>
        <p:nvSpPr>
          <p:cNvPr id="13" name="Text 10"/>
          <p:cNvSpPr txBox="1"/>
          <p:nvPr/>
        </p:nvSpPr>
        <p:spPr>
          <a:xfrm>
            <a:off x="548640" y="5440680"/>
            <a:ext cx="7406640" cy="502920"/>
          </a:xfrm>
          <a:prstGeom prst="rect">
            <a:avLst/>
          </a:prstGeom>
          <a:noFill/>
          <a:ln/>
        </p:spPr>
        <p:txBody>
          <a:bodyPr wrap="square" lIns="0" tIns="0" rIns="0" bIns="0" rtlCol="0" anchor="t"/>
          <a:lstStyle/>
          <a:p>
            <a:pPr indent="0" marL="0">
              <a:buNone/>
            </a:pPr>
            <a:r>
              <a:rPr lang="en-US" sz="1200" dirty="0">
                <a:solidFill>
                  <a:schemeClr val="accent5"/>
                </a:solidFill>
              </a:rPr>
              <a:t>KS: Kolmogorov-Smirnov. RMSE / DE: raíz del error cuadrático medio dividida por la desviación estándar.</a:t>
            </a:r>
            <a:endParaRPr lang="en-US" sz="1200" dirty="0"/>
          </a:p>
        </p:txBody>
      </p:sp>
      <p:sp>
        <p:nvSpPr>
          <p:cNvPr id="14" name="decisión"/>
          <p:cNvSpPr/>
          <p:nvPr/>
        </p:nvSpPr>
        <p:spPr>
          <a:xfrm>
            <a:off x="8229600" y="1645920"/>
            <a:ext cx="3410712" cy="3621024"/>
          </a:xfrm>
          <a:prstGeom prst="roundRect">
            <a:avLst>
              <a:gd name="adj" fmla="val 2145"/>
            </a:avLst>
          </a:prstGeom>
          <a:solidFill>
            <a:schemeClr val="tx2"/>
          </a:solidFill>
          <a:ln w="12700">
            <a:solidFill>
              <a:schemeClr val="tx2"/>
            </a:solidFill>
            <a:prstDash val="solid"/>
          </a:ln>
          <a:effectLst>
            <a:outerShdw sx="100000" sy="100000" kx="0" ky="0" algn="bl" rotWithShape="0" blurRad="76200" dist="25400" dir="5400000">
              <a:srgbClr val="000000">
                <a:alpha val="12000"/>
              </a:srgbClr>
            </a:outerShdw>
          </a:effectLst>
        </p:spPr>
      </p:sp>
      <p:sp>
        <p:nvSpPr>
          <p:cNvPr id="15" name="Text 12"/>
          <p:cNvSpPr txBox="1"/>
          <p:nvPr/>
        </p:nvSpPr>
        <p:spPr>
          <a:xfrm>
            <a:off x="8458200" y="1783080"/>
            <a:ext cx="3017520" cy="502920"/>
          </a:xfrm>
          <a:prstGeom prst="rect">
            <a:avLst/>
          </a:prstGeom>
          <a:noFill/>
          <a:ln/>
        </p:spPr>
        <p:txBody>
          <a:bodyPr wrap="square" lIns="0" tIns="0" rIns="0" bIns="0" rtlCol="0" anchor="ctr"/>
          <a:lstStyle/>
          <a:p>
            <a:pPr indent="0" marL="0">
              <a:buNone/>
            </a:pPr>
            <a:r>
              <a:rPr lang="en-US" sz="2000" b="1" dirty="0">
                <a:solidFill>
                  <a:schemeClr val="bg1"/>
                </a:solidFill>
                <a:latin typeface="Cambria" pitchFamily="34" charset="0"/>
                <a:ea typeface="Cambria" pitchFamily="34" charset="-122"/>
                <a:cs typeface="Cambria" pitchFamily="34" charset="-120"/>
              </a:rPr>
              <a:t>Decisión: regresión</a:t>
            </a:r>
            <a:endParaRPr lang="en-US" sz="2000" dirty="0"/>
          </a:p>
        </p:txBody>
      </p:sp>
      <p:sp>
        <p:nvSpPr>
          <p:cNvPr id="16" name="Text 13"/>
          <p:cNvSpPr txBox="1"/>
          <p:nvPr/>
        </p:nvSpPr>
        <p:spPr>
          <a:xfrm>
            <a:off x="8458200" y="2377440"/>
            <a:ext cx="3017520" cy="329184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bg1"/>
                </a:solidFill>
              </a:rPr>
              <a:t>Conserva los 10.999 envíos</a:t>
            </a:r>
            <a:endParaRPr lang="en-US" sz="1500" dirty="0"/>
          </a:p>
          <a:p>
            <a:pPr marL="342900" indent="-342900">
              <a:spcAft>
                <a:spcPts val="1000"/>
              </a:spcAft>
              <a:buSzPct val="100000"/>
              <a:buChar char="•"/>
            </a:pPr>
            <a:r>
              <a:rPr lang="en-US" sz="1500" dirty="0">
                <a:solidFill>
                  <a:schemeClr val="bg1"/>
                </a:solidFill>
              </a:rPr>
              <a:t>Menor error frente al valor real (0,92 DE)</a:t>
            </a:r>
            <a:endParaRPr lang="en-US" sz="1500" dirty="0"/>
          </a:p>
          <a:p>
            <a:pPr marL="342900" indent="-342900">
              <a:spcAft>
                <a:spcPts val="1000"/>
              </a:spcAft>
              <a:buSzPct val="100000"/>
              <a:buChar char="•"/>
            </a:pPr>
            <a:r>
              <a:rPr lang="en-US" sz="1500" dirty="0">
                <a:solidFill>
                  <a:schemeClr val="accent4"/>
                </a:solidFill>
              </a:rPr>
              <a:t>Costo: 447 envíos cambian de segmento de descuento; lo medimos en el último paso</a:t>
            </a:r>
            <a:endParaRPr lang="en-US" sz="1500" dirty="0"/>
          </a:p>
        </p:txBody>
      </p:sp>
      <p:sp>
        <p:nvSpPr>
          <p:cNvPr id="17" name="Text 14"/>
          <p:cNvSpPr txBox="1"/>
          <p:nvPr/>
        </p:nvSpPr>
        <p:spPr>
          <a:xfrm>
            <a:off x="548640" y="6382512"/>
            <a:ext cx="5486400" cy="274320"/>
          </a:xfrm>
          <a:prstGeom prst="rect">
            <a:avLst/>
          </a:prstGeom>
          <a:noFill/>
          <a:ln/>
        </p:spPr>
        <p:txBody>
          <a:bodyPr wrap="square" lIns="0" tIns="0" rIns="0" bIns="0" rtlCol="0" anchor="ctr"/>
          <a:lstStyle/>
          <a:p>
            <a:pPr indent="0" marL="0">
              <a:buNone/>
            </a:pPr>
            <a:r>
              <a:rPr lang="en-US" sz="1100" b="1" dirty="0">
                <a:solidFill>
                  <a:schemeClr val="accent5"/>
                </a:solidFill>
              </a:rPr>
              <a:t>Expone: </a:t>
            </a:r>
            <a:pPr indent="0" marL="0">
              <a:buNone/>
            </a:pPr>
            <a:r>
              <a:rPr lang="en-US" sz="1100" dirty="0">
                <a:solidFill>
                  <a:schemeClr val="accent5"/>
                </a:solidFill>
              </a:rPr>
              <a:t>Yerko Gallardo Miranda</a:t>
            </a:r>
            <a:endParaRPr lang="en-US" sz="1100" dirty="0"/>
          </a:p>
        </p:txBody>
      </p:sp>
      <p:sp>
        <p:nvSpPr>
          <p:cNvPr id="25" name="Slide Number Placeholder 0"/>
          <p:cNvSpPr>
            <a:spLocks noGrp="1"/>
          </p:cNvSpPr>
          <p:nvPr>
            <p:ph type="sldNum" sz="quarter" idx="4294967295"/>
          </p:nvPr>
        </p:nvSpPr>
        <p:spPr>
          <a:xfrm>
            <a:off x="11338560" y="6382512"/>
            <a:ext cx="3200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869680" cy="685800"/>
          </a:xfrm>
          <a:prstGeom prst="rect">
            <a:avLst/>
          </a:prstGeom>
          <a:noFill/>
          <a:ln/>
        </p:spPr>
        <p:txBody>
          <a:bodyPr wrap="square" lIns="0" tIns="0" rIns="0" bIns="0" rtlCol="0" anchor="ctr"/>
          <a:lstStyle/>
          <a:p>
            <a:pPr algn="l" indent="0" marL="0">
              <a:buNone/>
            </a:pPr>
            <a:r>
              <a:rPr lang="en-US" sz="3000" b="1" dirty="0">
                <a:solidFill>
                  <a:schemeClr val="tx2"/>
                </a:solidFill>
              </a:rPr>
              <a:t>Modelamos donde hay incertidumbre</a:t>
            </a:r>
            <a:endParaRPr lang="en-US" sz="3000" dirty="0"/>
          </a:p>
        </p:txBody>
      </p:sp>
      <p:sp>
        <p:nvSpPr>
          <p:cNvPr id="3" name="Text 0"/>
          <p:cNvSpPr/>
          <p:nvPr>
            <p:ph idx="101" type="body" hasCustomPrompt="1"/>
          </p:nvPr>
        </p:nvSpPr>
        <p:spPr>
          <a:xfrm>
            <a:off x="548640" y="987552"/>
            <a:ext cx="8869680" cy="411480"/>
          </a:xfrm>
          <a:prstGeom prst="rect">
            <a:avLst/>
          </a:prstGeom>
          <a:noFill/>
          <a:ln/>
        </p:spPr>
        <p:txBody>
          <a:bodyPr wrap="square" lIns="0" tIns="0" rIns="0" bIns="0" rtlCol="0" anchor="t"/>
          <a:lstStyle/>
          <a:p>
            <a:pPr indent="0" marL="0">
              <a:buNone/>
            </a:pPr>
            <a:r>
              <a:rPr lang="en-US" sz="1600" dirty="0">
                <a:solidFill>
                  <a:schemeClr val="accent5"/>
                </a:solidFill>
              </a:rPr>
              <a:t>El segmento con descuento &gt; 10 no necesita un modelo: está todo atrasado</a:t>
            </a:r>
            <a:endParaRPr lang="en-US" sz="1600" dirty="0"/>
          </a:p>
        </p:txBody>
      </p:sp>
      <p:sp>
        <p:nvSpPr>
          <p:cNvPr id="4" name="fase S1"/>
          <p:cNvSpPr/>
          <p:nvPr/>
        </p:nvSpPr>
        <p:spPr>
          <a:xfrm>
            <a:off x="9537192" y="429768"/>
            <a:ext cx="457200" cy="457200"/>
          </a:xfrm>
          <a:prstGeom prst="ellipse">
            <a:avLst/>
          </a:prstGeom>
          <a:solidFill>
            <a:schemeClr val="accent1"/>
          </a:solidFill>
          <a:ln w="12700">
            <a:solidFill>
              <a:schemeClr val="accent1"/>
            </a:solidFill>
            <a:prstDash val="solid"/>
          </a:ln>
        </p:spPr>
      </p:sp>
      <p:sp>
        <p:nvSpPr>
          <p:cNvPr id="5" name="Text 3"/>
          <p:cNvSpPr txBox="1"/>
          <p:nvPr/>
        </p:nvSpPr>
        <p:spPr>
          <a:xfrm>
            <a:off x="9537192" y="429768"/>
            <a:ext cx="457200" cy="457200"/>
          </a:xfrm>
          <a:prstGeom prst="rect">
            <a:avLst/>
          </a:prstGeom>
          <a:noFill/>
          <a:ln/>
        </p:spPr>
        <p:txBody>
          <a:bodyPr wrap="square" lIns="0" tIns="0" rIns="0" bIns="0" rtlCol="0" anchor="ctr"/>
          <a:lstStyle/>
          <a:p>
            <a:pPr algn="ctr" indent="0" marL="0">
              <a:buNone/>
            </a:pPr>
            <a:r>
              <a:rPr lang="en-US" sz="1200" b="1" dirty="0">
                <a:solidFill>
                  <a:schemeClr val="bg1"/>
                </a:solidFill>
              </a:rPr>
              <a:t>S1</a:t>
            </a:r>
            <a:endParaRPr lang="en-US" sz="1200" dirty="0"/>
          </a:p>
        </p:txBody>
      </p:sp>
      <p:sp>
        <p:nvSpPr>
          <p:cNvPr id="6" name="fase S2"/>
          <p:cNvSpPr/>
          <p:nvPr/>
        </p:nvSpPr>
        <p:spPr>
          <a:xfrm>
            <a:off x="10085832" y="429768"/>
            <a:ext cx="457200" cy="457200"/>
          </a:xfrm>
          <a:prstGeom prst="ellipse">
            <a:avLst/>
          </a:prstGeom>
          <a:solidFill>
            <a:schemeClr val="accent1"/>
          </a:solidFill>
          <a:ln w="12700">
            <a:solidFill>
              <a:schemeClr val="accent1"/>
            </a:solidFill>
            <a:prstDash val="solid"/>
          </a:ln>
        </p:spPr>
      </p:sp>
      <p:sp>
        <p:nvSpPr>
          <p:cNvPr id="7" name="Text 5"/>
          <p:cNvSpPr txBox="1"/>
          <p:nvPr/>
        </p:nvSpPr>
        <p:spPr>
          <a:xfrm>
            <a:off x="10085832" y="429768"/>
            <a:ext cx="457200" cy="457200"/>
          </a:xfrm>
          <a:prstGeom prst="rect">
            <a:avLst/>
          </a:prstGeom>
          <a:noFill/>
          <a:ln/>
        </p:spPr>
        <p:txBody>
          <a:bodyPr wrap="square" lIns="0" tIns="0" rIns="0" bIns="0" rtlCol="0" anchor="ctr"/>
          <a:lstStyle/>
          <a:p>
            <a:pPr algn="ctr" indent="0" marL="0">
              <a:buNone/>
            </a:pPr>
            <a:r>
              <a:rPr lang="en-US" sz="1200" b="1" dirty="0">
                <a:solidFill>
                  <a:schemeClr val="bg1"/>
                </a:solidFill>
              </a:rPr>
              <a:t>S2</a:t>
            </a:r>
            <a:endParaRPr lang="en-US" sz="1200" dirty="0"/>
          </a:p>
        </p:txBody>
      </p:sp>
      <p:sp>
        <p:nvSpPr>
          <p:cNvPr id="8" name="fase F2"/>
          <p:cNvSpPr/>
          <p:nvPr/>
        </p:nvSpPr>
        <p:spPr>
          <a:xfrm>
            <a:off x="10634472" y="429768"/>
            <a:ext cx="457200" cy="457200"/>
          </a:xfrm>
          <a:prstGeom prst="ellipse">
            <a:avLst/>
          </a:prstGeom>
          <a:solidFill>
            <a:schemeClr val="accent1"/>
          </a:solidFill>
          <a:ln w="12700">
            <a:solidFill>
              <a:schemeClr val="accent1"/>
            </a:solidFill>
            <a:prstDash val="solid"/>
          </a:ln>
        </p:spPr>
      </p:sp>
      <p:sp>
        <p:nvSpPr>
          <p:cNvPr id="9" name="Text 7"/>
          <p:cNvSpPr txBox="1"/>
          <p:nvPr/>
        </p:nvSpPr>
        <p:spPr>
          <a:xfrm>
            <a:off x="10634472" y="429768"/>
            <a:ext cx="457200" cy="457200"/>
          </a:xfrm>
          <a:prstGeom prst="rect">
            <a:avLst/>
          </a:prstGeom>
          <a:noFill/>
          <a:ln/>
        </p:spPr>
        <p:txBody>
          <a:bodyPr wrap="square" lIns="0" tIns="0" rIns="0" bIns="0" rtlCol="0" anchor="ctr"/>
          <a:lstStyle/>
          <a:p>
            <a:pPr algn="ctr" indent="0" marL="0">
              <a:buNone/>
            </a:pPr>
            <a:r>
              <a:rPr lang="en-US" sz="1200" b="1" dirty="0">
                <a:solidFill>
                  <a:schemeClr val="bg1"/>
                </a:solidFill>
              </a:rPr>
              <a:t>F2</a:t>
            </a:r>
            <a:endParaRPr lang="en-US" sz="1200" dirty="0"/>
          </a:p>
        </p:txBody>
      </p:sp>
      <p:sp>
        <p:nvSpPr>
          <p:cNvPr id="10" name="fase S3"/>
          <p:cNvSpPr/>
          <p:nvPr/>
        </p:nvSpPr>
        <p:spPr>
          <a:xfrm>
            <a:off x="11183112" y="429768"/>
            <a:ext cx="457200" cy="457200"/>
          </a:xfrm>
          <a:prstGeom prst="ellipse">
            <a:avLst/>
          </a:prstGeom>
          <a:solidFill>
            <a:schemeClr val="accent2"/>
          </a:solidFill>
          <a:ln w="12700">
            <a:solidFill>
              <a:schemeClr val="accent2"/>
            </a:solidFill>
            <a:prstDash val="solid"/>
          </a:ln>
        </p:spPr>
      </p:sp>
      <p:sp>
        <p:nvSpPr>
          <p:cNvPr id="11" name="Text 9"/>
          <p:cNvSpPr txBox="1"/>
          <p:nvPr/>
        </p:nvSpPr>
        <p:spPr>
          <a:xfrm>
            <a:off x="11183112" y="429768"/>
            <a:ext cx="457200" cy="457200"/>
          </a:xfrm>
          <a:prstGeom prst="rect">
            <a:avLst/>
          </a:prstGeom>
          <a:noFill/>
          <a:ln/>
        </p:spPr>
        <p:txBody>
          <a:bodyPr wrap="square" lIns="0" tIns="0" rIns="0" bIns="0" rtlCol="0" anchor="ctr"/>
          <a:lstStyle/>
          <a:p>
            <a:pPr algn="ctr" indent="0" marL="0">
              <a:buNone/>
            </a:pPr>
            <a:r>
              <a:rPr lang="en-US" sz="1200" b="1" dirty="0">
                <a:solidFill>
                  <a:schemeClr val="tx1"/>
                </a:solidFill>
              </a:rPr>
              <a:t>S3</a:t>
            </a:r>
            <a:endParaRPr lang="en-US" sz="1200" dirty="0"/>
          </a:p>
        </p:txBody>
      </p:sp>
      <p:sp>
        <p:nvSpPr>
          <p:cNvPr id="12" name="total envíos"/>
          <p:cNvSpPr/>
          <p:nvPr/>
        </p:nvSpPr>
        <p:spPr>
          <a:xfrm>
            <a:off x="548640" y="2788920"/>
            <a:ext cx="2377440" cy="1371600"/>
          </a:xfrm>
          <a:prstGeom prst="roundRect">
            <a:avLst>
              <a:gd name="adj" fmla="val 5333"/>
            </a:avLst>
          </a:prstGeom>
          <a:solidFill>
            <a:schemeClr val="tx2"/>
          </a:solidFill>
          <a:ln w="12700">
            <a:solidFill>
              <a:schemeClr val="tx2"/>
            </a:solidFill>
            <a:prstDash val="solid"/>
          </a:ln>
        </p:spPr>
      </p:sp>
      <p:sp>
        <p:nvSpPr>
          <p:cNvPr id="13" name="Text 11"/>
          <p:cNvSpPr txBox="1"/>
          <p:nvPr/>
        </p:nvSpPr>
        <p:spPr>
          <a:xfrm>
            <a:off x="685800" y="2788920"/>
            <a:ext cx="2103120" cy="1371600"/>
          </a:xfrm>
          <a:prstGeom prst="rect">
            <a:avLst/>
          </a:prstGeom>
          <a:noFill/>
          <a:ln/>
        </p:spPr>
        <p:txBody>
          <a:bodyPr wrap="square" lIns="0" tIns="0" rIns="0" bIns="0" rtlCol="0" anchor="ctr"/>
          <a:lstStyle/>
          <a:p>
            <a:pPr indent="0" marL="0">
              <a:buNone/>
            </a:pPr>
            <a:r>
              <a:rPr lang="en-US" sz="2000" b="1" dirty="0">
                <a:solidFill>
                  <a:schemeClr val="bg1"/>
                </a:solidFill>
              </a:rPr>
              <a:t>10.999 envíos</a:t>
            </a:r>
            <a:endParaRPr lang="en-US" sz="2000" dirty="0"/>
          </a:p>
          <a:p>
            <a:pPr indent="0" marL="0">
              <a:buNone/>
            </a:pPr>
            <a:r>
              <a:rPr lang="en-US" sz="1300" dirty="0">
                <a:solidFill>
                  <a:schemeClr val="accent4"/>
                </a:solidFill>
              </a:rPr>
              <a:t>Entrenamiento: 7.699</a:t>
            </a:r>
            <a:endParaRPr lang="en-US" sz="2000" dirty="0"/>
          </a:p>
          <a:p>
            <a:pPr indent="0" marL="0">
              <a:buNone/>
            </a:pPr>
            <a:r>
              <a:rPr lang="en-US" sz="1300" dirty="0">
                <a:solidFill>
                  <a:schemeClr val="accent4"/>
                </a:solidFill>
              </a:rPr>
              <a:t>Prueba: 3.300</a:t>
            </a:r>
            <a:endParaRPr lang="en-US" sz="2000" dirty="0"/>
          </a:p>
        </p:txBody>
      </p:sp>
      <p:sp>
        <p:nvSpPr>
          <p:cNvPr id="14" name="flecha superior"/>
          <p:cNvSpPr/>
          <p:nvPr/>
        </p:nvSpPr>
        <p:spPr>
          <a:xfrm flipV="1">
            <a:off x="2926080" y="2468880"/>
            <a:ext cx="640080" cy="1005840"/>
          </a:xfrm>
          <a:prstGeom prst="line">
            <a:avLst/>
          </a:prstGeom>
          <a:noFill/>
          <a:ln w="25400">
            <a:solidFill>
              <a:schemeClr val="accent5"/>
            </a:solidFill>
            <a:prstDash val="solid"/>
            <a:tailEnd type="triangle"/>
          </a:ln>
        </p:spPr>
      </p:sp>
      <p:sp>
        <p:nvSpPr>
          <p:cNvPr id="15" name="flecha inferior"/>
          <p:cNvSpPr/>
          <p:nvPr/>
        </p:nvSpPr>
        <p:spPr>
          <a:xfrm>
            <a:off x="2926080" y="3474720"/>
            <a:ext cx="640080" cy="1005840"/>
          </a:xfrm>
          <a:prstGeom prst="line">
            <a:avLst/>
          </a:prstGeom>
          <a:noFill/>
          <a:ln w="25400">
            <a:solidFill>
              <a:schemeClr val="accent5"/>
            </a:solidFill>
            <a:prstDash val="solid"/>
            <a:tailEnd type="triangle"/>
          </a:ln>
        </p:spPr>
      </p:sp>
      <p:sp>
        <p:nvSpPr>
          <p:cNvPr id="16" name="rama 1"/>
          <p:cNvSpPr/>
          <p:nvPr/>
        </p:nvSpPr>
        <p:spPr>
          <a:xfrm>
            <a:off x="3611880" y="1645920"/>
            <a:ext cx="4251960" cy="1691640"/>
          </a:xfrm>
          <a:prstGeom prst="roundRect">
            <a:avLst>
              <a:gd name="adj" fmla="val 4324"/>
            </a:avLst>
          </a:prstGeom>
          <a:solidFill>
            <a:srgbClr val="F7E6CC"/>
          </a:solidFill>
          <a:ln w="12700">
            <a:solidFill>
              <a:srgbClr val="F7E6CC"/>
            </a:solidFill>
            <a:prstDash val="solid"/>
          </a:ln>
        </p:spPr>
      </p:sp>
      <p:sp>
        <p:nvSpPr>
          <p:cNvPr id="17" name="Text 15"/>
          <p:cNvSpPr txBox="1"/>
          <p:nvPr/>
        </p:nvSpPr>
        <p:spPr>
          <a:xfrm>
            <a:off x="3840480" y="1645920"/>
            <a:ext cx="3840480" cy="1691640"/>
          </a:xfrm>
          <a:prstGeom prst="rect">
            <a:avLst/>
          </a:prstGeom>
          <a:noFill/>
          <a:ln/>
        </p:spPr>
        <p:txBody>
          <a:bodyPr wrap="square" lIns="0" tIns="0" rIns="0" bIns="0" rtlCol="0" anchor="ctr"/>
          <a:lstStyle/>
          <a:p>
            <a:pPr indent="0" marL="0">
              <a:spcAft>
                <a:spcPts val="400"/>
              </a:spcAft>
              <a:buNone/>
            </a:pPr>
            <a:r>
              <a:rPr lang="en-US" sz="1900" b="1" dirty="0">
                <a:solidFill>
                  <a:schemeClr val="tx2"/>
                </a:solidFill>
              </a:rPr>
              <a:t>Descuento &gt; 10</a:t>
            </a:r>
            <a:endParaRPr lang="en-US" sz="1900" dirty="0"/>
          </a:p>
          <a:p>
            <a:pPr indent="0" marL="0">
              <a:spcAft>
                <a:spcPts val="400"/>
              </a:spcAft>
              <a:buNone/>
            </a:pPr>
            <a:r>
              <a:rPr lang="en-US" sz="1400" dirty="0">
                <a:solidFill>
                  <a:schemeClr val="tx1"/>
                </a:solidFill>
              </a:rPr>
              <a:t>2.647 envíos · 100 % atrasados en S1</a:t>
            </a:r>
            <a:endParaRPr lang="en-US" sz="1900" dirty="0"/>
          </a:p>
          <a:p>
            <a:pPr indent="0" marL="0">
              <a:spcAft>
                <a:spcPts val="400"/>
              </a:spcAft>
              <a:buNone/>
            </a:pPr>
            <a:r>
              <a:rPr lang="en-US" sz="1400" b="1" dirty="0">
                <a:solidFill>
                  <a:schemeClr val="tx1"/>
                </a:solidFill>
              </a:rPr>
              <a:t>→ Regla: probabilidad = tasa de atraso del entrenamiento (0,926)</a:t>
            </a:r>
            <a:endParaRPr lang="en-US" sz="1900" dirty="0"/>
          </a:p>
        </p:txBody>
      </p:sp>
      <p:sp>
        <p:nvSpPr>
          <p:cNvPr id="18" name="rama 2"/>
          <p:cNvSpPr/>
          <p:nvPr/>
        </p:nvSpPr>
        <p:spPr>
          <a:xfrm>
            <a:off x="3611880" y="3657600"/>
            <a:ext cx="4251960" cy="1691640"/>
          </a:xfrm>
          <a:prstGeom prst="roundRect">
            <a:avLst>
              <a:gd name="adj" fmla="val 4324"/>
            </a:avLst>
          </a:prstGeom>
          <a:solidFill>
            <a:srgbClr val="EDF2F3"/>
          </a:solidFill>
          <a:ln w="12700">
            <a:solidFill>
              <a:srgbClr val="EDF2F3"/>
            </a:solidFill>
            <a:prstDash val="solid"/>
          </a:ln>
        </p:spPr>
      </p:sp>
      <p:sp>
        <p:nvSpPr>
          <p:cNvPr id="19" name="Text 17"/>
          <p:cNvSpPr txBox="1"/>
          <p:nvPr/>
        </p:nvSpPr>
        <p:spPr>
          <a:xfrm>
            <a:off x="3840480" y="3657600"/>
            <a:ext cx="3840480" cy="1691640"/>
          </a:xfrm>
          <a:prstGeom prst="rect">
            <a:avLst/>
          </a:prstGeom>
          <a:noFill/>
          <a:ln/>
        </p:spPr>
        <p:txBody>
          <a:bodyPr wrap="square" lIns="0" tIns="0" rIns="0" bIns="0" rtlCol="0" anchor="ctr"/>
          <a:lstStyle/>
          <a:p>
            <a:pPr indent="0" marL="0">
              <a:spcAft>
                <a:spcPts val="400"/>
              </a:spcAft>
              <a:buNone/>
            </a:pPr>
            <a:r>
              <a:rPr lang="en-US" sz="1900" b="1" dirty="0">
                <a:solidFill>
                  <a:schemeClr val="tx2"/>
                </a:solidFill>
              </a:rPr>
              <a:t>Descuento ≤ 10</a:t>
            </a:r>
            <a:endParaRPr lang="en-US" sz="1900" dirty="0"/>
          </a:p>
          <a:p>
            <a:pPr indent="0" marL="0">
              <a:spcAft>
                <a:spcPts val="400"/>
              </a:spcAft>
              <a:buNone/>
            </a:pPr>
            <a:r>
              <a:rPr lang="en-US" sz="1400" dirty="0">
                <a:solidFill>
                  <a:schemeClr val="tx1"/>
                </a:solidFill>
              </a:rPr>
              <a:t>8.352 envíos · 46,9 % atrasados</a:t>
            </a:r>
            <a:endParaRPr lang="en-US" sz="1900" dirty="0"/>
          </a:p>
          <a:p>
            <a:pPr indent="0" marL="0">
              <a:spcAft>
                <a:spcPts val="400"/>
              </a:spcAft>
              <a:buNone/>
            </a:pPr>
            <a:r>
              <a:rPr lang="en-US" sz="1400" b="1" dirty="0">
                <a:solidFill>
                  <a:schemeClr val="accent1"/>
                </a:solidFill>
              </a:rPr>
              <a:t>→ Tres modelos logísticos (entrenamiento: 5.572 envíos)</a:t>
            </a:r>
            <a:endParaRPr lang="en-US" sz="1900" dirty="0"/>
          </a:p>
        </p:txBody>
      </p:sp>
      <p:sp>
        <p:nvSpPr>
          <p:cNvPr id="20" name="por qué segmentar"/>
          <p:cNvSpPr/>
          <p:nvPr/>
        </p:nvSpPr>
        <p:spPr>
          <a:xfrm>
            <a:off x="8183880" y="1645920"/>
            <a:ext cx="3456432" cy="3703320"/>
          </a:xfrm>
          <a:prstGeom prst="roundRect">
            <a:avLst>
              <a:gd name="adj" fmla="val 2116"/>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21" name="Text 19"/>
          <p:cNvSpPr txBox="1"/>
          <p:nvPr/>
        </p:nvSpPr>
        <p:spPr>
          <a:xfrm>
            <a:off x="8412480" y="1783080"/>
            <a:ext cx="3017520" cy="411480"/>
          </a:xfrm>
          <a:prstGeom prst="rect">
            <a:avLst/>
          </a:prstGeom>
          <a:noFill/>
          <a:ln/>
        </p:spPr>
        <p:txBody>
          <a:bodyPr wrap="square" lIns="0" tIns="0" rIns="0" bIns="0" rtlCol="0" anchor="ctr"/>
          <a:lstStyle/>
          <a:p>
            <a:pPr indent="0" marL="0">
              <a:buNone/>
            </a:pPr>
            <a:r>
              <a:rPr lang="en-US" sz="1700" b="1" dirty="0">
                <a:solidFill>
                  <a:schemeClr val="tx2"/>
                </a:solidFill>
                <a:latin typeface="Cambria" pitchFamily="34" charset="0"/>
                <a:ea typeface="Cambria" pitchFamily="34" charset="-122"/>
                <a:cs typeface="Cambria" pitchFamily="34" charset="-120"/>
              </a:rPr>
              <a:t>¿Por qué segmentar?</a:t>
            </a:r>
            <a:endParaRPr lang="en-US" sz="1700" dirty="0"/>
          </a:p>
        </p:txBody>
      </p:sp>
      <p:sp>
        <p:nvSpPr>
          <p:cNvPr id="22" name="Text 20"/>
          <p:cNvSpPr txBox="1"/>
          <p:nvPr/>
        </p:nvSpPr>
        <p:spPr>
          <a:xfrm>
            <a:off x="8412480" y="2286000"/>
            <a:ext cx="3063240" cy="29260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Un indicador de descuento &gt; 10 produce separación completa: su coeficiente no existe</a:t>
            </a:r>
            <a:endParaRPr lang="en-US" sz="1400" dirty="0"/>
          </a:p>
          <a:p>
            <a:pPr marL="342900" indent="-342900">
              <a:spcAft>
                <a:spcPts val="800"/>
              </a:spcAft>
              <a:buSzPct val="100000"/>
              <a:buChar char="•"/>
            </a:pPr>
            <a:r>
              <a:rPr lang="en-US" sz="1400" dirty="0">
                <a:solidFill>
                  <a:schemeClr val="tx1"/>
                </a:solidFill>
              </a:rPr>
              <a:t>En F2, fuera de ese segmento, el modelo discriminaba como el azar (AUC 0,521)</a:t>
            </a:r>
            <a:endParaRPr lang="en-US" sz="1400" dirty="0"/>
          </a:p>
          <a:p>
            <a:pPr marL="342900" indent="-342900">
              <a:spcAft>
                <a:spcPts val="800"/>
              </a:spcAft>
              <a:buSzPct val="100000"/>
              <a:buChar char="•"/>
            </a:pPr>
            <a:r>
              <a:rPr lang="en-US" sz="1400" dirty="0">
                <a:solidFill>
                  <a:schemeClr val="tx1"/>
                </a:solidFill>
              </a:rPr>
              <a:t>Aplicamos así la retroalimentación recibida en F2</a:t>
            </a:r>
            <a:endParaRPr lang="en-US" sz="1400" dirty="0"/>
          </a:p>
        </p:txBody>
      </p:sp>
      <p:sp>
        <p:nvSpPr>
          <p:cNvPr id="23" name="Text 21"/>
          <p:cNvSpPr txBox="1"/>
          <p:nvPr/>
        </p:nvSpPr>
        <p:spPr>
          <a:xfrm>
            <a:off x="548640" y="5577840"/>
            <a:ext cx="11091672" cy="411480"/>
          </a:xfrm>
          <a:prstGeom prst="rect">
            <a:avLst/>
          </a:prstGeom>
          <a:noFill/>
          <a:ln/>
        </p:spPr>
        <p:txBody>
          <a:bodyPr wrap="square" lIns="0" tIns="0" rIns="0" bIns="0" rtlCol="0" anchor="ctr"/>
          <a:lstStyle/>
          <a:p>
            <a:pPr indent="0" marL="0">
              <a:buNone/>
            </a:pPr>
            <a:r>
              <a:rPr lang="en-US" sz="1500" b="1" dirty="0">
                <a:solidFill>
                  <a:schemeClr val="tx1"/>
                </a:solidFill>
              </a:rPr>
              <a:t>Clasificador combinado </a:t>
            </a:r>
            <a:pPr indent="0" marL="0">
              <a:buNone/>
            </a:pPr>
            <a:r>
              <a:rPr lang="en-US" sz="1500" dirty="0">
                <a:solidFill>
                  <a:schemeClr val="tx1"/>
                </a:solidFill>
              </a:rPr>
              <a:t>= modelo en ≤ 10 + regla en &gt; 10, evaluado sobre todos los envíos para compararlo con F2.</a:t>
            </a:r>
            <a:endParaRPr lang="en-US" sz="1500" dirty="0"/>
          </a:p>
        </p:txBody>
      </p:sp>
      <p:sp>
        <p:nvSpPr>
          <p:cNvPr id="24" name="Text 22"/>
          <p:cNvSpPr txBox="1"/>
          <p:nvPr/>
        </p:nvSpPr>
        <p:spPr>
          <a:xfrm>
            <a:off x="548640" y="6382512"/>
            <a:ext cx="5486400" cy="274320"/>
          </a:xfrm>
          <a:prstGeom prst="rect">
            <a:avLst/>
          </a:prstGeom>
          <a:noFill/>
          <a:ln/>
        </p:spPr>
        <p:txBody>
          <a:bodyPr wrap="square" lIns="0" tIns="0" rIns="0" bIns="0" rtlCol="0" anchor="ctr"/>
          <a:lstStyle/>
          <a:p>
            <a:pPr indent="0" marL="0">
              <a:buNone/>
            </a:pPr>
            <a:r>
              <a:rPr lang="en-US" sz="1100" b="1" dirty="0">
                <a:solidFill>
                  <a:schemeClr val="accent5"/>
                </a:solidFill>
              </a:rPr>
              <a:t>Expone: </a:t>
            </a:r>
            <a:pPr indent="0" marL="0">
              <a:buNone/>
            </a:pPr>
            <a:r>
              <a:rPr lang="en-US" sz="1100" dirty="0">
                <a:solidFill>
                  <a:schemeClr val="accent5"/>
                </a:solidFill>
              </a:rPr>
              <a:t>Sebastián Rojas Araya</a:t>
            </a:r>
            <a:endParaRPr lang="en-US" sz="1100" dirty="0"/>
          </a:p>
        </p:txBody>
      </p:sp>
      <p:sp>
        <p:nvSpPr>
          <p:cNvPr id="25" name="Slide Number Placeholder 0"/>
          <p:cNvSpPr>
            <a:spLocks noGrp="1"/>
          </p:cNvSpPr>
          <p:nvPr>
            <p:ph type="sldNum" sz="quarter" idx="4294967295"/>
          </p:nvPr>
        </p:nvSpPr>
        <p:spPr>
          <a:xfrm>
            <a:off x="11338560" y="6382512"/>
            <a:ext cx="3200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869680" cy="685800"/>
          </a:xfrm>
          <a:prstGeom prst="rect">
            <a:avLst/>
          </a:prstGeom>
          <a:noFill/>
          <a:ln/>
        </p:spPr>
        <p:txBody>
          <a:bodyPr wrap="square" lIns="0" tIns="0" rIns="0" bIns="0" rtlCol="0" anchor="ctr"/>
          <a:lstStyle/>
          <a:p>
            <a:pPr algn="l" indent="0" marL="0">
              <a:buNone/>
            </a:pPr>
            <a:r>
              <a:rPr lang="en-US" sz="3000" b="1" dirty="0">
                <a:solidFill>
                  <a:schemeClr val="tx2"/>
                </a:solidFill>
              </a:rPr>
              <a:t>M3, solo con el peso, gana por parsimonia</a:t>
            </a:r>
            <a:endParaRPr lang="en-US" sz="3000" dirty="0"/>
          </a:p>
        </p:txBody>
      </p:sp>
      <p:sp>
        <p:nvSpPr>
          <p:cNvPr id="3" name="Text 0"/>
          <p:cNvSpPr/>
          <p:nvPr>
            <p:ph idx="101" type="body" hasCustomPrompt="1"/>
          </p:nvPr>
        </p:nvSpPr>
        <p:spPr>
          <a:xfrm>
            <a:off x="548640" y="987552"/>
            <a:ext cx="8869680" cy="411480"/>
          </a:xfrm>
          <a:prstGeom prst="rect">
            <a:avLst/>
          </a:prstGeom>
          <a:noFill/>
          <a:ln/>
        </p:spPr>
        <p:txBody>
          <a:bodyPr wrap="square" lIns="0" tIns="0" rIns="0" bIns="0" rtlCol="0" anchor="t"/>
          <a:lstStyle/>
          <a:p>
            <a:pPr indent="0" marL="0">
              <a:buNone/>
            </a:pPr>
            <a:r>
              <a:rPr lang="en-US" sz="1600" dirty="0">
                <a:solidFill>
                  <a:schemeClr val="accent5"/>
                </a:solidFill>
              </a:rPr>
              <a:t>Tres especificaciones en el segmento ≤ 10, con F2 como referencia</a:t>
            </a:r>
            <a:endParaRPr lang="en-US" sz="1600" dirty="0"/>
          </a:p>
        </p:txBody>
      </p:sp>
      <p:sp>
        <p:nvSpPr>
          <p:cNvPr id="4" name="fase S1"/>
          <p:cNvSpPr/>
          <p:nvPr/>
        </p:nvSpPr>
        <p:spPr>
          <a:xfrm>
            <a:off x="9537192" y="429768"/>
            <a:ext cx="457200" cy="457200"/>
          </a:xfrm>
          <a:prstGeom prst="ellipse">
            <a:avLst/>
          </a:prstGeom>
          <a:solidFill>
            <a:schemeClr val="accent1"/>
          </a:solidFill>
          <a:ln w="12700">
            <a:solidFill>
              <a:schemeClr val="accent1"/>
            </a:solidFill>
            <a:prstDash val="solid"/>
          </a:ln>
        </p:spPr>
      </p:sp>
      <p:sp>
        <p:nvSpPr>
          <p:cNvPr id="5" name="Text 3"/>
          <p:cNvSpPr txBox="1"/>
          <p:nvPr/>
        </p:nvSpPr>
        <p:spPr>
          <a:xfrm>
            <a:off x="9537192" y="429768"/>
            <a:ext cx="457200" cy="457200"/>
          </a:xfrm>
          <a:prstGeom prst="rect">
            <a:avLst/>
          </a:prstGeom>
          <a:noFill/>
          <a:ln/>
        </p:spPr>
        <p:txBody>
          <a:bodyPr wrap="square" lIns="0" tIns="0" rIns="0" bIns="0" rtlCol="0" anchor="ctr"/>
          <a:lstStyle/>
          <a:p>
            <a:pPr algn="ctr" indent="0" marL="0">
              <a:buNone/>
            </a:pPr>
            <a:r>
              <a:rPr lang="en-US" sz="1200" b="1" dirty="0">
                <a:solidFill>
                  <a:schemeClr val="bg1"/>
                </a:solidFill>
              </a:rPr>
              <a:t>S1</a:t>
            </a:r>
            <a:endParaRPr lang="en-US" sz="1200" dirty="0"/>
          </a:p>
        </p:txBody>
      </p:sp>
      <p:sp>
        <p:nvSpPr>
          <p:cNvPr id="6" name="fase S2"/>
          <p:cNvSpPr/>
          <p:nvPr/>
        </p:nvSpPr>
        <p:spPr>
          <a:xfrm>
            <a:off x="10085832" y="429768"/>
            <a:ext cx="457200" cy="457200"/>
          </a:xfrm>
          <a:prstGeom prst="ellipse">
            <a:avLst/>
          </a:prstGeom>
          <a:solidFill>
            <a:schemeClr val="accent1"/>
          </a:solidFill>
          <a:ln w="12700">
            <a:solidFill>
              <a:schemeClr val="accent1"/>
            </a:solidFill>
            <a:prstDash val="solid"/>
          </a:ln>
        </p:spPr>
      </p:sp>
      <p:sp>
        <p:nvSpPr>
          <p:cNvPr id="7" name="Text 5"/>
          <p:cNvSpPr txBox="1"/>
          <p:nvPr/>
        </p:nvSpPr>
        <p:spPr>
          <a:xfrm>
            <a:off x="10085832" y="429768"/>
            <a:ext cx="457200" cy="457200"/>
          </a:xfrm>
          <a:prstGeom prst="rect">
            <a:avLst/>
          </a:prstGeom>
          <a:noFill/>
          <a:ln/>
        </p:spPr>
        <p:txBody>
          <a:bodyPr wrap="square" lIns="0" tIns="0" rIns="0" bIns="0" rtlCol="0" anchor="ctr"/>
          <a:lstStyle/>
          <a:p>
            <a:pPr algn="ctr" indent="0" marL="0">
              <a:buNone/>
            </a:pPr>
            <a:r>
              <a:rPr lang="en-US" sz="1200" b="1" dirty="0">
                <a:solidFill>
                  <a:schemeClr val="bg1"/>
                </a:solidFill>
              </a:rPr>
              <a:t>S2</a:t>
            </a:r>
            <a:endParaRPr lang="en-US" sz="1200" dirty="0"/>
          </a:p>
        </p:txBody>
      </p:sp>
      <p:sp>
        <p:nvSpPr>
          <p:cNvPr id="8" name="fase F2"/>
          <p:cNvSpPr/>
          <p:nvPr/>
        </p:nvSpPr>
        <p:spPr>
          <a:xfrm>
            <a:off x="10634472" y="429768"/>
            <a:ext cx="457200" cy="457200"/>
          </a:xfrm>
          <a:prstGeom prst="ellipse">
            <a:avLst/>
          </a:prstGeom>
          <a:solidFill>
            <a:schemeClr val="accent1"/>
          </a:solidFill>
          <a:ln w="12700">
            <a:solidFill>
              <a:schemeClr val="accent1"/>
            </a:solidFill>
            <a:prstDash val="solid"/>
          </a:ln>
        </p:spPr>
      </p:sp>
      <p:sp>
        <p:nvSpPr>
          <p:cNvPr id="9" name="Text 7"/>
          <p:cNvSpPr txBox="1"/>
          <p:nvPr/>
        </p:nvSpPr>
        <p:spPr>
          <a:xfrm>
            <a:off x="10634472" y="429768"/>
            <a:ext cx="457200" cy="457200"/>
          </a:xfrm>
          <a:prstGeom prst="rect">
            <a:avLst/>
          </a:prstGeom>
          <a:noFill/>
          <a:ln/>
        </p:spPr>
        <p:txBody>
          <a:bodyPr wrap="square" lIns="0" tIns="0" rIns="0" bIns="0" rtlCol="0" anchor="ctr"/>
          <a:lstStyle/>
          <a:p>
            <a:pPr algn="ctr" indent="0" marL="0">
              <a:buNone/>
            </a:pPr>
            <a:r>
              <a:rPr lang="en-US" sz="1200" b="1" dirty="0">
                <a:solidFill>
                  <a:schemeClr val="bg1"/>
                </a:solidFill>
              </a:rPr>
              <a:t>F2</a:t>
            </a:r>
            <a:endParaRPr lang="en-US" sz="1200" dirty="0"/>
          </a:p>
        </p:txBody>
      </p:sp>
      <p:sp>
        <p:nvSpPr>
          <p:cNvPr id="10" name="fase S3"/>
          <p:cNvSpPr/>
          <p:nvPr/>
        </p:nvSpPr>
        <p:spPr>
          <a:xfrm>
            <a:off x="11183112" y="429768"/>
            <a:ext cx="457200" cy="457200"/>
          </a:xfrm>
          <a:prstGeom prst="ellipse">
            <a:avLst/>
          </a:prstGeom>
          <a:solidFill>
            <a:schemeClr val="accent2"/>
          </a:solidFill>
          <a:ln w="12700">
            <a:solidFill>
              <a:schemeClr val="accent2"/>
            </a:solidFill>
            <a:prstDash val="solid"/>
          </a:ln>
        </p:spPr>
      </p:sp>
      <p:sp>
        <p:nvSpPr>
          <p:cNvPr id="11" name="Text 9"/>
          <p:cNvSpPr txBox="1"/>
          <p:nvPr/>
        </p:nvSpPr>
        <p:spPr>
          <a:xfrm>
            <a:off x="11183112" y="429768"/>
            <a:ext cx="457200" cy="457200"/>
          </a:xfrm>
          <a:prstGeom prst="rect">
            <a:avLst/>
          </a:prstGeom>
          <a:noFill/>
          <a:ln/>
        </p:spPr>
        <p:txBody>
          <a:bodyPr wrap="square" lIns="0" tIns="0" rIns="0" bIns="0" rtlCol="0" anchor="ctr"/>
          <a:lstStyle/>
          <a:p>
            <a:pPr algn="ctr" indent="0" marL="0">
              <a:buNone/>
            </a:pPr>
            <a:r>
              <a:rPr lang="en-US" sz="1200" b="1" dirty="0">
                <a:solidFill>
                  <a:schemeClr val="tx1"/>
                </a:solidFill>
              </a:rPr>
              <a:t>S3</a:t>
            </a:r>
            <a:endParaRPr lang="en-US" sz="1200" dirty="0"/>
          </a:p>
        </p:txBody>
      </p:sp>
      <p:graphicFrame>
        <p:nvGraphicFramePr>
          <p:cNvPr id="10" name="tabla modelos"/>
          <p:cNvGraphicFramePr>
            <a:graphicFrameLocks noGrp="1"/>
          </p:cNvGraphicFramePr>
          <p:nvPr>
            <p:extLst>
              <p:ext uri="{D42A27DB-BD31-4B8C-83A1-F6EECF244321}">
                <p14:modId xmlns:p14="http://schemas.microsoft.com/office/powerpoint/2010/main" val="1579011935"/>
              </p:ext>
            </p:extLst>
          </p:nvPr>
        </p:nvGraphicFramePr>
        <p:xfrm>
          <a:off x="548640" y="1645920"/>
          <a:ext cx="11091672" cy="914400"/>
        </p:xfrm>
        <a:graphic>
          <a:graphicData uri="http://schemas.openxmlformats.org/drawingml/2006/table">
            <a:tbl>
              <a:tblPr/>
              <a:tblGrid>
                <a:gridCol w="1097280"/>
                <a:gridCol w="4325112"/>
                <a:gridCol w="1280160"/>
                <a:gridCol w="1280160"/>
                <a:gridCol w="1554480"/>
                <a:gridCol w="1554480"/>
              </a:tblGrid>
              <a:tr h="512064">
                <a:tc>
                  <a:txBody>
                    <a:bodyPr/>
                    <a:lstStyle/>
                    <a:p>
                      <a:pPr indent="0" marL="0">
                        <a:buNone/>
                      </a:pPr>
                      <a:r>
                        <a:rPr lang="en-US" sz="1500" b="1" dirty="0">
                          <a:solidFill>
                            <a:srgbClr val="FFFFFF"/>
                          </a:solidFill>
                        </a:rPr>
                        <a:t>Modelo</a:t>
                      </a:r>
                      <a:endParaRPr lang="en-US" sz="1500" dirty="0"/>
                    </a:p>
                  </a:txBody>
                  <a:tcPr marL="109728" marR="109728" marT="0" marB="0" anchor="ctr">
                    <a:lnL w="0" cap="flat" cmpd="sng" algn="ctr">
                      <a:noFill/>
                    </a:lnL>
                    <a:lnR w="0" cap="flat" cmpd="sng" algn="ctr">
                      <a:noFill/>
                    </a:lnR>
                    <a:lnT w="0" cap="flat" cmpd="sng" algn="ctr">
                      <a:noFill/>
                    </a:lnT>
                    <a:lnB w="0" cap="flat" cmpd="sng" algn="ctr">
                      <a:noFill/>
                    </a:lnB>
                    <a:solidFill>
                      <a:srgbClr val="123F4A"/>
                    </a:solidFill>
                  </a:tcPr>
                </a:tc>
                <a:tc>
                  <a:txBody>
                    <a:bodyPr/>
                    <a:lstStyle/>
                    <a:p>
                      <a:pPr indent="0" marL="0">
                        <a:buNone/>
                      </a:pPr>
                      <a:r>
                        <a:rPr lang="en-US" sz="1500" b="1" dirty="0">
                          <a:solidFill>
                            <a:srgbClr val="FFFFFF"/>
                          </a:solidFill>
                        </a:rPr>
                        <a:t>Variables</a:t>
                      </a:r>
                      <a:endParaRPr lang="en-US" sz="1500" dirty="0"/>
                    </a:p>
                  </a:txBody>
                  <a:tcPr marL="109728" marR="109728" marT="0" marB="0" anchor="ctr">
                    <a:lnL w="0" cap="flat" cmpd="sng" algn="ctr">
                      <a:noFill/>
                    </a:lnL>
                    <a:lnR w="0" cap="flat" cmpd="sng" algn="ctr">
                      <a:noFill/>
                    </a:lnR>
                    <a:lnT w="0" cap="flat" cmpd="sng" algn="ctr">
                      <a:noFill/>
                    </a:lnT>
                    <a:lnB w="0" cap="flat" cmpd="sng" algn="ctr">
                      <a:noFill/>
                    </a:lnB>
                    <a:solidFill>
                      <a:srgbClr val="123F4A"/>
                    </a:solidFill>
                  </a:tcPr>
                </a:tc>
                <a:tc>
                  <a:txBody>
                    <a:bodyPr/>
                    <a:lstStyle/>
                    <a:p>
                      <a:pPr algn="ctr" indent="0" marL="0">
                        <a:buNone/>
                      </a:pPr>
                      <a:r>
                        <a:rPr lang="en-US" sz="1500" b="1" dirty="0">
                          <a:solidFill>
                            <a:srgbClr val="FFFFFF"/>
                          </a:solidFill>
                        </a:rPr>
                        <a:t>AIC</a:t>
                      </a:r>
                      <a:endParaRPr lang="en-US" sz="1500" dirty="0"/>
                    </a:p>
                  </a:txBody>
                  <a:tcPr marL="109728" marR="109728" marT="0" marB="0" anchor="ctr">
                    <a:lnL w="0" cap="flat" cmpd="sng" algn="ctr">
                      <a:noFill/>
                    </a:lnL>
                    <a:lnR w="0" cap="flat" cmpd="sng" algn="ctr">
                      <a:noFill/>
                    </a:lnR>
                    <a:lnT w="0" cap="flat" cmpd="sng" algn="ctr">
                      <a:noFill/>
                    </a:lnT>
                    <a:lnB w="0" cap="flat" cmpd="sng" algn="ctr">
                      <a:noFill/>
                    </a:lnB>
                    <a:solidFill>
                      <a:srgbClr val="123F4A"/>
                    </a:solidFill>
                  </a:tcPr>
                </a:tc>
                <a:tc>
                  <a:txBody>
                    <a:bodyPr/>
                    <a:lstStyle/>
                    <a:p>
                      <a:pPr algn="ctr" indent="0" marL="0">
                        <a:buNone/>
                      </a:pPr>
                      <a:r>
                        <a:rPr lang="en-US" sz="1500" b="1" dirty="0">
                          <a:solidFill>
                            <a:srgbClr val="FFFFFF"/>
                          </a:solidFill>
                        </a:rPr>
                        <a:t>BIC</a:t>
                      </a:r>
                      <a:endParaRPr lang="en-US" sz="1500" dirty="0"/>
                    </a:p>
                  </a:txBody>
                  <a:tcPr marL="109728" marR="109728" marT="0" marB="0" anchor="ctr">
                    <a:lnL w="0" cap="flat" cmpd="sng" algn="ctr">
                      <a:noFill/>
                    </a:lnL>
                    <a:lnR w="0" cap="flat" cmpd="sng" algn="ctr">
                      <a:noFill/>
                    </a:lnR>
                    <a:lnT w="0" cap="flat" cmpd="sng" algn="ctr">
                      <a:noFill/>
                    </a:lnT>
                    <a:lnB w="0" cap="flat" cmpd="sng" algn="ctr">
                      <a:noFill/>
                    </a:lnB>
                    <a:solidFill>
                      <a:srgbClr val="123F4A"/>
                    </a:solidFill>
                  </a:tcPr>
                </a:tc>
                <a:tc>
                  <a:txBody>
                    <a:bodyPr/>
                    <a:lstStyle/>
                    <a:p>
                      <a:pPr algn="ctr" indent="0" marL="0">
                        <a:buNone/>
                      </a:pPr>
                      <a:r>
                        <a:rPr lang="en-US" sz="1500" b="1" dirty="0">
                          <a:solidFill>
                            <a:srgbClr val="FFFFFF"/>
                          </a:solidFill>
                        </a:rPr>
                        <a:t>AUC prueba ≤ 10</a:t>
                      </a:r>
                      <a:endParaRPr lang="en-US" sz="1500" dirty="0"/>
                    </a:p>
                  </a:txBody>
                  <a:tcPr marL="109728" marR="109728" marT="0" marB="0" anchor="ctr">
                    <a:lnL w="0" cap="flat" cmpd="sng" algn="ctr">
                      <a:noFill/>
                    </a:lnL>
                    <a:lnR w="0" cap="flat" cmpd="sng" algn="ctr">
                      <a:noFill/>
                    </a:lnR>
                    <a:lnT w="0" cap="flat" cmpd="sng" algn="ctr">
                      <a:noFill/>
                    </a:lnT>
                    <a:lnB w="0" cap="flat" cmpd="sng" algn="ctr">
                      <a:noFill/>
                    </a:lnB>
                    <a:solidFill>
                      <a:srgbClr val="123F4A"/>
                    </a:solidFill>
                  </a:tcPr>
                </a:tc>
                <a:tc>
                  <a:txBody>
                    <a:bodyPr/>
                    <a:lstStyle/>
                    <a:p>
                      <a:pPr algn="ctr" indent="0" marL="0">
                        <a:buNone/>
                      </a:pPr>
                      <a:r>
                        <a:rPr lang="en-US" sz="1500" b="1" dirty="0">
                          <a:solidFill>
                            <a:srgbClr val="FFFFFF"/>
                          </a:solidFill>
                        </a:rPr>
                        <a:t>AUC combinado</a:t>
                      </a:r>
                      <a:endParaRPr lang="en-US" sz="1500" dirty="0"/>
                    </a:p>
                  </a:txBody>
                  <a:tcPr marL="109728" marR="109728" marT="0" marB="0" anchor="ctr">
                    <a:lnL w="0" cap="flat" cmpd="sng" algn="ctr">
                      <a:noFill/>
                    </a:lnL>
                    <a:lnR w="0" cap="flat" cmpd="sng" algn="ctr">
                      <a:noFill/>
                    </a:lnR>
                    <a:lnT w="0" cap="flat" cmpd="sng" algn="ctr">
                      <a:noFill/>
                    </a:lnT>
                    <a:lnB w="0" cap="flat" cmpd="sng" algn="ctr">
                      <a:noFill/>
                    </a:lnB>
                    <a:solidFill>
                      <a:srgbClr val="123F4A"/>
                    </a:solidFill>
                  </a:tcPr>
                </a:tc>
              </a:tr>
              <a:tr h="512064">
                <a:tc>
                  <a:txBody>
                    <a:bodyPr/>
                    <a:lstStyle/>
                    <a:p>
                      <a:pPr algn="l" indent="0" marL="0">
                        <a:buNone/>
                      </a:pPr>
                      <a:r>
                        <a:rPr lang="en-US" sz="1500" b="1" i="1" dirty="0">
                          <a:solidFill>
                            <a:srgbClr val="5E6B73"/>
                          </a:solidFill>
                        </a:rPr>
                        <a:t>F2</a:t>
                      </a:r>
                      <a:endParaRPr lang="en-US" sz="1500" dirty="0"/>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500" i="1" dirty="0">
                          <a:solidFill>
                            <a:srgbClr val="5E6B73"/>
                          </a:solidFill>
                        </a:rPr>
                        <a:t>Las de M1, sin segmentar</a:t>
                      </a:r>
                      <a:endParaRPr lang="en-US" sz="1500" dirty="0"/>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500" i="1" dirty="0">
                          <a:solidFill>
                            <a:srgbClr val="5E6B73"/>
                          </a:solidFill>
                        </a:rPr>
                        <a:t>—</a:t>
                      </a:r>
                      <a:endParaRPr lang="en-US" sz="1500" dirty="0"/>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500" i="1" dirty="0">
                          <a:solidFill>
                            <a:srgbClr val="5E6B73"/>
                          </a:solidFill>
                        </a:rPr>
                        <a:t>—</a:t>
                      </a:r>
                      <a:endParaRPr lang="en-US" sz="1500" dirty="0"/>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500" i="1" dirty="0">
                          <a:solidFill>
                            <a:srgbClr val="5E6B73"/>
                          </a:solidFill>
                        </a:rPr>
                        <a:t>0,521</a:t>
                      </a:r>
                      <a:endParaRPr lang="en-US" sz="1500" dirty="0"/>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500" i="1" dirty="0">
                          <a:solidFill>
                            <a:srgbClr val="5E6B73"/>
                          </a:solidFill>
                        </a:rPr>
                        <a:t>0,714</a:t>
                      </a:r>
                      <a:endParaRPr lang="en-US" sz="1500" dirty="0"/>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r>
              <a:tr h="512064">
                <a:tc>
                  <a:txBody>
                    <a:bodyPr/>
                    <a:lstStyle/>
                    <a:p>
                      <a:pPr algn="l" indent="0" marL="0">
                        <a:buNone/>
                      </a:pPr>
                      <a:r>
                        <a:rPr lang="en-US" sz="1500" b="1" dirty="0">
                          <a:solidFill>
                            <a:srgbClr val="123F4A"/>
                          </a:solidFill>
                        </a:rPr>
                        <a:t>M1</a:t>
                      </a:r>
                      <a:endParaRPr lang="en-US" sz="1500" dirty="0"/>
                    </a:p>
                  </a:txBody>
                  <a:tcPr marL="109728" marR="109728" marT="0" marB="0" anchor="ctr">
                    <a:lnL w="0" cap="flat" cmpd="sng" algn="ctr">
                      <a:noFill/>
                    </a:lnL>
                    <a:lnR w="0" cap="flat" cmpd="sng" algn="ctr">
                      <a:noFill/>
                    </a:lnR>
                    <a:lnT w="0" cap="flat" cmpd="sng" algn="ctr">
                      <a:noFill/>
                    </a:lnT>
                    <a:lnB w="0" cap="flat" cmpd="sng" algn="ctr">
                      <a:noFill/>
                    </a:lnB>
                    <a:solidFill>
                      <a:srgbClr val="EDF2F3"/>
                    </a:solidFill>
                  </a:tcPr>
                </a:tc>
                <a:tc>
                  <a:txBody>
                    <a:bodyPr/>
                    <a:lstStyle/>
                    <a:p>
                      <a:pPr algn="l" indent="0" marL="0">
                        <a:buNone/>
                      </a:pPr>
                      <a:r>
                        <a:rPr lang="en-US" sz="1500" dirty="0">
                          <a:solidFill>
                            <a:srgbClr val="1B2A33"/>
                          </a:solidFill>
                        </a:rPr>
                        <a:t>Peso, descuento, costo, compras previas</a:t>
                      </a:r>
                      <a:endParaRPr lang="en-US" sz="1500" dirty="0"/>
                    </a:p>
                  </a:txBody>
                  <a:tcPr marL="109728" marR="109728" marT="0" marB="0" anchor="ctr">
                    <a:lnL w="0" cap="flat" cmpd="sng" algn="ctr">
                      <a:noFill/>
                    </a:lnL>
                    <a:lnR w="0" cap="flat" cmpd="sng" algn="ctr">
                      <a:noFill/>
                    </a:lnR>
                    <a:lnT w="0" cap="flat" cmpd="sng" algn="ctr">
                      <a:noFill/>
                    </a:lnT>
                    <a:lnB w="0" cap="flat" cmpd="sng" algn="ctr">
                      <a:noFill/>
                    </a:lnB>
                    <a:solidFill>
                      <a:srgbClr val="EDF2F3"/>
                    </a:solidFill>
                  </a:tcPr>
                </a:tc>
                <a:tc>
                  <a:txBody>
                    <a:bodyPr/>
                    <a:lstStyle/>
                    <a:p>
                      <a:pPr algn="ctr" indent="0" marL="0">
                        <a:buNone/>
                      </a:pPr>
                      <a:r>
                        <a:rPr lang="en-US" sz="1500" dirty="0">
                          <a:solidFill>
                            <a:srgbClr val="1B2A33"/>
                          </a:solidFill>
                        </a:rPr>
                        <a:t>7.671,0</a:t>
                      </a:r>
                      <a:endParaRPr lang="en-US" sz="1500" dirty="0"/>
                    </a:p>
                  </a:txBody>
                  <a:tcPr marL="109728" marR="109728" marT="0" marB="0" anchor="ctr">
                    <a:lnL w="0" cap="flat" cmpd="sng" algn="ctr">
                      <a:noFill/>
                    </a:lnL>
                    <a:lnR w="0" cap="flat" cmpd="sng" algn="ctr">
                      <a:noFill/>
                    </a:lnR>
                    <a:lnT w="0" cap="flat" cmpd="sng" algn="ctr">
                      <a:noFill/>
                    </a:lnT>
                    <a:lnB w="0" cap="flat" cmpd="sng" algn="ctr">
                      <a:noFill/>
                    </a:lnB>
                    <a:solidFill>
                      <a:srgbClr val="EDF2F3"/>
                    </a:solidFill>
                  </a:tcPr>
                </a:tc>
                <a:tc>
                  <a:txBody>
                    <a:bodyPr/>
                    <a:lstStyle/>
                    <a:p>
                      <a:pPr algn="ctr" indent="0" marL="0">
                        <a:buNone/>
                      </a:pPr>
                      <a:r>
                        <a:rPr lang="en-US" sz="1500" dirty="0">
                          <a:solidFill>
                            <a:srgbClr val="1B2A33"/>
                          </a:solidFill>
                        </a:rPr>
                        <a:t>7.704,2</a:t>
                      </a:r>
                      <a:endParaRPr lang="en-US" sz="1500" dirty="0"/>
                    </a:p>
                  </a:txBody>
                  <a:tcPr marL="109728" marR="109728" marT="0" marB="0" anchor="ctr">
                    <a:lnL w="0" cap="flat" cmpd="sng" algn="ctr">
                      <a:noFill/>
                    </a:lnL>
                    <a:lnR w="0" cap="flat" cmpd="sng" algn="ctr">
                      <a:noFill/>
                    </a:lnR>
                    <a:lnT w="0" cap="flat" cmpd="sng" algn="ctr">
                      <a:noFill/>
                    </a:lnT>
                    <a:lnB w="0" cap="flat" cmpd="sng" algn="ctr">
                      <a:noFill/>
                    </a:lnB>
                    <a:solidFill>
                      <a:srgbClr val="EDF2F3"/>
                    </a:solidFill>
                  </a:tcPr>
                </a:tc>
                <a:tc>
                  <a:txBody>
                    <a:bodyPr/>
                    <a:lstStyle/>
                    <a:p>
                      <a:pPr algn="ctr" indent="0" marL="0">
                        <a:buNone/>
                      </a:pPr>
                      <a:r>
                        <a:rPr lang="en-US" sz="1500" dirty="0">
                          <a:solidFill>
                            <a:srgbClr val="1B2A33"/>
                          </a:solidFill>
                        </a:rPr>
                        <a:t>0,543</a:t>
                      </a:r>
                      <a:endParaRPr lang="en-US" sz="1500" dirty="0"/>
                    </a:p>
                  </a:txBody>
                  <a:tcPr marL="109728" marR="109728" marT="0" marB="0" anchor="ctr">
                    <a:lnL w="0" cap="flat" cmpd="sng" algn="ctr">
                      <a:noFill/>
                    </a:lnL>
                    <a:lnR w="0" cap="flat" cmpd="sng" algn="ctr">
                      <a:noFill/>
                    </a:lnR>
                    <a:lnT w="0" cap="flat" cmpd="sng" algn="ctr">
                      <a:noFill/>
                    </a:lnT>
                    <a:lnB w="0" cap="flat" cmpd="sng" algn="ctr">
                      <a:noFill/>
                    </a:lnB>
                    <a:solidFill>
                      <a:srgbClr val="EDF2F3"/>
                    </a:solidFill>
                  </a:tcPr>
                </a:tc>
                <a:tc>
                  <a:txBody>
                    <a:bodyPr/>
                    <a:lstStyle/>
                    <a:p>
                      <a:pPr algn="ctr" indent="0" marL="0">
                        <a:buNone/>
                      </a:pPr>
                      <a:r>
                        <a:rPr lang="en-US" sz="1500" dirty="0">
                          <a:solidFill>
                            <a:srgbClr val="1B2A33"/>
                          </a:solidFill>
                        </a:rPr>
                        <a:t>0,716</a:t>
                      </a:r>
                      <a:endParaRPr lang="en-US" sz="1500" dirty="0"/>
                    </a:p>
                  </a:txBody>
                  <a:tcPr marL="109728" marR="109728" marT="0" marB="0" anchor="ctr">
                    <a:lnL w="0" cap="flat" cmpd="sng" algn="ctr">
                      <a:noFill/>
                    </a:lnL>
                    <a:lnR w="0" cap="flat" cmpd="sng" algn="ctr">
                      <a:noFill/>
                    </a:lnR>
                    <a:lnT w="0" cap="flat" cmpd="sng" algn="ctr">
                      <a:noFill/>
                    </a:lnT>
                    <a:lnB w="0" cap="flat" cmpd="sng" algn="ctr">
                      <a:noFill/>
                    </a:lnB>
                    <a:solidFill>
                      <a:srgbClr val="EDF2F3"/>
                    </a:solidFill>
                  </a:tcPr>
                </a:tc>
              </a:tr>
              <a:tr h="512064">
                <a:tc>
                  <a:txBody>
                    <a:bodyPr/>
                    <a:lstStyle/>
                    <a:p>
                      <a:pPr algn="l" indent="0" marL="0">
                        <a:buNone/>
                      </a:pPr>
                      <a:r>
                        <a:rPr lang="en-US" sz="1500" b="1" dirty="0">
                          <a:solidFill>
                            <a:srgbClr val="123F4A"/>
                          </a:solidFill>
                        </a:rPr>
                        <a:t>M2</a:t>
                      </a:r>
                      <a:endParaRPr lang="en-US" sz="1500" dirty="0"/>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500" dirty="0">
                          <a:solidFill>
                            <a:srgbClr val="1B2A33"/>
                          </a:solidFill>
                        </a:rPr>
                        <a:t>Peso, compras previas, importancia, costo</a:t>
                      </a:r>
                      <a:endParaRPr lang="en-US" sz="1500" dirty="0"/>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500" dirty="0">
                          <a:solidFill>
                            <a:srgbClr val="1B2A33"/>
                          </a:solidFill>
                        </a:rPr>
                        <a:t>7.663,6</a:t>
                      </a:r>
                      <a:endParaRPr lang="en-US" sz="1500" dirty="0"/>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500" dirty="0">
                          <a:solidFill>
                            <a:srgbClr val="1B2A33"/>
                          </a:solidFill>
                        </a:rPr>
                        <a:t>7.703,4</a:t>
                      </a:r>
                      <a:endParaRPr lang="en-US" sz="1500" dirty="0"/>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500" dirty="0">
                          <a:solidFill>
                            <a:srgbClr val="1B2A33"/>
                          </a:solidFill>
                        </a:rPr>
                        <a:t>0,541</a:t>
                      </a:r>
                      <a:endParaRPr lang="en-US" sz="1500" dirty="0"/>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500" dirty="0">
                          <a:solidFill>
                            <a:srgbClr val="1B2A33"/>
                          </a:solidFill>
                        </a:rPr>
                        <a:t>0,715</a:t>
                      </a:r>
                      <a:endParaRPr lang="en-US" sz="1500" dirty="0"/>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r>
              <a:tr h="512064">
                <a:tc>
                  <a:txBody>
                    <a:bodyPr/>
                    <a:lstStyle/>
                    <a:p>
                      <a:pPr algn="l" indent="0" marL="0">
                        <a:buNone/>
                      </a:pPr>
                      <a:r>
                        <a:rPr lang="en-US" sz="1500" b="1" dirty="0">
                          <a:solidFill>
                            <a:srgbClr val="123F4A"/>
                          </a:solidFill>
                        </a:rPr>
                        <a:t>M3</a:t>
                      </a:r>
                      <a:endParaRPr lang="en-US" sz="1500" dirty="0"/>
                    </a:p>
                  </a:txBody>
                  <a:tcPr marL="109728" marR="109728" marT="0" marB="0" anchor="ctr">
                    <a:lnL w="0" cap="flat" cmpd="sng" algn="ctr">
                      <a:noFill/>
                    </a:lnL>
                    <a:lnR w="0" cap="flat" cmpd="sng" algn="ctr">
                      <a:noFill/>
                    </a:lnR>
                    <a:lnT w="0" cap="flat" cmpd="sng" algn="ctr">
                      <a:noFill/>
                    </a:lnT>
                    <a:lnB w="0" cap="flat" cmpd="sng" algn="ctr">
                      <a:noFill/>
                    </a:lnB>
                    <a:solidFill>
                      <a:srgbClr val="F7E6CC"/>
                    </a:solidFill>
                  </a:tcPr>
                </a:tc>
                <a:tc>
                  <a:txBody>
                    <a:bodyPr/>
                    <a:lstStyle/>
                    <a:p>
                      <a:pPr algn="l" indent="0" marL="0">
                        <a:buNone/>
                      </a:pPr>
                      <a:r>
                        <a:rPr lang="en-US" sz="1500" b="1" dirty="0">
                          <a:solidFill>
                            <a:srgbClr val="1B2A33"/>
                          </a:solidFill>
                        </a:rPr>
                        <a:t>Peso</a:t>
                      </a:r>
                      <a:endParaRPr lang="en-US" sz="1500" dirty="0"/>
                    </a:p>
                  </a:txBody>
                  <a:tcPr marL="109728" marR="109728" marT="0" marB="0" anchor="ctr">
                    <a:lnL w="0" cap="flat" cmpd="sng" algn="ctr">
                      <a:noFill/>
                    </a:lnL>
                    <a:lnR w="0" cap="flat" cmpd="sng" algn="ctr">
                      <a:noFill/>
                    </a:lnR>
                    <a:lnT w="0" cap="flat" cmpd="sng" algn="ctr">
                      <a:noFill/>
                    </a:lnT>
                    <a:lnB w="0" cap="flat" cmpd="sng" algn="ctr">
                      <a:noFill/>
                    </a:lnB>
                    <a:solidFill>
                      <a:srgbClr val="F7E6CC"/>
                    </a:solidFill>
                  </a:tcPr>
                </a:tc>
                <a:tc>
                  <a:txBody>
                    <a:bodyPr/>
                    <a:lstStyle/>
                    <a:p>
                      <a:pPr algn="ctr" indent="0" marL="0">
                        <a:buNone/>
                      </a:pPr>
                      <a:r>
                        <a:rPr lang="en-US" sz="1500" b="1" dirty="0">
                          <a:solidFill>
                            <a:srgbClr val="1B2A33"/>
                          </a:solidFill>
                        </a:rPr>
                        <a:t>7.677,3</a:t>
                      </a:r>
                      <a:endParaRPr lang="en-US" sz="1500" dirty="0"/>
                    </a:p>
                  </a:txBody>
                  <a:tcPr marL="109728" marR="109728" marT="0" marB="0" anchor="ctr">
                    <a:lnL w="0" cap="flat" cmpd="sng" algn="ctr">
                      <a:noFill/>
                    </a:lnL>
                    <a:lnR w="0" cap="flat" cmpd="sng" algn="ctr">
                      <a:noFill/>
                    </a:lnR>
                    <a:lnT w="0" cap="flat" cmpd="sng" algn="ctr">
                      <a:noFill/>
                    </a:lnT>
                    <a:lnB w="0" cap="flat" cmpd="sng" algn="ctr">
                      <a:noFill/>
                    </a:lnB>
                    <a:solidFill>
                      <a:srgbClr val="F7E6CC"/>
                    </a:solidFill>
                  </a:tcPr>
                </a:tc>
                <a:tc>
                  <a:txBody>
                    <a:bodyPr/>
                    <a:lstStyle/>
                    <a:p>
                      <a:pPr algn="ctr" indent="0" marL="0">
                        <a:buNone/>
                      </a:pPr>
                      <a:r>
                        <a:rPr lang="en-US" sz="1500" b="1" dirty="0">
                          <a:solidFill>
                            <a:srgbClr val="1B2A33"/>
                          </a:solidFill>
                        </a:rPr>
                        <a:t>7.690,5</a:t>
                      </a:r>
                      <a:endParaRPr lang="en-US" sz="1500" dirty="0"/>
                    </a:p>
                  </a:txBody>
                  <a:tcPr marL="109728" marR="109728" marT="0" marB="0" anchor="ctr">
                    <a:lnL w="0" cap="flat" cmpd="sng" algn="ctr">
                      <a:noFill/>
                    </a:lnL>
                    <a:lnR w="0" cap="flat" cmpd="sng" algn="ctr">
                      <a:noFill/>
                    </a:lnR>
                    <a:lnT w="0" cap="flat" cmpd="sng" algn="ctr">
                      <a:noFill/>
                    </a:lnT>
                    <a:lnB w="0" cap="flat" cmpd="sng" algn="ctr">
                      <a:noFill/>
                    </a:lnB>
                    <a:solidFill>
                      <a:srgbClr val="F7E6CC"/>
                    </a:solidFill>
                  </a:tcPr>
                </a:tc>
                <a:tc>
                  <a:txBody>
                    <a:bodyPr/>
                    <a:lstStyle/>
                    <a:p>
                      <a:pPr algn="ctr" indent="0" marL="0">
                        <a:buNone/>
                      </a:pPr>
                      <a:r>
                        <a:rPr lang="en-US" sz="1500" b="1" dirty="0">
                          <a:solidFill>
                            <a:srgbClr val="1B2A33"/>
                          </a:solidFill>
                        </a:rPr>
                        <a:t>0,551</a:t>
                      </a:r>
                      <a:endParaRPr lang="en-US" sz="1500" dirty="0"/>
                    </a:p>
                  </a:txBody>
                  <a:tcPr marL="109728" marR="109728" marT="0" marB="0" anchor="ctr">
                    <a:lnL w="0" cap="flat" cmpd="sng" algn="ctr">
                      <a:noFill/>
                    </a:lnL>
                    <a:lnR w="0" cap="flat" cmpd="sng" algn="ctr">
                      <a:noFill/>
                    </a:lnR>
                    <a:lnT w="0" cap="flat" cmpd="sng" algn="ctr">
                      <a:noFill/>
                    </a:lnT>
                    <a:lnB w="0" cap="flat" cmpd="sng" algn="ctr">
                      <a:noFill/>
                    </a:lnB>
                    <a:solidFill>
                      <a:srgbClr val="F7E6CC"/>
                    </a:solidFill>
                  </a:tcPr>
                </a:tc>
                <a:tc>
                  <a:txBody>
                    <a:bodyPr/>
                    <a:lstStyle/>
                    <a:p>
                      <a:pPr algn="ctr" indent="0" marL="0">
                        <a:buNone/>
                      </a:pPr>
                      <a:r>
                        <a:rPr lang="en-US" sz="1500" b="1" dirty="0">
                          <a:solidFill>
                            <a:srgbClr val="1B2A33"/>
                          </a:solidFill>
                        </a:rPr>
                        <a:t>0,720</a:t>
                      </a:r>
                      <a:endParaRPr lang="en-US" sz="1500" dirty="0"/>
                    </a:p>
                  </a:txBody>
                  <a:tcPr marL="109728" marR="109728" marT="0" marB="0" anchor="ctr">
                    <a:lnL w="0" cap="flat" cmpd="sng" algn="ctr">
                      <a:noFill/>
                    </a:lnL>
                    <a:lnR w="0" cap="flat" cmpd="sng" algn="ctr">
                      <a:noFill/>
                    </a:lnR>
                    <a:lnT w="0" cap="flat" cmpd="sng" algn="ctr">
                      <a:noFill/>
                    </a:lnT>
                    <a:lnB w="0" cap="flat" cmpd="sng" algn="ctr">
                      <a:noFill/>
                    </a:lnB>
                    <a:solidFill>
                      <a:srgbClr val="F7E6CC"/>
                    </a:solidFill>
                  </a:tcPr>
                </a:tc>
              </a:tr>
            </a:tbl>
          </a:graphicData>
        </a:graphic>
      </p:graphicFrame>
      <p:sp>
        <p:nvSpPr>
          <p:cNvPr id="13" name="OR peso"/>
          <p:cNvSpPr/>
          <p:nvPr/>
        </p:nvSpPr>
        <p:spPr>
          <a:xfrm>
            <a:off x="548640" y="4434840"/>
            <a:ext cx="5394960" cy="1600200"/>
          </a:xfrm>
          <a:prstGeom prst="roundRect">
            <a:avLst>
              <a:gd name="adj" fmla="val 4571"/>
            </a:avLst>
          </a:prstGeom>
          <a:solidFill>
            <a:schemeClr val="tx2"/>
          </a:solidFill>
          <a:ln w="12700">
            <a:solidFill>
              <a:schemeClr val="tx2"/>
            </a:solidFill>
            <a:prstDash val="solid"/>
          </a:ln>
        </p:spPr>
      </p:sp>
      <p:sp>
        <p:nvSpPr>
          <p:cNvPr id="14" name="Text 11"/>
          <p:cNvSpPr txBox="1"/>
          <p:nvPr/>
        </p:nvSpPr>
        <p:spPr>
          <a:xfrm>
            <a:off x="777240" y="4434840"/>
            <a:ext cx="4983480" cy="1600200"/>
          </a:xfrm>
          <a:prstGeom prst="rect">
            <a:avLst/>
          </a:prstGeom>
          <a:noFill/>
          <a:ln/>
        </p:spPr>
        <p:txBody>
          <a:bodyPr wrap="square" lIns="0" tIns="0" rIns="0" bIns="0" rtlCol="0" anchor="ctr"/>
          <a:lstStyle/>
          <a:p>
            <a:pPr indent="0" marL="0">
              <a:spcAft>
                <a:spcPts val="600"/>
              </a:spcAft>
              <a:buNone/>
            </a:pPr>
            <a:r>
              <a:rPr lang="en-US" sz="2200" b="1" dirty="0">
                <a:solidFill>
                  <a:schemeClr val="bg1"/>
                </a:solidFill>
                <a:latin typeface="Cambria" pitchFamily="34" charset="0"/>
                <a:ea typeface="Cambria" pitchFamily="34" charset="-122"/>
                <a:cs typeface="Cambria" pitchFamily="34" charset="-120"/>
              </a:rPr>
              <a:t>OR del peso = 0,905 por 1.000 g</a:t>
            </a:r>
            <a:endParaRPr lang="en-US" sz="2200" dirty="0"/>
          </a:p>
          <a:p>
            <a:pPr indent="0" marL="0">
              <a:spcAft>
                <a:spcPts val="600"/>
              </a:spcAft>
              <a:buNone/>
            </a:pPr>
            <a:r>
              <a:rPr lang="en-US" sz="1500" dirty="0">
                <a:solidFill>
                  <a:schemeClr val="accent4"/>
                </a:solidFill>
              </a:rPr>
              <a:t>IC 95 % [0,874; 0,936]: cada 1.000 g adicionales, odds de atraso 9,5 % menores</a:t>
            </a:r>
            <a:endParaRPr lang="en-US" sz="2200" dirty="0"/>
          </a:p>
        </p:txBody>
      </p:sp>
      <p:sp>
        <p:nvSpPr>
          <p:cNvPr id="15" name="regla elección"/>
          <p:cNvSpPr/>
          <p:nvPr/>
        </p:nvSpPr>
        <p:spPr>
          <a:xfrm>
            <a:off x="6245352" y="4434840"/>
            <a:ext cx="5394960" cy="1600200"/>
          </a:xfrm>
          <a:prstGeom prst="roundRect">
            <a:avLst>
              <a:gd name="adj" fmla="val 4571"/>
            </a:avLst>
          </a:prstGeom>
          <a:solidFill>
            <a:schemeClr val="bg2"/>
          </a:solidFill>
          <a:ln w="12700">
            <a:solidFill>
              <a:schemeClr val="bg2"/>
            </a:solidFill>
            <a:prstDash val="solid"/>
          </a:ln>
        </p:spPr>
      </p:sp>
      <p:sp>
        <p:nvSpPr>
          <p:cNvPr id="16" name="Text 13"/>
          <p:cNvSpPr txBox="1"/>
          <p:nvPr/>
        </p:nvSpPr>
        <p:spPr>
          <a:xfrm>
            <a:off x="6473952" y="4434840"/>
            <a:ext cx="4983480" cy="1600200"/>
          </a:xfrm>
          <a:prstGeom prst="rect">
            <a:avLst/>
          </a:prstGeom>
          <a:noFill/>
          <a:ln/>
        </p:spPr>
        <p:txBody>
          <a:bodyPr wrap="square" lIns="0" tIns="0" rIns="0" bIns="0" rtlCol="0" anchor="ctr"/>
          <a:lstStyle/>
          <a:p>
            <a:pPr indent="0" marL="0">
              <a:spcAft>
                <a:spcPts val="600"/>
              </a:spcAft>
              <a:buNone/>
            </a:pPr>
            <a:r>
              <a:rPr lang="en-US" sz="1700" b="1" dirty="0">
                <a:solidFill>
                  <a:schemeClr val="tx2"/>
                </a:solidFill>
              </a:rPr>
              <a:t>Regla de elección</a:t>
            </a:r>
            <a:endParaRPr lang="en-US" sz="1700" dirty="0"/>
          </a:p>
          <a:p>
            <a:pPr indent="0" marL="0">
              <a:spcAft>
                <a:spcPts val="600"/>
              </a:spcAft>
              <a:buNone/>
            </a:pPr>
            <a:r>
              <a:rPr lang="en-US" sz="1400" dirty="0">
                <a:solidFill>
                  <a:schemeClr val="tx1"/>
                </a:solidFill>
              </a:rPr>
              <a:t>A ≤ 0,005 del mayor AUC del segmento y, entre ellos, menor BIC. El descuento no entra: dentro de ≤ 10 su OR es 0,992 (p = 0,40).</a:t>
            </a:r>
            <a:endParaRPr lang="en-US" sz="1700" dirty="0"/>
          </a:p>
        </p:txBody>
      </p:sp>
      <p:sp>
        <p:nvSpPr>
          <p:cNvPr id="17" name="Text 14"/>
          <p:cNvSpPr txBox="1"/>
          <p:nvPr/>
        </p:nvSpPr>
        <p:spPr>
          <a:xfrm>
            <a:off x="548640" y="6382512"/>
            <a:ext cx="5486400" cy="274320"/>
          </a:xfrm>
          <a:prstGeom prst="rect">
            <a:avLst/>
          </a:prstGeom>
          <a:noFill/>
          <a:ln/>
        </p:spPr>
        <p:txBody>
          <a:bodyPr wrap="square" lIns="0" tIns="0" rIns="0" bIns="0" rtlCol="0" anchor="ctr"/>
          <a:lstStyle/>
          <a:p>
            <a:pPr indent="0" marL="0">
              <a:buNone/>
            </a:pPr>
            <a:r>
              <a:rPr lang="en-US" sz="1100" b="1" dirty="0">
                <a:solidFill>
                  <a:schemeClr val="accent5"/>
                </a:solidFill>
              </a:rPr>
              <a:t>Expone: </a:t>
            </a:r>
            <a:pPr indent="0" marL="0">
              <a:buNone/>
            </a:pPr>
            <a:r>
              <a:rPr lang="en-US" sz="1100" dirty="0">
                <a:solidFill>
                  <a:schemeClr val="accent5"/>
                </a:solidFill>
              </a:rPr>
              <a:t>Sebastián Rojas Araya</a:t>
            </a:r>
            <a:endParaRPr lang="en-US" sz="1100" dirty="0"/>
          </a:p>
        </p:txBody>
      </p:sp>
      <p:sp>
        <p:nvSpPr>
          <p:cNvPr id="25" name="Slide Number Placeholder 0"/>
          <p:cNvSpPr>
            <a:spLocks noGrp="1"/>
          </p:cNvSpPr>
          <p:nvPr>
            <p:ph type="sldNum" sz="quarter" idx="4294967295"/>
          </p:nvPr>
        </p:nvSpPr>
        <p:spPr>
          <a:xfrm>
            <a:off x="11338560" y="6382512"/>
            <a:ext cx="3200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869680" cy="685800"/>
          </a:xfrm>
          <a:prstGeom prst="rect">
            <a:avLst/>
          </a:prstGeom>
          <a:noFill/>
          <a:ln/>
        </p:spPr>
        <p:txBody>
          <a:bodyPr wrap="square" lIns="0" tIns="0" rIns="0" bIns="0" rtlCol="0" anchor="ctr"/>
          <a:lstStyle/>
          <a:p>
            <a:pPr algn="l" indent="0" marL="0">
              <a:buNone/>
            </a:pPr>
            <a:r>
              <a:rPr lang="en-US" sz="3000" b="1" dirty="0">
                <a:solidFill>
                  <a:schemeClr val="tx2"/>
                </a:solidFill>
              </a:rPr>
              <a:t>Mejora sobre F2, con poca señal en ≤ 10</a:t>
            </a:r>
            <a:endParaRPr lang="en-US" sz="3000" dirty="0"/>
          </a:p>
        </p:txBody>
      </p:sp>
      <p:sp>
        <p:nvSpPr>
          <p:cNvPr id="3" name="Text 0"/>
          <p:cNvSpPr/>
          <p:nvPr>
            <p:ph idx="101" type="body" hasCustomPrompt="1"/>
          </p:nvPr>
        </p:nvSpPr>
        <p:spPr>
          <a:xfrm>
            <a:off x="548640" y="987552"/>
            <a:ext cx="8869680" cy="411480"/>
          </a:xfrm>
          <a:prstGeom prst="rect">
            <a:avLst/>
          </a:prstGeom>
          <a:noFill/>
          <a:ln/>
        </p:spPr>
        <p:txBody>
          <a:bodyPr wrap="square" lIns="0" tIns="0" rIns="0" bIns="0" rtlCol="0" anchor="t"/>
          <a:lstStyle/>
          <a:p>
            <a:pPr indent="0" marL="0">
              <a:buNone/>
            </a:pPr>
            <a:r>
              <a:rPr lang="en-US" sz="1600" dirty="0">
                <a:solidFill>
                  <a:schemeClr val="accent5"/>
                </a:solidFill>
              </a:rPr>
              <a:t>Clasificador combinado (M3 + regla) en la prueba, umbral 0,5</a:t>
            </a:r>
            <a:endParaRPr lang="en-US" sz="1600" dirty="0"/>
          </a:p>
        </p:txBody>
      </p:sp>
      <p:sp>
        <p:nvSpPr>
          <p:cNvPr id="4" name="fase S1"/>
          <p:cNvSpPr/>
          <p:nvPr/>
        </p:nvSpPr>
        <p:spPr>
          <a:xfrm>
            <a:off x="9537192" y="429768"/>
            <a:ext cx="457200" cy="457200"/>
          </a:xfrm>
          <a:prstGeom prst="ellipse">
            <a:avLst/>
          </a:prstGeom>
          <a:solidFill>
            <a:schemeClr val="bg2"/>
          </a:solidFill>
          <a:ln w="12700">
            <a:solidFill>
              <a:schemeClr val="bg2"/>
            </a:solidFill>
            <a:prstDash val="solid"/>
          </a:ln>
        </p:spPr>
      </p:sp>
      <p:sp>
        <p:nvSpPr>
          <p:cNvPr id="5" name="Text 3"/>
          <p:cNvSpPr txBox="1"/>
          <p:nvPr/>
        </p:nvSpPr>
        <p:spPr>
          <a:xfrm>
            <a:off x="9537192" y="429768"/>
            <a:ext cx="457200" cy="457200"/>
          </a:xfrm>
          <a:prstGeom prst="rect">
            <a:avLst/>
          </a:prstGeom>
          <a:noFill/>
          <a:ln/>
        </p:spPr>
        <p:txBody>
          <a:bodyPr wrap="square" lIns="0" tIns="0" rIns="0" bIns="0" rtlCol="0" anchor="ctr"/>
          <a:lstStyle/>
          <a:p>
            <a:pPr algn="ctr" indent="0" marL="0">
              <a:buNone/>
            </a:pPr>
            <a:r>
              <a:rPr lang="en-US" sz="1200" b="1" dirty="0">
                <a:solidFill>
                  <a:schemeClr val="accent5"/>
                </a:solidFill>
              </a:rPr>
              <a:t>S1</a:t>
            </a:r>
            <a:endParaRPr lang="en-US" sz="1200" dirty="0"/>
          </a:p>
        </p:txBody>
      </p:sp>
      <p:sp>
        <p:nvSpPr>
          <p:cNvPr id="6" name="fase S2"/>
          <p:cNvSpPr/>
          <p:nvPr/>
        </p:nvSpPr>
        <p:spPr>
          <a:xfrm>
            <a:off x="10085832" y="429768"/>
            <a:ext cx="457200" cy="457200"/>
          </a:xfrm>
          <a:prstGeom prst="ellipse">
            <a:avLst/>
          </a:prstGeom>
          <a:solidFill>
            <a:schemeClr val="bg2"/>
          </a:solidFill>
          <a:ln w="12700">
            <a:solidFill>
              <a:schemeClr val="bg2"/>
            </a:solidFill>
            <a:prstDash val="solid"/>
          </a:ln>
        </p:spPr>
      </p:sp>
      <p:sp>
        <p:nvSpPr>
          <p:cNvPr id="7" name="Text 5"/>
          <p:cNvSpPr txBox="1"/>
          <p:nvPr/>
        </p:nvSpPr>
        <p:spPr>
          <a:xfrm>
            <a:off x="10085832" y="429768"/>
            <a:ext cx="457200" cy="457200"/>
          </a:xfrm>
          <a:prstGeom prst="rect">
            <a:avLst/>
          </a:prstGeom>
          <a:noFill/>
          <a:ln/>
        </p:spPr>
        <p:txBody>
          <a:bodyPr wrap="square" lIns="0" tIns="0" rIns="0" bIns="0" rtlCol="0" anchor="ctr"/>
          <a:lstStyle/>
          <a:p>
            <a:pPr algn="ctr" indent="0" marL="0">
              <a:buNone/>
            </a:pPr>
            <a:r>
              <a:rPr lang="en-US" sz="1200" b="1" dirty="0">
                <a:solidFill>
                  <a:schemeClr val="accent5"/>
                </a:solidFill>
              </a:rPr>
              <a:t>S2</a:t>
            </a:r>
            <a:endParaRPr lang="en-US" sz="1200" dirty="0"/>
          </a:p>
        </p:txBody>
      </p:sp>
      <p:sp>
        <p:nvSpPr>
          <p:cNvPr id="8" name="fase F2"/>
          <p:cNvSpPr/>
          <p:nvPr/>
        </p:nvSpPr>
        <p:spPr>
          <a:xfrm>
            <a:off x="10634472" y="429768"/>
            <a:ext cx="457200" cy="457200"/>
          </a:xfrm>
          <a:prstGeom prst="ellipse">
            <a:avLst/>
          </a:prstGeom>
          <a:solidFill>
            <a:schemeClr val="accent1"/>
          </a:solidFill>
          <a:ln w="12700">
            <a:solidFill>
              <a:schemeClr val="accent1"/>
            </a:solidFill>
            <a:prstDash val="solid"/>
          </a:ln>
        </p:spPr>
      </p:sp>
      <p:sp>
        <p:nvSpPr>
          <p:cNvPr id="9" name="Text 7"/>
          <p:cNvSpPr txBox="1"/>
          <p:nvPr/>
        </p:nvSpPr>
        <p:spPr>
          <a:xfrm>
            <a:off x="10634472" y="429768"/>
            <a:ext cx="457200" cy="457200"/>
          </a:xfrm>
          <a:prstGeom prst="rect">
            <a:avLst/>
          </a:prstGeom>
          <a:noFill/>
          <a:ln/>
        </p:spPr>
        <p:txBody>
          <a:bodyPr wrap="square" lIns="0" tIns="0" rIns="0" bIns="0" rtlCol="0" anchor="ctr"/>
          <a:lstStyle/>
          <a:p>
            <a:pPr algn="ctr" indent="0" marL="0">
              <a:buNone/>
            </a:pPr>
            <a:r>
              <a:rPr lang="en-US" sz="1200" b="1" dirty="0">
                <a:solidFill>
                  <a:schemeClr val="bg1"/>
                </a:solidFill>
              </a:rPr>
              <a:t>F2</a:t>
            </a:r>
            <a:endParaRPr lang="en-US" sz="1200" dirty="0"/>
          </a:p>
        </p:txBody>
      </p:sp>
      <p:sp>
        <p:nvSpPr>
          <p:cNvPr id="10" name="fase S3"/>
          <p:cNvSpPr/>
          <p:nvPr/>
        </p:nvSpPr>
        <p:spPr>
          <a:xfrm>
            <a:off x="11183112" y="429768"/>
            <a:ext cx="457200" cy="457200"/>
          </a:xfrm>
          <a:prstGeom prst="ellipse">
            <a:avLst/>
          </a:prstGeom>
          <a:solidFill>
            <a:schemeClr val="accent2"/>
          </a:solidFill>
          <a:ln w="12700">
            <a:solidFill>
              <a:schemeClr val="accent2"/>
            </a:solidFill>
            <a:prstDash val="solid"/>
          </a:ln>
        </p:spPr>
      </p:sp>
      <p:sp>
        <p:nvSpPr>
          <p:cNvPr id="11" name="Text 9"/>
          <p:cNvSpPr txBox="1"/>
          <p:nvPr/>
        </p:nvSpPr>
        <p:spPr>
          <a:xfrm>
            <a:off x="11183112" y="429768"/>
            <a:ext cx="457200" cy="457200"/>
          </a:xfrm>
          <a:prstGeom prst="rect">
            <a:avLst/>
          </a:prstGeom>
          <a:noFill/>
          <a:ln/>
        </p:spPr>
        <p:txBody>
          <a:bodyPr wrap="square" lIns="0" tIns="0" rIns="0" bIns="0" rtlCol="0" anchor="ctr"/>
          <a:lstStyle/>
          <a:p>
            <a:pPr algn="ctr" indent="0" marL="0">
              <a:buNone/>
            </a:pPr>
            <a:r>
              <a:rPr lang="en-US" sz="1200" b="1" dirty="0">
                <a:solidFill>
                  <a:schemeClr val="tx1"/>
                </a:solidFill>
              </a:rPr>
              <a:t>S3</a:t>
            </a:r>
            <a:endParaRPr lang="en-US" sz="1200" dirty="0"/>
          </a:p>
        </p:txBody>
      </p:sp>
      <p:graphicFrame>
        <p:nvGraphicFramePr>
          <p:cNvPr id="12" name="gráfico F2 frente a S3" descr=""/>
          <p:cNvGraphicFramePr/>
          <p:nvPr/>
        </p:nvGraphicFramePr>
        <p:xfrm>
          <a:off x="548640" y="1600200"/>
          <a:ext cx="7040880" cy="4526280"/>
        </p:xfrm>
        <a:graphic xmlns:a="http://schemas.openxmlformats.org/drawingml/2006/main">
          <a:graphicData uri="http://schemas.openxmlformats.org/drawingml/2006/chart">
            <c:chart xmlns:c="http://schemas.openxmlformats.org/drawingml/2006/chart" r:id="rId1"/>
          </a:graphicData>
        </a:graphic>
      </p:graphicFrame>
      <p:sp>
        <p:nvSpPr>
          <p:cNvPr id="13" name="métrica 1"/>
          <p:cNvSpPr/>
          <p:nvPr/>
        </p:nvSpPr>
        <p:spPr>
          <a:xfrm>
            <a:off x="7909560" y="1645920"/>
            <a:ext cx="3730752" cy="1325880"/>
          </a:xfrm>
          <a:prstGeom prst="roundRect">
            <a:avLst>
              <a:gd name="adj" fmla="val 5517"/>
            </a:avLst>
          </a:prstGeom>
          <a:solidFill>
            <a:schemeClr val="bg2"/>
          </a:solidFill>
          <a:ln w="12700">
            <a:solidFill>
              <a:schemeClr val="bg2"/>
            </a:solidFill>
            <a:prstDash val="solid"/>
          </a:ln>
        </p:spPr>
      </p:sp>
      <p:sp>
        <p:nvSpPr>
          <p:cNvPr id="14" name="Text 11"/>
          <p:cNvSpPr txBox="1"/>
          <p:nvPr/>
        </p:nvSpPr>
        <p:spPr>
          <a:xfrm>
            <a:off x="8092440" y="1645920"/>
            <a:ext cx="1325880" cy="1325880"/>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0,780</a:t>
            </a:r>
            <a:endParaRPr lang="en-US" sz="2800" dirty="0"/>
          </a:p>
        </p:txBody>
      </p:sp>
      <p:sp>
        <p:nvSpPr>
          <p:cNvPr id="15" name="Text 12"/>
          <p:cNvSpPr txBox="1"/>
          <p:nvPr/>
        </p:nvSpPr>
        <p:spPr>
          <a:xfrm>
            <a:off x="9418320" y="1645920"/>
            <a:ext cx="2103120" cy="1325880"/>
          </a:xfrm>
          <a:prstGeom prst="rect">
            <a:avLst/>
          </a:prstGeom>
          <a:noFill/>
          <a:ln/>
        </p:spPr>
        <p:txBody>
          <a:bodyPr wrap="square" lIns="0" tIns="0" rIns="0" bIns="0" rtlCol="0" anchor="ctr"/>
          <a:lstStyle/>
          <a:p>
            <a:pPr indent="0" marL="0">
              <a:buNone/>
            </a:pPr>
            <a:r>
              <a:rPr lang="en-US" sz="1400" dirty="0">
                <a:solidFill>
                  <a:schemeClr val="tx1"/>
                </a:solidFill>
              </a:rPr>
              <a:t>precisión: de cada 10 alertas, casi 8 son atrasos reales</a:t>
            </a:r>
            <a:endParaRPr lang="en-US" sz="1400" dirty="0"/>
          </a:p>
        </p:txBody>
      </p:sp>
      <p:sp>
        <p:nvSpPr>
          <p:cNvPr id="16" name="métrica 2"/>
          <p:cNvSpPr/>
          <p:nvPr/>
        </p:nvSpPr>
        <p:spPr>
          <a:xfrm>
            <a:off x="7909560" y="3154680"/>
            <a:ext cx="3730752" cy="1325880"/>
          </a:xfrm>
          <a:prstGeom prst="roundRect">
            <a:avLst>
              <a:gd name="adj" fmla="val 5517"/>
            </a:avLst>
          </a:prstGeom>
          <a:solidFill>
            <a:schemeClr val="bg2"/>
          </a:solidFill>
          <a:ln w="12700">
            <a:solidFill>
              <a:schemeClr val="bg2"/>
            </a:solidFill>
            <a:prstDash val="solid"/>
          </a:ln>
        </p:spPr>
      </p:sp>
      <p:sp>
        <p:nvSpPr>
          <p:cNvPr id="17" name="Text 14"/>
          <p:cNvSpPr txBox="1"/>
          <p:nvPr/>
        </p:nvSpPr>
        <p:spPr>
          <a:xfrm>
            <a:off x="8092440" y="3154680"/>
            <a:ext cx="1325880" cy="1325880"/>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0,597</a:t>
            </a:r>
            <a:endParaRPr lang="en-US" sz="2800" dirty="0"/>
          </a:p>
        </p:txBody>
      </p:sp>
      <p:sp>
        <p:nvSpPr>
          <p:cNvPr id="18" name="Text 15"/>
          <p:cNvSpPr txBox="1"/>
          <p:nvPr/>
        </p:nvSpPr>
        <p:spPr>
          <a:xfrm>
            <a:off x="9418320" y="3154680"/>
            <a:ext cx="2103120" cy="1325880"/>
          </a:xfrm>
          <a:prstGeom prst="rect">
            <a:avLst/>
          </a:prstGeom>
          <a:noFill/>
          <a:ln/>
        </p:spPr>
        <p:txBody>
          <a:bodyPr wrap="square" lIns="0" tIns="0" rIns="0" bIns="0" rtlCol="0" anchor="ctr"/>
          <a:lstStyle/>
          <a:p>
            <a:pPr indent="0" marL="0">
              <a:buNone/>
            </a:pPr>
            <a:r>
              <a:rPr lang="en-US" sz="1400" dirty="0">
                <a:solidFill>
                  <a:schemeClr val="tx1"/>
                </a:solidFill>
              </a:rPr>
              <a:t>sensibilidad: detecta 1.176 de los 1.969 atrasos</a:t>
            </a:r>
            <a:endParaRPr lang="en-US" sz="1400" dirty="0"/>
          </a:p>
        </p:txBody>
      </p:sp>
      <p:sp>
        <p:nvSpPr>
          <p:cNvPr id="19" name="métrica 3"/>
          <p:cNvSpPr/>
          <p:nvPr/>
        </p:nvSpPr>
        <p:spPr>
          <a:xfrm>
            <a:off x="7909560" y="4663440"/>
            <a:ext cx="3730752" cy="1325880"/>
          </a:xfrm>
          <a:prstGeom prst="roundRect">
            <a:avLst>
              <a:gd name="adj" fmla="val 5517"/>
            </a:avLst>
          </a:prstGeom>
          <a:solidFill>
            <a:srgbClr val="F7E6CC"/>
          </a:solidFill>
          <a:ln w="12700">
            <a:solidFill>
              <a:srgbClr val="F7E6CC"/>
            </a:solidFill>
            <a:prstDash val="solid"/>
          </a:ln>
        </p:spPr>
      </p:sp>
      <p:sp>
        <p:nvSpPr>
          <p:cNvPr id="20" name="Text 17"/>
          <p:cNvSpPr txBox="1"/>
          <p:nvPr/>
        </p:nvSpPr>
        <p:spPr>
          <a:xfrm>
            <a:off x="8092440" y="4663440"/>
            <a:ext cx="1325880" cy="1325880"/>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0,551</a:t>
            </a:r>
            <a:endParaRPr lang="en-US" sz="2800" dirty="0"/>
          </a:p>
        </p:txBody>
      </p:sp>
      <p:sp>
        <p:nvSpPr>
          <p:cNvPr id="21" name="Text 18"/>
          <p:cNvSpPr txBox="1"/>
          <p:nvPr/>
        </p:nvSpPr>
        <p:spPr>
          <a:xfrm>
            <a:off x="9418320" y="4663440"/>
            <a:ext cx="2103120" cy="1325880"/>
          </a:xfrm>
          <a:prstGeom prst="rect">
            <a:avLst/>
          </a:prstGeom>
          <a:noFill/>
          <a:ln/>
        </p:spPr>
        <p:txBody>
          <a:bodyPr wrap="square" lIns="0" tIns="0" rIns="0" bIns="0" rtlCol="0" anchor="ctr"/>
          <a:lstStyle/>
          <a:p>
            <a:pPr indent="0" marL="0">
              <a:buNone/>
            </a:pPr>
            <a:r>
              <a:rPr lang="en-US" sz="1400" dirty="0">
                <a:solidFill>
                  <a:schemeClr val="tx1"/>
                </a:solidFill>
              </a:rPr>
              <a:t>AUC en el segmento ≤ 10: poca señal fuera del descuento alto</a:t>
            </a:r>
            <a:endParaRPr lang="en-US" sz="1400" dirty="0"/>
          </a:p>
        </p:txBody>
      </p:sp>
      <p:sp>
        <p:nvSpPr>
          <p:cNvPr id="22" name="Text 19"/>
          <p:cNvSpPr txBox="1"/>
          <p:nvPr/>
        </p:nvSpPr>
        <p:spPr>
          <a:xfrm>
            <a:off x="548640" y="6382512"/>
            <a:ext cx="5486400" cy="274320"/>
          </a:xfrm>
          <a:prstGeom prst="rect">
            <a:avLst/>
          </a:prstGeom>
          <a:noFill/>
          <a:ln/>
        </p:spPr>
        <p:txBody>
          <a:bodyPr wrap="square" lIns="0" tIns="0" rIns="0" bIns="0" rtlCol="0" anchor="ctr"/>
          <a:lstStyle/>
          <a:p>
            <a:pPr indent="0" marL="0">
              <a:buNone/>
            </a:pPr>
            <a:r>
              <a:rPr lang="en-US" sz="1100" b="1" dirty="0">
                <a:solidFill>
                  <a:schemeClr val="accent5"/>
                </a:solidFill>
              </a:rPr>
              <a:t>Expone: </a:t>
            </a:r>
            <a:pPr indent="0" marL="0">
              <a:buNone/>
            </a:pPr>
            <a:r>
              <a:rPr lang="en-US" sz="1100" dirty="0">
                <a:solidFill>
                  <a:schemeClr val="accent5"/>
                </a:solidFill>
              </a:rPr>
              <a:t>Sebastián Rojas Araya</a:t>
            </a:r>
            <a:endParaRPr lang="en-US" sz="1100" dirty="0"/>
          </a:p>
        </p:txBody>
      </p:sp>
      <p:sp>
        <p:nvSpPr>
          <p:cNvPr id="25" name="Slide Number Placeholder 0"/>
          <p:cNvSpPr>
            <a:spLocks noGrp="1"/>
          </p:cNvSpPr>
          <p:nvPr>
            <p:ph type="sldNum" sz="quarter" idx="4294967295"/>
          </p:nvPr>
        </p:nvSpPr>
        <p:spPr>
          <a:xfrm>
            <a:off x="11338560" y="6382512"/>
            <a:ext cx="3200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869680" cy="685800"/>
          </a:xfrm>
          <a:prstGeom prst="rect">
            <a:avLst/>
          </a:prstGeom>
          <a:noFill/>
          <a:ln/>
        </p:spPr>
        <p:txBody>
          <a:bodyPr wrap="square" lIns="0" tIns="0" rIns="0" bIns="0" rtlCol="0" anchor="ctr"/>
          <a:lstStyle/>
          <a:p>
            <a:pPr algn="l" indent="0" marL="0">
              <a:buNone/>
            </a:pPr>
            <a:r>
              <a:rPr lang="en-US" sz="3000" b="1" dirty="0">
                <a:solidFill>
                  <a:schemeClr val="tx2"/>
                </a:solidFill>
              </a:rPr>
              <a:t>El efecto del peso no es lineal</a:t>
            </a:r>
            <a:endParaRPr lang="en-US" sz="3000" dirty="0"/>
          </a:p>
        </p:txBody>
      </p:sp>
      <p:sp>
        <p:nvSpPr>
          <p:cNvPr id="3" name="Text 0"/>
          <p:cNvSpPr/>
          <p:nvPr>
            <p:ph idx="101" type="body" hasCustomPrompt="1"/>
          </p:nvPr>
        </p:nvSpPr>
        <p:spPr>
          <a:xfrm>
            <a:off x="548640" y="987552"/>
            <a:ext cx="8869680" cy="411480"/>
          </a:xfrm>
          <a:prstGeom prst="rect">
            <a:avLst/>
          </a:prstGeom>
          <a:noFill/>
          <a:ln/>
        </p:spPr>
        <p:txBody>
          <a:bodyPr wrap="square" lIns="0" tIns="0" rIns="0" bIns="0" rtlCol="0" anchor="t"/>
          <a:lstStyle/>
          <a:p>
            <a:pPr indent="0" marL="0">
              <a:buNone/>
            </a:pPr>
            <a:r>
              <a:rPr lang="en-US" sz="1600" dirty="0">
                <a:solidFill>
                  <a:schemeClr val="accent5"/>
                </a:solidFill>
              </a:rPr>
              <a:t>Diagnóstico del modelo final (M3) en el segmento ≤ 10</a:t>
            </a:r>
            <a:endParaRPr lang="en-US" sz="1600" dirty="0"/>
          </a:p>
        </p:txBody>
      </p:sp>
      <p:sp>
        <p:nvSpPr>
          <p:cNvPr id="4" name="fase S1"/>
          <p:cNvSpPr/>
          <p:nvPr/>
        </p:nvSpPr>
        <p:spPr>
          <a:xfrm>
            <a:off x="9537192" y="429768"/>
            <a:ext cx="457200" cy="457200"/>
          </a:xfrm>
          <a:prstGeom prst="ellipse">
            <a:avLst/>
          </a:prstGeom>
          <a:solidFill>
            <a:schemeClr val="accent1"/>
          </a:solidFill>
          <a:ln w="12700">
            <a:solidFill>
              <a:schemeClr val="accent1"/>
            </a:solidFill>
            <a:prstDash val="solid"/>
          </a:ln>
        </p:spPr>
      </p:sp>
      <p:sp>
        <p:nvSpPr>
          <p:cNvPr id="5" name="Text 3"/>
          <p:cNvSpPr txBox="1"/>
          <p:nvPr/>
        </p:nvSpPr>
        <p:spPr>
          <a:xfrm>
            <a:off x="9537192" y="429768"/>
            <a:ext cx="457200" cy="457200"/>
          </a:xfrm>
          <a:prstGeom prst="rect">
            <a:avLst/>
          </a:prstGeom>
          <a:noFill/>
          <a:ln/>
        </p:spPr>
        <p:txBody>
          <a:bodyPr wrap="square" lIns="0" tIns="0" rIns="0" bIns="0" rtlCol="0" anchor="ctr"/>
          <a:lstStyle/>
          <a:p>
            <a:pPr algn="ctr" indent="0" marL="0">
              <a:buNone/>
            </a:pPr>
            <a:r>
              <a:rPr lang="en-US" sz="1200" b="1" dirty="0">
                <a:solidFill>
                  <a:schemeClr val="bg1"/>
                </a:solidFill>
              </a:rPr>
              <a:t>S1</a:t>
            </a:r>
            <a:endParaRPr lang="en-US" sz="1200" dirty="0"/>
          </a:p>
        </p:txBody>
      </p:sp>
      <p:sp>
        <p:nvSpPr>
          <p:cNvPr id="6" name="fase S2"/>
          <p:cNvSpPr/>
          <p:nvPr/>
        </p:nvSpPr>
        <p:spPr>
          <a:xfrm>
            <a:off x="10085832" y="429768"/>
            <a:ext cx="457200" cy="457200"/>
          </a:xfrm>
          <a:prstGeom prst="ellipse">
            <a:avLst/>
          </a:prstGeom>
          <a:solidFill>
            <a:schemeClr val="bg2"/>
          </a:solidFill>
          <a:ln w="12700">
            <a:solidFill>
              <a:schemeClr val="bg2"/>
            </a:solidFill>
            <a:prstDash val="solid"/>
          </a:ln>
        </p:spPr>
      </p:sp>
      <p:sp>
        <p:nvSpPr>
          <p:cNvPr id="7" name="Text 5"/>
          <p:cNvSpPr txBox="1"/>
          <p:nvPr/>
        </p:nvSpPr>
        <p:spPr>
          <a:xfrm>
            <a:off x="10085832" y="429768"/>
            <a:ext cx="457200" cy="457200"/>
          </a:xfrm>
          <a:prstGeom prst="rect">
            <a:avLst/>
          </a:prstGeom>
          <a:noFill/>
          <a:ln/>
        </p:spPr>
        <p:txBody>
          <a:bodyPr wrap="square" lIns="0" tIns="0" rIns="0" bIns="0" rtlCol="0" anchor="ctr"/>
          <a:lstStyle/>
          <a:p>
            <a:pPr algn="ctr" indent="0" marL="0">
              <a:buNone/>
            </a:pPr>
            <a:r>
              <a:rPr lang="en-US" sz="1200" b="1" dirty="0">
                <a:solidFill>
                  <a:schemeClr val="accent5"/>
                </a:solidFill>
              </a:rPr>
              <a:t>S2</a:t>
            </a:r>
            <a:endParaRPr lang="en-US" sz="1200" dirty="0"/>
          </a:p>
        </p:txBody>
      </p:sp>
      <p:sp>
        <p:nvSpPr>
          <p:cNvPr id="8" name="fase F2"/>
          <p:cNvSpPr/>
          <p:nvPr/>
        </p:nvSpPr>
        <p:spPr>
          <a:xfrm>
            <a:off x="10634472" y="429768"/>
            <a:ext cx="457200" cy="457200"/>
          </a:xfrm>
          <a:prstGeom prst="ellipse">
            <a:avLst/>
          </a:prstGeom>
          <a:solidFill>
            <a:schemeClr val="bg2"/>
          </a:solidFill>
          <a:ln w="12700">
            <a:solidFill>
              <a:schemeClr val="bg2"/>
            </a:solidFill>
            <a:prstDash val="solid"/>
          </a:ln>
        </p:spPr>
      </p:sp>
      <p:sp>
        <p:nvSpPr>
          <p:cNvPr id="9" name="Text 7"/>
          <p:cNvSpPr txBox="1"/>
          <p:nvPr/>
        </p:nvSpPr>
        <p:spPr>
          <a:xfrm>
            <a:off x="10634472" y="429768"/>
            <a:ext cx="457200" cy="457200"/>
          </a:xfrm>
          <a:prstGeom prst="rect">
            <a:avLst/>
          </a:prstGeom>
          <a:noFill/>
          <a:ln/>
        </p:spPr>
        <p:txBody>
          <a:bodyPr wrap="square" lIns="0" tIns="0" rIns="0" bIns="0" rtlCol="0" anchor="ctr"/>
          <a:lstStyle/>
          <a:p>
            <a:pPr algn="ctr" indent="0" marL="0">
              <a:buNone/>
            </a:pPr>
            <a:r>
              <a:rPr lang="en-US" sz="1200" b="1" dirty="0">
                <a:solidFill>
                  <a:schemeClr val="accent5"/>
                </a:solidFill>
              </a:rPr>
              <a:t>F2</a:t>
            </a:r>
            <a:endParaRPr lang="en-US" sz="1200" dirty="0"/>
          </a:p>
        </p:txBody>
      </p:sp>
      <p:sp>
        <p:nvSpPr>
          <p:cNvPr id="10" name="fase S3"/>
          <p:cNvSpPr/>
          <p:nvPr/>
        </p:nvSpPr>
        <p:spPr>
          <a:xfrm>
            <a:off x="11183112" y="429768"/>
            <a:ext cx="457200" cy="457200"/>
          </a:xfrm>
          <a:prstGeom prst="ellipse">
            <a:avLst/>
          </a:prstGeom>
          <a:solidFill>
            <a:schemeClr val="accent2"/>
          </a:solidFill>
          <a:ln w="12700">
            <a:solidFill>
              <a:schemeClr val="accent2"/>
            </a:solidFill>
            <a:prstDash val="solid"/>
          </a:ln>
        </p:spPr>
      </p:sp>
      <p:sp>
        <p:nvSpPr>
          <p:cNvPr id="11" name="Text 9"/>
          <p:cNvSpPr txBox="1"/>
          <p:nvPr/>
        </p:nvSpPr>
        <p:spPr>
          <a:xfrm>
            <a:off x="11183112" y="429768"/>
            <a:ext cx="457200" cy="457200"/>
          </a:xfrm>
          <a:prstGeom prst="rect">
            <a:avLst/>
          </a:prstGeom>
          <a:noFill/>
          <a:ln/>
        </p:spPr>
        <p:txBody>
          <a:bodyPr wrap="square" lIns="0" tIns="0" rIns="0" bIns="0" rtlCol="0" anchor="ctr"/>
          <a:lstStyle/>
          <a:p>
            <a:pPr algn="ctr" indent="0" marL="0">
              <a:buNone/>
            </a:pPr>
            <a:r>
              <a:rPr lang="en-US" sz="1200" b="1" dirty="0">
                <a:solidFill>
                  <a:schemeClr val="tx1"/>
                </a:solidFill>
              </a:rPr>
              <a:t>S3</a:t>
            </a:r>
            <a:endParaRPr lang="en-US" sz="1200" dirty="0"/>
          </a:p>
        </p:txBody>
      </p:sp>
      <p:pic>
        <p:nvPicPr>
          <p:cNvPr id="12" name="Image 0" descr="Logit empírico del atraso por deciles de peso frente al ajuste lineal de M3">    </p:cNvPr>
          <p:cNvPicPr>
            <a:picLocks noChangeAspect="1"/>
          </p:cNvPicPr>
          <p:nvPr/>
        </p:nvPicPr>
        <p:blipFill>
          <a:blip r:embed="rId1"/>
          <a:stretch>
            <a:fillRect/>
          </a:stretch>
        </p:blipFill>
        <p:spPr>
          <a:xfrm>
            <a:off x="548640" y="1600200"/>
            <a:ext cx="5760720" cy="3886200"/>
          </a:xfrm>
          <a:prstGeom prst="rect">
            <a:avLst/>
          </a:prstGeom>
        </p:spPr>
      </p:pic>
      <p:sp>
        <p:nvSpPr>
          <p:cNvPr id="13" name="Text 10"/>
          <p:cNvSpPr txBox="1"/>
          <p:nvPr/>
        </p:nvSpPr>
        <p:spPr>
          <a:xfrm>
            <a:off x="548640" y="5577840"/>
            <a:ext cx="5760720" cy="365760"/>
          </a:xfrm>
          <a:prstGeom prst="rect">
            <a:avLst/>
          </a:prstGeom>
          <a:noFill/>
          <a:ln/>
        </p:spPr>
        <p:txBody>
          <a:bodyPr wrap="square" lIns="0" tIns="0" rIns="0" bIns="0" rtlCol="0" anchor="ctr"/>
          <a:lstStyle/>
          <a:p>
            <a:pPr indent="0" marL="0">
              <a:buNone/>
            </a:pPr>
            <a:r>
              <a:rPr lang="en-US" sz="1200" dirty="0">
                <a:solidFill>
                  <a:schemeClr val="accent5"/>
                </a:solidFill>
              </a:rPr>
              <a:t>Logit empírico por deciles de peso (IC 95 %) frente al ajuste lineal de M3.</a:t>
            </a:r>
            <a:endParaRPr lang="en-US" sz="1200" dirty="0"/>
          </a:p>
        </p:txBody>
      </p:sp>
      <p:sp>
        <p:nvSpPr>
          <p:cNvPr id="14" name="icono Multicolinealidad"/>
          <p:cNvSpPr/>
          <p:nvPr/>
        </p:nvSpPr>
        <p:spPr>
          <a:xfrm>
            <a:off x="6675120" y="1737360"/>
            <a:ext cx="548640" cy="548640"/>
          </a:xfrm>
          <a:prstGeom prst="ellipse">
            <a:avLst/>
          </a:prstGeom>
          <a:solidFill>
            <a:schemeClr val="accent1"/>
          </a:solidFill>
          <a:ln w="12700">
            <a:solidFill>
              <a:schemeClr val="accent1"/>
            </a:solidFill>
            <a:prstDash val="solid"/>
          </a:ln>
        </p:spPr>
      </p:sp>
      <p:pic>
        <p:nvPicPr>
          <p:cNvPr id="15" name="Image 1" descr="icono Multicolinealidad">    </p:cNvPr>
          <p:cNvPicPr>
            <a:picLocks noChangeAspect="1"/>
          </p:cNvPicPr>
          <p:nvPr/>
        </p:nvPicPr>
        <p:blipFill>
          <a:blip r:embed="rId2"/>
          <a:stretch>
            <a:fillRect/>
          </a:stretch>
        </p:blipFill>
        <p:spPr>
          <a:xfrm>
            <a:off x="6806794" y="1869034"/>
            <a:ext cx="285293" cy="285293"/>
          </a:xfrm>
          <a:prstGeom prst="rect">
            <a:avLst/>
          </a:prstGeom>
        </p:spPr>
      </p:pic>
      <p:sp>
        <p:nvSpPr>
          <p:cNvPr id="16" name="Text 12"/>
          <p:cNvSpPr txBox="1"/>
          <p:nvPr/>
        </p:nvSpPr>
        <p:spPr>
          <a:xfrm>
            <a:off x="7406640" y="1645920"/>
            <a:ext cx="4233672" cy="960120"/>
          </a:xfrm>
          <a:prstGeom prst="rect">
            <a:avLst/>
          </a:prstGeom>
          <a:noFill/>
          <a:ln/>
        </p:spPr>
        <p:txBody>
          <a:bodyPr wrap="square" lIns="0" tIns="0" rIns="0" bIns="0" rtlCol="0" anchor="t"/>
          <a:lstStyle/>
          <a:p>
            <a:pPr indent="0" marL="0">
              <a:buNone/>
            </a:pPr>
            <a:r>
              <a:rPr lang="en-US" sz="1600" b="1" dirty="0">
                <a:solidFill>
                  <a:schemeClr val="tx2"/>
                </a:solidFill>
              </a:rPr>
              <a:t>Multicolinealidad</a:t>
            </a:r>
            <a:endParaRPr lang="en-US" sz="1600" dirty="0"/>
          </a:p>
          <a:p>
            <a:pPr indent="0" marL="0">
              <a:buNone/>
            </a:pPr>
            <a:r>
              <a:rPr lang="en-US" sz="1400" dirty="0">
                <a:solidFill>
                  <a:schemeClr val="tx1"/>
                </a:solidFill>
              </a:rPr>
              <a:t>VIF ≤ 1,26 en las variables numéricas: sin problema</a:t>
            </a:r>
            <a:endParaRPr lang="en-US" sz="1600" dirty="0"/>
          </a:p>
        </p:txBody>
      </p:sp>
      <p:sp>
        <p:nvSpPr>
          <p:cNvPr id="17" name="icono Linealidad en el logit"/>
          <p:cNvSpPr/>
          <p:nvPr/>
        </p:nvSpPr>
        <p:spPr>
          <a:xfrm>
            <a:off x="6675120" y="2816352"/>
            <a:ext cx="548640" cy="548640"/>
          </a:xfrm>
          <a:prstGeom prst="ellipse">
            <a:avLst/>
          </a:prstGeom>
          <a:solidFill>
            <a:schemeClr val="accent2"/>
          </a:solidFill>
          <a:ln w="12700">
            <a:solidFill>
              <a:schemeClr val="accent2"/>
            </a:solidFill>
            <a:prstDash val="solid"/>
          </a:ln>
        </p:spPr>
      </p:sp>
      <p:pic>
        <p:nvPicPr>
          <p:cNvPr id="18" name="Image 2" descr="icono Linealidad en el logit">    </p:cNvPr>
          <p:cNvPicPr>
            <a:picLocks noChangeAspect="1"/>
          </p:cNvPicPr>
          <p:nvPr/>
        </p:nvPicPr>
        <p:blipFill>
          <a:blip r:embed="rId3"/>
          <a:stretch>
            <a:fillRect/>
          </a:stretch>
        </p:blipFill>
        <p:spPr>
          <a:xfrm>
            <a:off x="6806794" y="2948026"/>
            <a:ext cx="285293" cy="285293"/>
          </a:xfrm>
          <a:prstGeom prst="rect">
            <a:avLst/>
          </a:prstGeom>
        </p:spPr>
      </p:pic>
      <p:sp>
        <p:nvSpPr>
          <p:cNvPr id="19" name="Text 14"/>
          <p:cNvSpPr txBox="1"/>
          <p:nvPr/>
        </p:nvSpPr>
        <p:spPr>
          <a:xfrm>
            <a:off x="7406640" y="2724912"/>
            <a:ext cx="4233672" cy="960120"/>
          </a:xfrm>
          <a:prstGeom prst="rect">
            <a:avLst/>
          </a:prstGeom>
          <a:noFill/>
          <a:ln/>
        </p:spPr>
        <p:txBody>
          <a:bodyPr wrap="square" lIns="0" tIns="0" rIns="0" bIns="0" rtlCol="0" anchor="t"/>
          <a:lstStyle/>
          <a:p>
            <a:pPr indent="0" marL="0">
              <a:buNone/>
            </a:pPr>
            <a:r>
              <a:rPr lang="en-US" sz="1600" b="1" dirty="0">
                <a:solidFill>
                  <a:schemeClr val="tx2"/>
                </a:solidFill>
              </a:rPr>
              <a:t>Linealidad en el logit</a:t>
            </a:r>
            <a:endParaRPr lang="en-US" sz="1600" dirty="0"/>
          </a:p>
          <a:p>
            <a:pPr indent="0" marL="0">
              <a:buNone/>
            </a:pPr>
            <a:r>
              <a:rPr lang="en-US" sz="1400" dirty="0">
                <a:solidFill>
                  <a:schemeClr val="tx1"/>
                </a:solidFill>
              </a:rPr>
              <a:t>Box-Tidwell la rechaza (p &lt; 0,001): el atraso es máximo cerca de 3.000 g</a:t>
            </a:r>
            <a:endParaRPr lang="en-US" sz="1600" dirty="0"/>
          </a:p>
        </p:txBody>
      </p:sp>
      <p:sp>
        <p:nvSpPr>
          <p:cNvPr id="20" name="icono Residuos agrupados"/>
          <p:cNvSpPr/>
          <p:nvPr/>
        </p:nvSpPr>
        <p:spPr>
          <a:xfrm>
            <a:off x="6675120" y="3895344"/>
            <a:ext cx="548640" cy="548640"/>
          </a:xfrm>
          <a:prstGeom prst="ellipse">
            <a:avLst/>
          </a:prstGeom>
          <a:solidFill>
            <a:schemeClr val="accent2"/>
          </a:solidFill>
          <a:ln w="12700">
            <a:solidFill>
              <a:schemeClr val="accent2"/>
            </a:solidFill>
            <a:prstDash val="solid"/>
          </a:ln>
        </p:spPr>
      </p:sp>
      <p:pic>
        <p:nvPicPr>
          <p:cNvPr id="21" name="Image 3" descr="icono Residuos agrupados">    </p:cNvPr>
          <p:cNvPicPr>
            <a:picLocks noChangeAspect="1"/>
          </p:cNvPicPr>
          <p:nvPr/>
        </p:nvPicPr>
        <p:blipFill>
          <a:blip r:embed="rId4"/>
          <a:stretch>
            <a:fillRect/>
          </a:stretch>
        </p:blipFill>
        <p:spPr>
          <a:xfrm>
            <a:off x="6806794" y="4027018"/>
            <a:ext cx="285293" cy="285293"/>
          </a:xfrm>
          <a:prstGeom prst="rect">
            <a:avLst/>
          </a:prstGeom>
        </p:spPr>
      </p:pic>
      <p:sp>
        <p:nvSpPr>
          <p:cNvPr id="22" name="Text 16"/>
          <p:cNvSpPr txBox="1"/>
          <p:nvPr/>
        </p:nvSpPr>
        <p:spPr>
          <a:xfrm>
            <a:off x="7406640" y="3803904"/>
            <a:ext cx="4233672" cy="960120"/>
          </a:xfrm>
          <a:prstGeom prst="rect">
            <a:avLst/>
          </a:prstGeom>
          <a:noFill/>
          <a:ln/>
        </p:spPr>
        <p:txBody>
          <a:bodyPr wrap="square" lIns="0" tIns="0" rIns="0" bIns="0" rtlCol="0" anchor="t"/>
          <a:lstStyle/>
          <a:p>
            <a:pPr indent="0" marL="0">
              <a:buNone/>
            </a:pPr>
            <a:r>
              <a:rPr lang="en-US" sz="1600" b="1" dirty="0">
                <a:solidFill>
                  <a:schemeClr val="tx2"/>
                </a:solidFill>
              </a:rPr>
              <a:t>Residuos agrupados</a:t>
            </a:r>
            <a:endParaRPr lang="en-US" sz="1600" dirty="0"/>
          </a:p>
          <a:p>
            <a:pPr indent="0" marL="0">
              <a:buNone/>
            </a:pPr>
            <a:r>
              <a:rPr lang="en-US" sz="1400" dirty="0">
                <a:solidFill>
                  <a:schemeClr val="tx1"/>
                </a:solidFill>
              </a:rPr>
              <a:t>7 de 20 grupos fuera de la banda del 95 %, cuando se esperaría uno</a:t>
            </a:r>
            <a:endParaRPr lang="en-US" sz="1600" dirty="0"/>
          </a:p>
        </p:txBody>
      </p:sp>
      <p:sp>
        <p:nvSpPr>
          <p:cNvPr id="23" name="icono Influencia"/>
          <p:cNvSpPr/>
          <p:nvPr/>
        </p:nvSpPr>
        <p:spPr>
          <a:xfrm>
            <a:off x="6675120" y="4974336"/>
            <a:ext cx="548640" cy="548640"/>
          </a:xfrm>
          <a:prstGeom prst="ellipse">
            <a:avLst/>
          </a:prstGeom>
          <a:solidFill>
            <a:schemeClr val="accent1"/>
          </a:solidFill>
          <a:ln w="12700">
            <a:solidFill>
              <a:schemeClr val="accent1"/>
            </a:solidFill>
            <a:prstDash val="solid"/>
          </a:ln>
        </p:spPr>
      </p:sp>
      <p:pic>
        <p:nvPicPr>
          <p:cNvPr id="24" name="Image 4" descr="icono Influencia">    </p:cNvPr>
          <p:cNvPicPr>
            <a:picLocks noChangeAspect="1"/>
          </p:cNvPicPr>
          <p:nvPr/>
        </p:nvPicPr>
        <p:blipFill>
          <a:blip r:embed="rId5"/>
          <a:stretch>
            <a:fillRect/>
          </a:stretch>
        </p:blipFill>
        <p:spPr>
          <a:xfrm>
            <a:off x="6806794" y="5106010"/>
            <a:ext cx="285293" cy="285293"/>
          </a:xfrm>
          <a:prstGeom prst="rect">
            <a:avLst/>
          </a:prstGeom>
        </p:spPr>
      </p:pic>
      <p:sp>
        <p:nvSpPr>
          <p:cNvPr id="25" name="Text 18"/>
          <p:cNvSpPr txBox="1"/>
          <p:nvPr/>
        </p:nvSpPr>
        <p:spPr>
          <a:xfrm>
            <a:off x="7406640" y="4882896"/>
            <a:ext cx="4233672" cy="960120"/>
          </a:xfrm>
          <a:prstGeom prst="rect">
            <a:avLst/>
          </a:prstGeom>
          <a:noFill/>
          <a:ln/>
        </p:spPr>
        <p:txBody>
          <a:bodyPr wrap="square" lIns="0" tIns="0" rIns="0" bIns="0" rtlCol="0" anchor="t"/>
          <a:lstStyle/>
          <a:p>
            <a:pPr indent="0" marL="0">
              <a:buNone/>
            </a:pPr>
            <a:r>
              <a:rPr lang="en-US" sz="1600" b="1" dirty="0">
                <a:solidFill>
                  <a:schemeClr val="tx2"/>
                </a:solidFill>
              </a:rPr>
              <a:t>Influencia</a:t>
            </a:r>
            <a:endParaRPr lang="en-US" sz="1600" dirty="0"/>
          </a:p>
          <a:p>
            <a:pPr indent="0" marL="0">
              <a:buNone/>
            </a:pPr>
            <a:r>
              <a:rPr lang="en-US" sz="1400" dirty="0">
                <a:solidFill>
                  <a:schemeClr val="tx1"/>
                </a:solidFill>
              </a:rPr>
              <a:t>523 alertas por leverage, ninguna por Cook; sin ellas, OR 0,853 (misma dirección)</a:t>
            </a:r>
            <a:endParaRPr lang="en-US" sz="1600" dirty="0"/>
          </a:p>
        </p:txBody>
      </p:sp>
      <p:sp>
        <p:nvSpPr>
          <p:cNvPr id="26" name="Text 19"/>
          <p:cNvSpPr txBox="1"/>
          <p:nvPr/>
        </p:nvSpPr>
        <p:spPr>
          <a:xfrm>
            <a:off x="548640" y="6382512"/>
            <a:ext cx="5486400" cy="274320"/>
          </a:xfrm>
          <a:prstGeom prst="rect">
            <a:avLst/>
          </a:prstGeom>
          <a:noFill/>
          <a:ln/>
        </p:spPr>
        <p:txBody>
          <a:bodyPr wrap="square" lIns="0" tIns="0" rIns="0" bIns="0" rtlCol="0" anchor="ctr"/>
          <a:lstStyle/>
          <a:p>
            <a:pPr indent="0" marL="0">
              <a:buNone/>
            </a:pPr>
            <a:r>
              <a:rPr lang="en-US" sz="1100" b="1" dirty="0">
                <a:solidFill>
                  <a:schemeClr val="accent5"/>
                </a:solidFill>
              </a:rPr>
              <a:t>Expone: </a:t>
            </a:r>
            <a:pPr indent="0" marL="0">
              <a:buNone/>
            </a:pPr>
            <a:r>
              <a:rPr lang="en-US" sz="1100" dirty="0">
                <a:solidFill>
                  <a:schemeClr val="accent5"/>
                </a:solidFill>
              </a:rPr>
              <a:t>Sebastián Rojas Araya</a:t>
            </a:r>
            <a:endParaRPr lang="en-US" sz="1100" dirty="0"/>
          </a:p>
        </p:txBody>
      </p:sp>
      <p:sp>
        <p:nvSpPr>
          <p:cNvPr id="25" name="Slide Number Placeholder 0"/>
          <p:cNvSpPr>
            <a:spLocks noGrp="1"/>
          </p:cNvSpPr>
          <p:nvPr>
            <p:ph type="sldNum" sz="quarter" idx="4294967295"/>
          </p:nvPr>
        </p:nvSpPr>
        <p:spPr>
          <a:xfrm>
            <a:off x="11338560" y="6382512"/>
            <a:ext cx="3200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869680" cy="685800"/>
          </a:xfrm>
          <a:prstGeom prst="rect">
            <a:avLst/>
          </a:prstGeom>
          <a:noFill/>
          <a:ln/>
        </p:spPr>
        <p:txBody>
          <a:bodyPr wrap="square" lIns="0" tIns="0" rIns="0" bIns="0" rtlCol="0" anchor="ctr"/>
          <a:lstStyle/>
          <a:p>
            <a:pPr algn="l" indent="0" marL="0">
              <a:buNone/>
            </a:pPr>
            <a:r>
              <a:rPr lang="en-US" sz="3000" b="1" dirty="0">
                <a:solidFill>
                  <a:schemeClr val="tx2"/>
                </a:solidFill>
              </a:rPr>
              <a:t>El efecto del peso es estable</a:t>
            </a:r>
            <a:endParaRPr lang="en-US" sz="3000" dirty="0"/>
          </a:p>
        </p:txBody>
      </p:sp>
      <p:sp>
        <p:nvSpPr>
          <p:cNvPr id="3" name="Text 0"/>
          <p:cNvSpPr/>
          <p:nvPr>
            <p:ph idx="101" type="body" hasCustomPrompt="1"/>
          </p:nvPr>
        </p:nvSpPr>
        <p:spPr>
          <a:xfrm>
            <a:off x="548640" y="987552"/>
            <a:ext cx="8869680" cy="411480"/>
          </a:xfrm>
          <a:prstGeom prst="rect">
            <a:avLst/>
          </a:prstGeom>
          <a:noFill/>
          <a:ln/>
        </p:spPr>
        <p:txBody>
          <a:bodyPr wrap="square" lIns="0" tIns="0" rIns="0" bIns="0" rtlCol="0" anchor="t"/>
          <a:lstStyle/>
          <a:p>
            <a:pPr indent="0" marL="0">
              <a:buNone/>
            </a:pPr>
            <a:r>
              <a:rPr lang="en-US" sz="1600" dirty="0">
                <a:solidFill>
                  <a:schemeClr val="accent5"/>
                </a:solidFill>
              </a:rPr>
              <a:t>Bootstrap por pares, B = 10.000, con el método que S2 validó</a:t>
            </a:r>
            <a:endParaRPr lang="en-US" sz="1600" dirty="0"/>
          </a:p>
        </p:txBody>
      </p:sp>
      <p:sp>
        <p:nvSpPr>
          <p:cNvPr id="4" name="fase S1"/>
          <p:cNvSpPr/>
          <p:nvPr/>
        </p:nvSpPr>
        <p:spPr>
          <a:xfrm>
            <a:off x="9537192" y="429768"/>
            <a:ext cx="457200" cy="457200"/>
          </a:xfrm>
          <a:prstGeom prst="ellipse">
            <a:avLst/>
          </a:prstGeom>
          <a:solidFill>
            <a:schemeClr val="bg2"/>
          </a:solidFill>
          <a:ln w="12700">
            <a:solidFill>
              <a:schemeClr val="bg2"/>
            </a:solidFill>
            <a:prstDash val="solid"/>
          </a:ln>
        </p:spPr>
      </p:sp>
      <p:sp>
        <p:nvSpPr>
          <p:cNvPr id="5" name="Text 3"/>
          <p:cNvSpPr txBox="1"/>
          <p:nvPr/>
        </p:nvSpPr>
        <p:spPr>
          <a:xfrm>
            <a:off x="9537192" y="429768"/>
            <a:ext cx="457200" cy="457200"/>
          </a:xfrm>
          <a:prstGeom prst="rect">
            <a:avLst/>
          </a:prstGeom>
          <a:noFill/>
          <a:ln/>
        </p:spPr>
        <p:txBody>
          <a:bodyPr wrap="square" lIns="0" tIns="0" rIns="0" bIns="0" rtlCol="0" anchor="ctr"/>
          <a:lstStyle/>
          <a:p>
            <a:pPr algn="ctr" indent="0" marL="0">
              <a:buNone/>
            </a:pPr>
            <a:r>
              <a:rPr lang="en-US" sz="1200" b="1" dirty="0">
                <a:solidFill>
                  <a:schemeClr val="accent5"/>
                </a:solidFill>
              </a:rPr>
              <a:t>S1</a:t>
            </a:r>
            <a:endParaRPr lang="en-US" sz="1200" dirty="0"/>
          </a:p>
        </p:txBody>
      </p:sp>
      <p:sp>
        <p:nvSpPr>
          <p:cNvPr id="6" name="fase S2"/>
          <p:cNvSpPr/>
          <p:nvPr/>
        </p:nvSpPr>
        <p:spPr>
          <a:xfrm>
            <a:off x="10085832" y="429768"/>
            <a:ext cx="457200" cy="457200"/>
          </a:xfrm>
          <a:prstGeom prst="ellipse">
            <a:avLst/>
          </a:prstGeom>
          <a:solidFill>
            <a:schemeClr val="accent1"/>
          </a:solidFill>
          <a:ln w="12700">
            <a:solidFill>
              <a:schemeClr val="accent1"/>
            </a:solidFill>
            <a:prstDash val="solid"/>
          </a:ln>
        </p:spPr>
      </p:sp>
      <p:sp>
        <p:nvSpPr>
          <p:cNvPr id="7" name="Text 5"/>
          <p:cNvSpPr txBox="1"/>
          <p:nvPr/>
        </p:nvSpPr>
        <p:spPr>
          <a:xfrm>
            <a:off x="10085832" y="429768"/>
            <a:ext cx="457200" cy="457200"/>
          </a:xfrm>
          <a:prstGeom prst="rect">
            <a:avLst/>
          </a:prstGeom>
          <a:noFill/>
          <a:ln/>
        </p:spPr>
        <p:txBody>
          <a:bodyPr wrap="square" lIns="0" tIns="0" rIns="0" bIns="0" rtlCol="0" anchor="ctr"/>
          <a:lstStyle/>
          <a:p>
            <a:pPr algn="ctr" indent="0" marL="0">
              <a:buNone/>
            </a:pPr>
            <a:r>
              <a:rPr lang="en-US" sz="1200" b="1" dirty="0">
                <a:solidFill>
                  <a:schemeClr val="bg1"/>
                </a:solidFill>
              </a:rPr>
              <a:t>S2</a:t>
            </a:r>
            <a:endParaRPr lang="en-US" sz="1200" dirty="0"/>
          </a:p>
        </p:txBody>
      </p:sp>
      <p:sp>
        <p:nvSpPr>
          <p:cNvPr id="8" name="fase F2"/>
          <p:cNvSpPr/>
          <p:nvPr/>
        </p:nvSpPr>
        <p:spPr>
          <a:xfrm>
            <a:off x="10634472" y="429768"/>
            <a:ext cx="457200" cy="457200"/>
          </a:xfrm>
          <a:prstGeom prst="ellipse">
            <a:avLst/>
          </a:prstGeom>
          <a:solidFill>
            <a:schemeClr val="bg2"/>
          </a:solidFill>
          <a:ln w="12700">
            <a:solidFill>
              <a:schemeClr val="bg2"/>
            </a:solidFill>
            <a:prstDash val="solid"/>
          </a:ln>
        </p:spPr>
      </p:sp>
      <p:sp>
        <p:nvSpPr>
          <p:cNvPr id="9" name="Text 7"/>
          <p:cNvSpPr txBox="1"/>
          <p:nvPr/>
        </p:nvSpPr>
        <p:spPr>
          <a:xfrm>
            <a:off x="10634472" y="429768"/>
            <a:ext cx="457200" cy="457200"/>
          </a:xfrm>
          <a:prstGeom prst="rect">
            <a:avLst/>
          </a:prstGeom>
          <a:noFill/>
          <a:ln/>
        </p:spPr>
        <p:txBody>
          <a:bodyPr wrap="square" lIns="0" tIns="0" rIns="0" bIns="0" rtlCol="0" anchor="ctr"/>
          <a:lstStyle/>
          <a:p>
            <a:pPr algn="ctr" indent="0" marL="0">
              <a:buNone/>
            </a:pPr>
            <a:r>
              <a:rPr lang="en-US" sz="1200" b="1" dirty="0">
                <a:solidFill>
                  <a:schemeClr val="accent5"/>
                </a:solidFill>
              </a:rPr>
              <a:t>F2</a:t>
            </a:r>
            <a:endParaRPr lang="en-US" sz="1200" dirty="0"/>
          </a:p>
        </p:txBody>
      </p:sp>
      <p:sp>
        <p:nvSpPr>
          <p:cNvPr id="10" name="fase S3"/>
          <p:cNvSpPr/>
          <p:nvPr/>
        </p:nvSpPr>
        <p:spPr>
          <a:xfrm>
            <a:off x="11183112" y="429768"/>
            <a:ext cx="457200" cy="457200"/>
          </a:xfrm>
          <a:prstGeom prst="ellipse">
            <a:avLst/>
          </a:prstGeom>
          <a:solidFill>
            <a:schemeClr val="accent2"/>
          </a:solidFill>
          <a:ln w="12700">
            <a:solidFill>
              <a:schemeClr val="accent2"/>
            </a:solidFill>
            <a:prstDash val="solid"/>
          </a:ln>
        </p:spPr>
      </p:sp>
      <p:sp>
        <p:nvSpPr>
          <p:cNvPr id="11" name="Text 9"/>
          <p:cNvSpPr txBox="1"/>
          <p:nvPr/>
        </p:nvSpPr>
        <p:spPr>
          <a:xfrm>
            <a:off x="11183112" y="429768"/>
            <a:ext cx="457200" cy="457200"/>
          </a:xfrm>
          <a:prstGeom prst="rect">
            <a:avLst/>
          </a:prstGeom>
          <a:noFill/>
          <a:ln/>
        </p:spPr>
        <p:txBody>
          <a:bodyPr wrap="square" lIns="0" tIns="0" rIns="0" bIns="0" rtlCol="0" anchor="ctr"/>
          <a:lstStyle/>
          <a:p>
            <a:pPr algn="ctr" indent="0" marL="0">
              <a:buNone/>
            </a:pPr>
            <a:r>
              <a:rPr lang="en-US" sz="1200" b="1" dirty="0">
                <a:solidFill>
                  <a:schemeClr val="tx1"/>
                </a:solidFill>
              </a:rPr>
              <a:t>S3</a:t>
            </a:r>
            <a:endParaRPr lang="en-US" sz="1200" dirty="0"/>
          </a:p>
        </p:txBody>
      </p:sp>
      <p:graphicFrame>
        <p:nvGraphicFramePr>
          <p:cNvPr id="12" name="gráfico conservación de signo" descr=""/>
          <p:cNvGraphicFramePr/>
          <p:nvPr/>
        </p:nvGraphicFramePr>
        <p:xfrm>
          <a:off x="548640" y="1600200"/>
          <a:ext cx="7040880" cy="4526280"/>
        </p:xfrm>
        <a:graphic xmlns:a="http://schemas.openxmlformats.org/drawingml/2006/main">
          <a:graphicData uri="http://schemas.openxmlformats.org/drawingml/2006/chart">
            <c:chart xmlns:c="http://schemas.openxmlformats.org/drawingml/2006/chart" r:id="rId1"/>
          </a:graphicData>
        </a:graphic>
      </p:graphicFrame>
      <p:sp>
        <p:nvSpPr>
          <p:cNvPr id="13" name="peso estable"/>
          <p:cNvSpPr/>
          <p:nvPr/>
        </p:nvSpPr>
        <p:spPr>
          <a:xfrm>
            <a:off x="7909560" y="1645920"/>
            <a:ext cx="3730752" cy="2194560"/>
          </a:xfrm>
          <a:prstGeom prst="roundRect">
            <a:avLst>
              <a:gd name="adj" fmla="val 3333"/>
            </a:avLst>
          </a:prstGeom>
          <a:solidFill>
            <a:schemeClr val="tx2"/>
          </a:solidFill>
          <a:ln w="12700">
            <a:solidFill>
              <a:schemeClr val="tx2"/>
            </a:solidFill>
            <a:prstDash val="solid"/>
          </a:ln>
          <a:effectLst>
            <a:outerShdw sx="100000" sy="100000" kx="0" ky="0" algn="bl" rotWithShape="0" blurRad="76200" dist="25400" dir="5400000">
              <a:srgbClr val="000000">
                <a:alpha val="12000"/>
              </a:srgbClr>
            </a:outerShdw>
          </a:effectLst>
        </p:spPr>
      </p:sp>
      <p:sp>
        <p:nvSpPr>
          <p:cNvPr id="14" name="Text 11"/>
          <p:cNvSpPr txBox="1"/>
          <p:nvPr/>
        </p:nvSpPr>
        <p:spPr>
          <a:xfrm>
            <a:off x="8138160" y="1645920"/>
            <a:ext cx="3291840" cy="2194560"/>
          </a:xfrm>
          <a:prstGeom prst="rect">
            <a:avLst/>
          </a:prstGeom>
          <a:noFill/>
          <a:ln/>
        </p:spPr>
        <p:txBody>
          <a:bodyPr wrap="square" lIns="0" tIns="0" rIns="0" bIns="0" rtlCol="0" anchor="ctr"/>
          <a:lstStyle/>
          <a:p>
            <a:pPr indent="0" marL="0">
              <a:buNone/>
            </a:pPr>
            <a:r>
              <a:rPr lang="en-US" sz="4000" b="1" dirty="0">
                <a:solidFill>
                  <a:schemeClr val="accent2"/>
                </a:solidFill>
                <a:latin typeface="Cambria" pitchFamily="34" charset="0"/>
                <a:ea typeface="Cambria" pitchFamily="34" charset="-122"/>
                <a:cs typeface="Cambria" pitchFamily="34" charset="-120"/>
              </a:rPr>
              <a:t>100 %</a:t>
            </a:r>
            <a:endParaRPr lang="en-US" sz="4000" dirty="0"/>
          </a:p>
          <a:p>
            <a:pPr indent="0" marL="0">
              <a:buNone/>
            </a:pPr>
            <a:r>
              <a:rPr lang="en-US" sz="1400" dirty="0">
                <a:solidFill>
                  <a:schemeClr val="bg1"/>
                </a:solidFill>
              </a:rPr>
              <a:t>de las réplicas conservan el signo del peso. OR 0,905, IC BCa [0,873; 0,937], igual al de Wald.</a:t>
            </a:r>
            <a:endParaRPr lang="en-US" sz="4000" dirty="0"/>
          </a:p>
        </p:txBody>
      </p:sp>
      <p:sp>
        <p:nvSpPr>
          <p:cNvPr id="15" name="inestables"/>
          <p:cNvSpPr/>
          <p:nvPr/>
        </p:nvSpPr>
        <p:spPr>
          <a:xfrm>
            <a:off x="7909560" y="4023360"/>
            <a:ext cx="3730752" cy="2103120"/>
          </a:xfrm>
          <a:prstGeom prst="roundRect">
            <a:avLst>
              <a:gd name="adj" fmla="val 3478"/>
            </a:avLst>
          </a:prstGeom>
          <a:solidFill>
            <a:schemeClr val="bg2"/>
          </a:solidFill>
          <a:ln w="12700">
            <a:solidFill>
              <a:schemeClr val="bg2"/>
            </a:solidFill>
            <a:prstDash val="solid"/>
          </a:ln>
        </p:spPr>
      </p:sp>
      <p:sp>
        <p:nvSpPr>
          <p:cNvPr id="16" name="Text 13"/>
          <p:cNvSpPr txBox="1"/>
          <p:nvPr/>
        </p:nvSpPr>
        <p:spPr>
          <a:xfrm>
            <a:off x="8138160" y="4023360"/>
            <a:ext cx="3291840" cy="2103120"/>
          </a:xfrm>
          <a:prstGeom prst="rect">
            <a:avLst/>
          </a:prstGeom>
          <a:noFill/>
          <a:ln/>
        </p:spPr>
        <p:txBody>
          <a:bodyPr wrap="square" lIns="0" tIns="0" rIns="0" bIns="0" rtlCol="0" anchor="ctr"/>
          <a:lstStyle/>
          <a:p>
            <a:pPr indent="0" marL="0">
              <a:spcAft>
                <a:spcPts val="600"/>
              </a:spcAft>
              <a:buNone/>
            </a:pPr>
            <a:r>
              <a:rPr lang="en-US" sz="1600" b="1" dirty="0">
                <a:solidFill>
                  <a:schemeClr val="tx2"/>
                </a:solidFill>
              </a:rPr>
              <a:t>Inestables = sensibles en S2</a:t>
            </a:r>
            <a:endParaRPr lang="en-US" sz="1600" dirty="0"/>
          </a:p>
          <a:p>
            <a:pPr indent="0" marL="0">
              <a:spcAft>
                <a:spcPts val="600"/>
              </a:spcAft>
              <a:buNone/>
            </a:pPr>
            <a:r>
              <a:rPr lang="en-US" sz="1400" dirty="0">
                <a:solidFill>
                  <a:schemeClr val="tx1"/>
                </a:solidFill>
              </a:rPr>
              <a:t>El descuento cambia de signo en 1 de cada 5 réplicas; el costo queda en el límite (97,1 %).</a:t>
            </a:r>
            <a:endParaRPr lang="en-US" sz="1600" dirty="0"/>
          </a:p>
        </p:txBody>
      </p:sp>
      <p:sp>
        <p:nvSpPr>
          <p:cNvPr id="17" name="Text 14"/>
          <p:cNvSpPr txBox="1"/>
          <p:nvPr/>
        </p:nvSpPr>
        <p:spPr>
          <a:xfrm>
            <a:off x="548640" y="6382512"/>
            <a:ext cx="5486400" cy="274320"/>
          </a:xfrm>
          <a:prstGeom prst="rect">
            <a:avLst/>
          </a:prstGeom>
          <a:noFill/>
          <a:ln/>
        </p:spPr>
        <p:txBody>
          <a:bodyPr wrap="square" lIns="0" tIns="0" rIns="0" bIns="0" rtlCol="0" anchor="ctr"/>
          <a:lstStyle/>
          <a:p>
            <a:pPr indent="0" marL="0">
              <a:buNone/>
            </a:pPr>
            <a:r>
              <a:rPr lang="en-US" sz="1100" b="1" dirty="0">
                <a:solidFill>
                  <a:schemeClr val="accent5"/>
                </a:solidFill>
              </a:rPr>
              <a:t>Expone: </a:t>
            </a:r>
            <a:pPr indent="0" marL="0">
              <a:buNone/>
            </a:pPr>
            <a:r>
              <a:rPr lang="en-US" sz="1100" dirty="0">
                <a:solidFill>
                  <a:schemeClr val="accent5"/>
                </a:solidFill>
              </a:rPr>
              <a:t>Yerko Gallardo Miranda</a:t>
            </a:r>
            <a:endParaRPr lang="en-US" sz="1100" dirty="0"/>
          </a:p>
        </p:txBody>
      </p:sp>
      <p:sp>
        <p:nvSpPr>
          <p:cNvPr id="25" name="Slide Number Placeholder 0"/>
          <p:cNvSpPr>
            <a:spLocks noGrp="1"/>
          </p:cNvSpPr>
          <p:nvPr>
            <p:ph type="sldNum" sz="quarter" idx="4294967295"/>
          </p:nvPr>
        </p:nvSpPr>
        <p:spPr>
          <a:xfrm>
            <a:off x="11338560" y="6382512"/>
            <a:ext cx="3200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869680" cy="685800"/>
          </a:xfrm>
          <a:prstGeom prst="rect">
            <a:avLst/>
          </a:prstGeom>
          <a:noFill/>
          <a:ln/>
        </p:spPr>
        <p:txBody>
          <a:bodyPr wrap="square" lIns="0" tIns="0" rIns="0" bIns="0" rtlCol="0" anchor="ctr"/>
          <a:lstStyle/>
          <a:p>
            <a:pPr algn="l" indent="0" marL="0">
              <a:buNone/>
            </a:pPr>
            <a:r>
              <a:rPr lang="en-US" sz="3000" b="1" dirty="0">
                <a:solidFill>
                  <a:schemeClr val="tx2"/>
                </a:solidFill>
              </a:rPr>
              <a:t>La imputación cambia el efecto, no el AUC</a:t>
            </a:r>
            <a:endParaRPr lang="en-US" sz="3000" dirty="0"/>
          </a:p>
        </p:txBody>
      </p:sp>
      <p:sp>
        <p:nvSpPr>
          <p:cNvPr id="3" name="Text 0"/>
          <p:cNvSpPr/>
          <p:nvPr>
            <p:ph idx="101" type="body" hasCustomPrompt="1"/>
          </p:nvPr>
        </p:nvSpPr>
        <p:spPr>
          <a:xfrm>
            <a:off x="548640" y="987552"/>
            <a:ext cx="8869680" cy="411480"/>
          </a:xfrm>
          <a:prstGeom prst="rect">
            <a:avLst/>
          </a:prstGeom>
          <a:noFill/>
          <a:ln/>
        </p:spPr>
        <p:txBody>
          <a:bodyPr wrap="square" lIns="0" tIns="0" rIns="0" bIns="0" rtlCol="0" anchor="t"/>
          <a:lstStyle/>
          <a:p>
            <a:pPr indent="0" marL="0">
              <a:buNone/>
            </a:pPr>
            <a:r>
              <a:rPr lang="en-US" sz="1600" dirty="0">
                <a:solidFill>
                  <a:schemeClr val="accent5"/>
                </a:solidFill>
              </a:rPr>
              <a:t>M3 reajustado con cada estrategia y con los datos originales sin faltantes</a:t>
            </a:r>
            <a:endParaRPr lang="en-US" sz="1600" dirty="0"/>
          </a:p>
        </p:txBody>
      </p:sp>
      <p:sp>
        <p:nvSpPr>
          <p:cNvPr id="4" name="fase S1"/>
          <p:cNvSpPr/>
          <p:nvPr/>
        </p:nvSpPr>
        <p:spPr>
          <a:xfrm>
            <a:off x="9537192" y="429768"/>
            <a:ext cx="457200" cy="457200"/>
          </a:xfrm>
          <a:prstGeom prst="ellipse">
            <a:avLst/>
          </a:prstGeom>
          <a:solidFill>
            <a:schemeClr val="bg2"/>
          </a:solidFill>
          <a:ln w="12700">
            <a:solidFill>
              <a:schemeClr val="bg2"/>
            </a:solidFill>
            <a:prstDash val="solid"/>
          </a:ln>
        </p:spPr>
      </p:sp>
      <p:sp>
        <p:nvSpPr>
          <p:cNvPr id="5" name="Text 3"/>
          <p:cNvSpPr txBox="1"/>
          <p:nvPr/>
        </p:nvSpPr>
        <p:spPr>
          <a:xfrm>
            <a:off x="9537192" y="429768"/>
            <a:ext cx="457200" cy="457200"/>
          </a:xfrm>
          <a:prstGeom prst="rect">
            <a:avLst/>
          </a:prstGeom>
          <a:noFill/>
          <a:ln/>
        </p:spPr>
        <p:txBody>
          <a:bodyPr wrap="square" lIns="0" tIns="0" rIns="0" bIns="0" rtlCol="0" anchor="ctr"/>
          <a:lstStyle/>
          <a:p>
            <a:pPr algn="ctr" indent="0" marL="0">
              <a:buNone/>
            </a:pPr>
            <a:r>
              <a:rPr lang="en-US" sz="1200" b="1" dirty="0">
                <a:solidFill>
                  <a:schemeClr val="accent5"/>
                </a:solidFill>
              </a:rPr>
              <a:t>S1</a:t>
            </a:r>
            <a:endParaRPr lang="en-US" sz="1200" dirty="0"/>
          </a:p>
        </p:txBody>
      </p:sp>
      <p:sp>
        <p:nvSpPr>
          <p:cNvPr id="6" name="fase S2"/>
          <p:cNvSpPr/>
          <p:nvPr/>
        </p:nvSpPr>
        <p:spPr>
          <a:xfrm>
            <a:off x="10085832" y="429768"/>
            <a:ext cx="457200" cy="457200"/>
          </a:xfrm>
          <a:prstGeom prst="ellipse">
            <a:avLst/>
          </a:prstGeom>
          <a:solidFill>
            <a:schemeClr val="bg2"/>
          </a:solidFill>
          <a:ln w="12700">
            <a:solidFill>
              <a:schemeClr val="bg2"/>
            </a:solidFill>
            <a:prstDash val="solid"/>
          </a:ln>
        </p:spPr>
      </p:sp>
      <p:sp>
        <p:nvSpPr>
          <p:cNvPr id="7" name="Text 5"/>
          <p:cNvSpPr txBox="1"/>
          <p:nvPr/>
        </p:nvSpPr>
        <p:spPr>
          <a:xfrm>
            <a:off x="10085832" y="429768"/>
            <a:ext cx="457200" cy="457200"/>
          </a:xfrm>
          <a:prstGeom prst="rect">
            <a:avLst/>
          </a:prstGeom>
          <a:noFill/>
          <a:ln/>
        </p:spPr>
        <p:txBody>
          <a:bodyPr wrap="square" lIns="0" tIns="0" rIns="0" bIns="0" rtlCol="0" anchor="ctr"/>
          <a:lstStyle/>
          <a:p>
            <a:pPr algn="ctr" indent="0" marL="0">
              <a:buNone/>
            </a:pPr>
            <a:r>
              <a:rPr lang="en-US" sz="1200" b="1" dirty="0">
                <a:solidFill>
                  <a:schemeClr val="accent5"/>
                </a:solidFill>
              </a:rPr>
              <a:t>S2</a:t>
            </a:r>
            <a:endParaRPr lang="en-US" sz="1200" dirty="0"/>
          </a:p>
        </p:txBody>
      </p:sp>
      <p:sp>
        <p:nvSpPr>
          <p:cNvPr id="8" name="fase F2"/>
          <p:cNvSpPr/>
          <p:nvPr/>
        </p:nvSpPr>
        <p:spPr>
          <a:xfrm>
            <a:off x="10634472" y="429768"/>
            <a:ext cx="457200" cy="457200"/>
          </a:xfrm>
          <a:prstGeom prst="ellipse">
            <a:avLst/>
          </a:prstGeom>
          <a:solidFill>
            <a:schemeClr val="bg2"/>
          </a:solidFill>
          <a:ln w="12700">
            <a:solidFill>
              <a:schemeClr val="bg2"/>
            </a:solidFill>
            <a:prstDash val="solid"/>
          </a:ln>
        </p:spPr>
      </p:sp>
      <p:sp>
        <p:nvSpPr>
          <p:cNvPr id="9" name="Text 7"/>
          <p:cNvSpPr txBox="1"/>
          <p:nvPr/>
        </p:nvSpPr>
        <p:spPr>
          <a:xfrm>
            <a:off x="10634472" y="429768"/>
            <a:ext cx="457200" cy="457200"/>
          </a:xfrm>
          <a:prstGeom prst="rect">
            <a:avLst/>
          </a:prstGeom>
          <a:noFill/>
          <a:ln/>
        </p:spPr>
        <p:txBody>
          <a:bodyPr wrap="square" lIns="0" tIns="0" rIns="0" bIns="0" rtlCol="0" anchor="ctr"/>
          <a:lstStyle/>
          <a:p>
            <a:pPr algn="ctr" indent="0" marL="0">
              <a:buNone/>
            </a:pPr>
            <a:r>
              <a:rPr lang="en-US" sz="1200" b="1" dirty="0">
                <a:solidFill>
                  <a:schemeClr val="accent5"/>
                </a:solidFill>
              </a:rPr>
              <a:t>F2</a:t>
            </a:r>
            <a:endParaRPr lang="en-US" sz="1200" dirty="0"/>
          </a:p>
        </p:txBody>
      </p:sp>
      <p:sp>
        <p:nvSpPr>
          <p:cNvPr id="10" name="fase S3"/>
          <p:cNvSpPr/>
          <p:nvPr/>
        </p:nvSpPr>
        <p:spPr>
          <a:xfrm>
            <a:off x="11183112" y="429768"/>
            <a:ext cx="457200" cy="457200"/>
          </a:xfrm>
          <a:prstGeom prst="ellipse">
            <a:avLst/>
          </a:prstGeom>
          <a:solidFill>
            <a:schemeClr val="accent2"/>
          </a:solidFill>
          <a:ln w="12700">
            <a:solidFill>
              <a:schemeClr val="accent2"/>
            </a:solidFill>
            <a:prstDash val="solid"/>
          </a:ln>
        </p:spPr>
      </p:sp>
      <p:sp>
        <p:nvSpPr>
          <p:cNvPr id="11" name="Text 9"/>
          <p:cNvSpPr txBox="1"/>
          <p:nvPr/>
        </p:nvSpPr>
        <p:spPr>
          <a:xfrm>
            <a:off x="11183112" y="429768"/>
            <a:ext cx="457200" cy="457200"/>
          </a:xfrm>
          <a:prstGeom prst="rect">
            <a:avLst/>
          </a:prstGeom>
          <a:noFill/>
          <a:ln/>
        </p:spPr>
        <p:txBody>
          <a:bodyPr wrap="square" lIns="0" tIns="0" rIns="0" bIns="0" rtlCol="0" anchor="ctr"/>
          <a:lstStyle/>
          <a:p>
            <a:pPr algn="ctr" indent="0" marL="0">
              <a:buNone/>
            </a:pPr>
            <a:r>
              <a:rPr lang="en-US" sz="1200" b="1" dirty="0">
                <a:solidFill>
                  <a:schemeClr val="tx1"/>
                </a:solidFill>
              </a:rPr>
              <a:t>S3</a:t>
            </a:r>
            <a:endParaRPr lang="en-US" sz="1200" dirty="0"/>
          </a:p>
        </p:txBody>
      </p:sp>
      <p:sp>
        <p:nvSpPr>
          <p:cNvPr id="12" name="Text 10"/>
          <p:cNvSpPr txBox="1"/>
          <p:nvPr/>
        </p:nvSpPr>
        <p:spPr>
          <a:xfrm>
            <a:off x="548640" y="1600200"/>
            <a:ext cx="7223760" cy="365760"/>
          </a:xfrm>
          <a:prstGeom prst="rect">
            <a:avLst/>
          </a:prstGeom>
          <a:noFill/>
          <a:ln/>
        </p:spPr>
        <p:txBody>
          <a:bodyPr wrap="square" lIns="0" tIns="0" rIns="0" bIns="0" rtlCol="0" anchor="ctr"/>
          <a:lstStyle/>
          <a:p>
            <a:pPr indent="0" marL="0">
              <a:buNone/>
            </a:pPr>
            <a:r>
              <a:rPr lang="en-US" sz="1500" b="1" dirty="0">
                <a:solidFill>
                  <a:schemeClr val="tx1"/>
                </a:solidFill>
              </a:rPr>
              <a:t>OR del peso por 1.000 g (IC 95 % de Wald)</a:t>
            </a:r>
            <a:endParaRPr lang="en-US" sz="1500" dirty="0"/>
          </a:p>
        </p:txBody>
      </p:sp>
      <p:sp>
        <p:nvSpPr>
          <p:cNvPr id="13" name="referencia original"/>
          <p:cNvSpPr/>
          <p:nvPr/>
        </p:nvSpPr>
        <p:spPr>
          <a:xfrm>
            <a:off x="5199611" y="2057400"/>
            <a:ext cx="0" cy="2971800"/>
          </a:xfrm>
          <a:prstGeom prst="line">
            <a:avLst/>
          </a:prstGeom>
          <a:noFill/>
          <a:ln w="15875">
            <a:solidFill>
              <a:schemeClr val="tx2"/>
            </a:solidFill>
            <a:prstDash val="dash"/>
          </a:ln>
        </p:spPr>
      </p:sp>
      <p:sp>
        <p:nvSpPr>
          <p:cNvPr id="14" name="Text 12"/>
          <p:cNvSpPr txBox="1"/>
          <p:nvPr/>
        </p:nvSpPr>
        <p:spPr>
          <a:xfrm>
            <a:off x="548640" y="2176272"/>
            <a:ext cx="1874520" cy="402336"/>
          </a:xfrm>
          <a:prstGeom prst="rect">
            <a:avLst/>
          </a:prstGeom>
          <a:noFill/>
          <a:ln/>
        </p:spPr>
        <p:txBody>
          <a:bodyPr wrap="square" lIns="0" tIns="0" rIns="0" bIns="0" rtlCol="0" anchor="ctr"/>
          <a:lstStyle/>
          <a:p>
            <a:pPr indent="0" marL="0">
              <a:buNone/>
            </a:pPr>
            <a:r>
              <a:rPr lang="en-US" sz="1500" dirty="0">
                <a:solidFill>
                  <a:schemeClr val="tx1"/>
                </a:solidFill>
              </a:rPr>
              <a:t>Eliminación</a:t>
            </a:r>
            <a:endParaRPr lang="en-US" sz="1500" dirty="0"/>
          </a:p>
        </p:txBody>
      </p:sp>
      <p:sp>
        <p:nvSpPr>
          <p:cNvPr id="15" name="IC Eliminación"/>
          <p:cNvSpPr/>
          <p:nvPr/>
        </p:nvSpPr>
        <p:spPr>
          <a:xfrm>
            <a:off x="3699164" y="2377440"/>
            <a:ext cx="2803467" cy="0"/>
          </a:xfrm>
          <a:prstGeom prst="line">
            <a:avLst/>
          </a:prstGeom>
          <a:noFill/>
          <a:ln w="38100">
            <a:solidFill>
              <a:schemeClr val="accent5"/>
            </a:solidFill>
            <a:prstDash val="solid"/>
          </a:ln>
        </p:spPr>
      </p:sp>
      <p:sp>
        <p:nvSpPr>
          <p:cNvPr id="16" name="OR Eliminación"/>
          <p:cNvSpPr/>
          <p:nvPr/>
        </p:nvSpPr>
        <p:spPr>
          <a:xfrm>
            <a:off x="4931941" y="2267712"/>
            <a:ext cx="219456" cy="219456"/>
          </a:xfrm>
          <a:prstGeom prst="ellipse">
            <a:avLst/>
          </a:prstGeom>
          <a:solidFill>
            <a:schemeClr val="accent5"/>
          </a:solidFill>
          <a:ln w="19050">
            <a:solidFill>
              <a:schemeClr val="bg1"/>
            </a:solidFill>
            <a:prstDash val="solid"/>
          </a:ln>
        </p:spPr>
      </p:sp>
      <p:sp>
        <p:nvSpPr>
          <p:cNvPr id="17" name="Text 15"/>
          <p:cNvSpPr txBox="1"/>
          <p:nvPr/>
        </p:nvSpPr>
        <p:spPr>
          <a:xfrm>
            <a:off x="6995160" y="2176272"/>
            <a:ext cx="777240" cy="402336"/>
          </a:xfrm>
          <a:prstGeom prst="rect">
            <a:avLst/>
          </a:prstGeom>
          <a:noFill/>
          <a:ln/>
        </p:spPr>
        <p:txBody>
          <a:bodyPr wrap="square" lIns="0" tIns="0" rIns="0" bIns="0" rtlCol="0" anchor="ctr"/>
          <a:lstStyle/>
          <a:p>
            <a:pPr algn="r" indent="0" marL="0">
              <a:buNone/>
            </a:pPr>
            <a:r>
              <a:rPr lang="en-US" sz="1500" b="1" dirty="0">
                <a:solidFill>
                  <a:schemeClr val="accent5"/>
                </a:solidFill>
              </a:rPr>
              <a:t>0,899</a:t>
            </a:r>
            <a:endParaRPr lang="en-US" sz="1500" dirty="0"/>
          </a:p>
        </p:txBody>
      </p:sp>
      <p:sp>
        <p:nvSpPr>
          <p:cNvPr id="18" name="Text 16"/>
          <p:cNvSpPr txBox="1"/>
          <p:nvPr/>
        </p:nvSpPr>
        <p:spPr>
          <a:xfrm>
            <a:off x="548640" y="2889504"/>
            <a:ext cx="1874520" cy="402336"/>
          </a:xfrm>
          <a:prstGeom prst="rect">
            <a:avLst/>
          </a:prstGeom>
          <a:noFill/>
          <a:ln/>
        </p:spPr>
        <p:txBody>
          <a:bodyPr wrap="square" lIns="0" tIns="0" rIns="0" bIns="0" rtlCol="0" anchor="ctr"/>
          <a:lstStyle/>
          <a:p>
            <a:pPr indent="0" marL="0">
              <a:buNone/>
            </a:pPr>
            <a:r>
              <a:rPr lang="en-US" sz="1500" dirty="0">
                <a:solidFill>
                  <a:schemeClr val="tx1"/>
                </a:solidFill>
              </a:rPr>
              <a:t>Mediana</a:t>
            </a:r>
            <a:endParaRPr lang="en-US" sz="1500" dirty="0"/>
          </a:p>
        </p:txBody>
      </p:sp>
      <p:sp>
        <p:nvSpPr>
          <p:cNvPr id="19" name="IC Mediana"/>
          <p:cNvSpPr/>
          <p:nvPr/>
        </p:nvSpPr>
        <p:spPr>
          <a:xfrm>
            <a:off x="2869969" y="3090672"/>
            <a:ext cx="2290156" cy="0"/>
          </a:xfrm>
          <a:prstGeom prst="line">
            <a:avLst/>
          </a:prstGeom>
          <a:noFill/>
          <a:ln w="38100">
            <a:solidFill>
              <a:schemeClr val="accent2"/>
            </a:solidFill>
            <a:prstDash val="solid"/>
          </a:ln>
        </p:spPr>
      </p:sp>
      <p:sp>
        <p:nvSpPr>
          <p:cNvPr id="20" name="OR Mediana"/>
          <p:cNvSpPr/>
          <p:nvPr/>
        </p:nvSpPr>
        <p:spPr>
          <a:xfrm>
            <a:off x="3905319" y="2980944"/>
            <a:ext cx="219456" cy="219456"/>
          </a:xfrm>
          <a:prstGeom prst="ellipse">
            <a:avLst/>
          </a:prstGeom>
          <a:solidFill>
            <a:schemeClr val="accent2"/>
          </a:solidFill>
          <a:ln w="19050">
            <a:solidFill>
              <a:schemeClr val="bg1"/>
            </a:solidFill>
            <a:prstDash val="solid"/>
          </a:ln>
        </p:spPr>
      </p:sp>
      <p:sp>
        <p:nvSpPr>
          <p:cNvPr id="21" name="Text 19"/>
          <p:cNvSpPr txBox="1"/>
          <p:nvPr/>
        </p:nvSpPr>
        <p:spPr>
          <a:xfrm>
            <a:off x="6995160" y="2889504"/>
            <a:ext cx="777240" cy="402336"/>
          </a:xfrm>
          <a:prstGeom prst="rect">
            <a:avLst/>
          </a:prstGeom>
          <a:noFill/>
          <a:ln/>
        </p:spPr>
        <p:txBody>
          <a:bodyPr wrap="square" lIns="0" tIns="0" rIns="0" bIns="0" rtlCol="0" anchor="ctr"/>
          <a:lstStyle/>
          <a:p>
            <a:pPr algn="r" indent="0" marL="0">
              <a:buNone/>
            </a:pPr>
            <a:r>
              <a:rPr lang="en-US" sz="1500" b="1" dirty="0">
                <a:solidFill>
                  <a:schemeClr val="accent2"/>
                </a:solidFill>
              </a:rPr>
              <a:t>0,873</a:t>
            </a:r>
            <a:endParaRPr lang="en-US" sz="1500" dirty="0"/>
          </a:p>
        </p:txBody>
      </p:sp>
      <p:sp>
        <p:nvSpPr>
          <p:cNvPr id="22" name="Text 20"/>
          <p:cNvSpPr txBox="1"/>
          <p:nvPr/>
        </p:nvSpPr>
        <p:spPr>
          <a:xfrm>
            <a:off x="548640" y="3602736"/>
            <a:ext cx="1874520" cy="402336"/>
          </a:xfrm>
          <a:prstGeom prst="rect">
            <a:avLst/>
          </a:prstGeom>
          <a:noFill/>
          <a:ln/>
        </p:spPr>
        <p:txBody>
          <a:bodyPr wrap="square" lIns="0" tIns="0" rIns="0" bIns="0" rtlCol="0" anchor="ctr"/>
          <a:lstStyle/>
          <a:p>
            <a:pPr indent="0" marL="0">
              <a:buNone/>
            </a:pPr>
            <a:r>
              <a:rPr lang="en-US" sz="1500" b="1" dirty="0">
                <a:solidFill>
                  <a:schemeClr val="tx1"/>
                </a:solidFill>
              </a:rPr>
              <a:t>Regresión</a:t>
            </a:r>
            <a:endParaRPr lang="en-US" sz="1500" dirty="0"/>
          </a:p>
        </p:txBody>
      </p:sp>
      <p:sp>
        <p:nvSpPr>
          <p:cNvPr id="23" name="IC Regresión"/>
          <p:cNvSpPr/>
          <p:nvPr/>
        </p:nvSpPr>
        <p:spPr>
          <a:xfrm>
            <a:off x="4054533" y="3803904"/>
            <a:ext cx="2448098" cy="0"/>
          </a:xfrm>
          <a:prstGeom prst="line">
            <a:avLst/>
          </a:prstGeom>
          <a:noFill/>
          <a:ln w="38100">
            <a:solidFill>
              <a:schemeClr val="accent1"/>
            </a:solidFill>
            <a:prstDash val="solid"/>
          </a:ln>
        </p:spPr>
      </p:sp>
      <p:sp>
        <p:nvSpPr>
          <p:cNvPr id="24" name="OR Regresión"/>
          <p:cNvSpPr/>
          <p:nvPr/>
        </p:nvSpPr>
        <p:spPr>
          <a:xfrm>
            <a:off x="5168854" y="3694176"/>
            <a:ext cx="219456" cy="219456"/>
          </a:xfrm>
          <a:prstGeom prst="ellipse">
            <a:avLst/>
          </a:prstGeom>
          <a:solidFill>
            <a:schemeClr val="accent1"/>
          </a:solidFill>
          <a:ln w="19050">
            <a:solidFill>
              <a:schemeClr val="bg1"/>
            </a:solidFill>
            <a:prstDash val="solid"/>
          </a:ln>
        </p:spPr>
      </p:sp>
      <p:sp>
        <p:nvSpPr>
          <p:cNvPr id="25" name="Text 23"/>
          <p:cNvSpPr txBox="1"/>
          <p:nvPr/>
        </p:nvSpPr>
        <p:spPr>
          <a:xfrm>
            <a:off x="6995160" y="3602736"/>
            <a:ext cx="777240" cy="402336"/>
          </a:xfrm>
          <a:prstGeom prst="rect">
            <a:avLst/>
          </a:prstGeom>
          <a:noFill/>
          <a:ln/>
        </p:spPr>
        <p:txBody>
          <a:bodyPr wrap="square" lIns="0" tIns="0" rIns="0" bIns="0" rtlCol="0" anchor="ctr"/>
          <a:lstStyle/>
          <a:p>
            <a:pPr algn="r" indent="0" marL="0">
              <a:buNone/>
            </a:pPr>
            <a:r>
              <a:rPr lang="en-US" sz="1500" b="1" dirty="0">
                <a:solidFill>
                  <a:schemeClr val="accent1"/>
                </a:solidFill>
              </a:rPr>
              <a:t>0,905</a:t>
            </a:r>
            <a:endParaRPr lang="en-US" sz="1500" dirty="0"/>
          </a:p>
        </p:txBody>
      </p:sp>
      <p:sp>
        <p:nvSpPr>
          <p:cNvPr id="26" name="Text 24"/>
          <p:cNvSpPr txBox="1"/>
          <p:nvPr/>
        </p:nvSpPr>
        <p:spPr>
          <a:xfrm>
            <a:off x="548640" y="4315968"/>
            <a:ext cx="1874520" cy="402336"/>
          </a:xfrm>
          <a:prstGeom prst="rect">
            <a:avLst/>
          </a:prstGeom>
          <a:noFill/>
          <a:ln/>
        </p:spPr>
        <p:txBody>
          <a:bodyPr wrap="square" lIns="0" tIns="0" rIns="0" bIns="0" rtlCol="0" anchor="ctr"/>
          <a:lstStyle/>
          <a:p>
            <a:pPr indent="0" marL="0">
              <a:buNone/>
            </a:pPr>
            <a:r>
              <a:rPr lang="en-US" sz="1500" dirty="0">
                <a:solidFill>
                  <a:schemeClr val="tx1"/>
                </a:solidFill>
              </a:rPr>
              <a:t>Datos originales</a:t>
            </a:r>
            <a:endParaRPr lang="en-US" sz="1500" dirty="0"/>
          </a:p>
        </p:txBody>
      </p:sp>
      <p:sp>
        <p:nvSpPr>
          <p:cNvPr id="27" name="IC Datos originales"/>
          <p:cNvSpPr/>
          <p:nvPr/>
        </p:nvSpPr>
        <p:spPr>
          <a:xfrm>
            <a:off x="4094018" y="4517136"/>
            <a:ext cx="2290156" cy="0"/>
          </a:xfrm>
          <a:prstGeom prst="line">
            <a:avLst/>
          </a:prstGeom>
          <a:noFill/>
          <a:ln w="38100">
            <a:solidFill>
              <a:schemeClr val="tx2"/>
            </a:solidFill>
            <a:prstDash val="solid"/>
          </a:ln>
        </p:spPr>
      </p:sp>
      <p:sp>
        <p:nvSpPr>
          <p:cNvPr id="28" name="OR Datos originales"/>
          <p:cNvSpPr/>
          <p:nvPr/>
        </p:nvSpPr>
        <p:spPr>
          <a:xfrm>
            <a:off x="5089883" y="4407408"/>
            <a:ext cx="219456" cy="219456"/>
          </a:xfrm>
          <a:prstGeom prst="ellipse">
            <a:avLst/>
          </a:prstGeom>
          <a:solidFill>
            <a:schemeClr val="tx2"/>
          </a:solidFill>
          <a:ln w="19050">
            <a:solidFill>
              <a:schemeClr val="bg1"/>
            </a:solidFill>
            <a:prstDash val="solid"/>
          </a:ln>
        </p:spPr>
      </p:sp>
      <p:sp>
        <p:nvSpPr>
          <p:cNvPr id="29" name="Text 27"/>
          <p:cNvSpPr txBox="1"/>
          <p:nvPr/>
        </p:nvSpPr>
        <p:spPr>
          <a:xfrm>
            <a:off x="6995160" y="4315968"/>
            <a:ext cx="777240" cy="402336"/>
          </a:xfrm>
          <a:prstGeom prst="rect">
            <a:avLst/>
          </a:prstGeom>
          <a:noFill/>
          <a:ln/>
        </p:spPr>
        <p:txBody>
          <a:bodyPr wrap="square" lIns="0" tIns="0" rIns="0" bIns="0" rtlCol="0" anchor="ctr"/>
          <a:lstStyle/>
          <a:p>
            <a:pPr algn="r" indent="0" marL="0">
              <a:buNone/>
            </a:pPr>
            <a:r>
              <a:rPr lang="en-US" sz="1500" b="1" dirty="0">
                <a:solidFill>
                  <a:schemeClr val="tx2"/>
                </a:solidFill>
              </a:rPr>
              <a:t>0,903</a:t>
            </a:r>
            <a:endParaRPr lang="en-US" sz="1500" dirty="0"/>
          </a:p>
        </p:txBody>
      </p:sp>
      <p:sp>
        <p:nvSpPr>
          <p:cNvPr id="30" name="eje OR"/>
          <p:cNvSpPr/>
          <p:nvPr/>
        </p:nvSpPr>
        <p:spPr>
          <a:xfrm>
            <a:off x="2514600" y="5029200"/>
            <a:ext cx="4343400" cy="0"/>
          </a:xfrm>
          <a:prstGeom prst="line">
            <a:avLst/>
          </a:prstGeom>
          <a:noFill/>
          <a:ln w="12700">
            <a:solidFill>
              <a:schemeClr val="accent4"/>
            </a:solidFill>
            <a:prstDash val="solid"/>
          </a:ln>
        </p:spPr>
      </p:sp>
      <p:sp>
        <p:nvSpPr>
          <p:cNvPr id="31" name="Text 29"/>
          <p:cNvSpPr txBox="1"/>
          <p:nvPr/>
        </p:nvSpPr>
        <p:spPr>
          <a:xfrm>
            <a:off x="2741122" y="5074920"/>
            <a:ext cx="731520" cy="274320"/>
          </a:xfrm>
          <a:prstGeom prst="rect">
            <a:avLst/>
          </a:prstGeom>
          <a:noFill/>
          <a:ln/>
        </p:spPr>
        <p:txBody>
          <a:bodyPr wrap="square" lIns="0" tIns="0" rIns="0" bIns="0" rtlCol="0" anchor="ctr"/>
          <a:lstStyle/>
          <a:p>
            <a:pPr algn="ctr" indent="0" marL="0">
              <a:buNone/>
            </a:pPr>
            <a:r>
              <a:rPr lang="en-US" sz="1100" dirty="0">
                <a:solidFill>
                  <a:schemeClr val="accent5"/>
                </a:solidFill>
              </a:rPr>
              <a:t>0,850</a:t>
            </a:r>
            <a:endParaRPr lang="en-US" sz="1100" dirty="0"/>
          </a:p>
        </p:txBody>
      </p:sp>
      <p:sp>
        <p:nvSpPr>
          <p:cNvPr id="32" name="Text 30"/>
          <p:cNvSpPr txBox="1"/>
          <p:nvPr/>
        </p:nvSpPr>
        <p:spPr>
          <a:xfrm>
            <a:off x="3728258" y="5074920"/>
            <a:ext cx="731520" cy="274320"/>
          </a:xfrm>
          <a:prstGeom prst="rect">
            <a:avLst/>
          </a:prstGeom>
          <a:noFill/>
          <a:ln/>
        </p:spPr>
        <p:txBody>
          <a:bodyPr wrap="square" lIns="0" tIns="0" rIns="0" bIns="0" rtlCol="0" anchor="ctr"/>
          <a:lstStyle/>
          <a:p>
            <a:pPr algn="ctr" indent="0" marL="0">
              <a:buNone/>
            </a:pPr>
            <a:r>
              <a:rPr lang="en-US" sz="1100" dirty="0">
                <a:solidFill>
                  <a:schemeClr val="accent5"/>
                </a:solidFill>
              </a:rPr>
              <a:t>0,875</a:t>
            </a:r>
            <a:endParaRPr lang="en-US" sz="1100" dirty="0"/>
          </a:p>
        </p:txBody>
      </p:sp>
      <p:sp>
        <p:nvSpPr>
          <p:cNvPr id="33" name="Text 31"/>
          <p:cNvSpPr txBox="1"/>
          <p:nvPr/>
        </p:nvSpPr>
        <p:spPr>
          <a:xfrm>
            <a:off x="4715395" y="5074920"/>
            <a:ext cx="731520" cy="274320"/>
          </a:xfrm>
          <a:prstGeom prst="rect">
            <a:avLst/>
          </a:prstGeom>
          <a:noFill/>
          <a:ln/>
        </p:spPr>
        <p:txBody>
          <a:bodyPr wrap="square" lIns="0" tIns="0" rIns="0" bIns="0" rtlCol="0" anchor="ctr"/>
          <a:lstStyle/>
          <a:p>
            <a:pPr algn="ctr" indent="0" marL="0">
              <a:buNone/>
            </a:pPr>
            <a:r>
              <a:rPr lang="en-US" sz="1100" dirty="0">
                <a:solidFill>
                  <a:schemeClr val="accent5"/>
                </a:solidFill>
              </a:rPr>
              <a:t>0,900</a:t>
            </a:r>
            <a:endParaRPr lang="en-US" sz="1100" dirty="0"/>
          </a:p>
        </p:txBody>
      </p:sp>
      <p:sp>
        <p:nvSpPr>
          <p:cNvPr id="34" name="Text 32"/>
          <p:cNvSpPr txBox="1"/>
          <p:nvPr/>
        </p:nvSpPr>
        <p:spPr>
          <a:xfrm>
            <a:off x="5702531" y="5074920"/>
            <a:ext cx="731520" cy="274320"/>
          </a:xfrm>
          <a:prstGeom prst="rect">
            <a:avLst/>
          </a:prstGeom>
          <a:noFill/>
          <a:ln/>
        </p:spPr>
        <p:txBody>
          <a:bodyPr wrap="square" lIns="0" tIns="0" rIns="0" bIns="0" rtlCol="0" anchor="ctr"/>
          <a:lstStyle/>
          <a:p>
            <a:pPr algn="ctr" indent="0" marL="0">
              <a:buNone/>
            </a:pPr>
            <a:r>
              <a:rPr lang="en-US" sz="1100" dirty="0">
                <a:solidFill>
                  <a:schemeClr val="accent5"/>
                </a:solidFill>
              </a:rPr>
              <a:t>0,925</a:t>
            </a:r>
            <a:endParaRPr lang="en-US" sz="1100" dirty="0"/>
          </a:p>
        </p:txBody>
      </p:sp>
      <p:sp>
        <p:nvSpPr>
          <p:cNvPr id="35" name="Text 33"/>
          <p:cNvSpPr txBox="1"/>
          <p:nvPr/>
        </p:nvSpPr>
        <p:spPr>
          <a:xfrm>
            <a:off x="2514600" y="5349240"/>
            <a:ext cx="5029200" cy="274320"/>
          </a:xfrm>
          <a:prstGeom prst="rect">
            <a:avLst/>
          </a:prstGeom>
          <a:noFill/>
          <a:ln/>
        </p:spPr>
        <p:txBody>
          <a:bodyPr wrap="square" lIns="0" tIns="0" rIns="0" bIns="0" rtlCol="0" anchor="ctr"/>
          <a:lstStyle/>
          <a:p>
            <a:pPr indent="0" marL="0">
              <a:buNone/>
            </a:pPr>
            <a:r>
              <a:rPr lang="en-US" sz="1200" dirty="0">
                <a:solidFill>
                  <a:schemeClr val="accent5"/>
                </a:solidFill>
              </a:rPr>
              <a:t>Línea punteada: datos originales (0,903).</a:t>
            </a:r>
            <a:endParaRPr lang="en-US" sz="1200" dirty="0"/>
          </a:p>
        </p:txBody>
      </p:sp>
      <p:sp>
        <p:nvSpPr>
          <p:cNvPr id="36" name="Text 34"/>
          <p:cNvSpPr txBox="1"/>
          <p:nvPr/>
        </p:nvSpPr>
        <p:spPr>
          <a:xfrm>
            <a:off x="548640" y="5669280"/>
            <a:ext cx="7223760" cy="594360"/>
          </a:xfrm>
          <a:prstGeom prst="rect">
            <a:avLst/>
          </a:prstGeom>
          <a:noFill/>
          <a:ln/>
        </p:spPr>
        <p:txBody>
          <a:bodyPr wrap="square" lIns="0" tIns="0" rIns="0" bIns="0" rtlCol="0" anchor="t"/>
          <a:lstStyle/>
          <a:p>
            <a:pPr indent="0" marL="0">
              <a:buNone/>
            </a:pPr>
            <a:r>
              <a:rPr lang="en-US" sz="1300" dirty="0">
                <a:solidFill>
                  <a:schemeClr val="tx1"/>
                </a:solidFill>
              </a:rPr>
              <a:t>Con la regresión, la regla clasifica como atrasados 428 envíos que la imputación llevó sobre 10: el AUC de su propia prueba baja a 0,720. El costo está en la regla, no en el modelo.</a:t>
            </a:r>
            <a:endParaRPr lang="en-US" sz="1300" dirty="0"/>
          </a:p>
        </p:txBody>
      </p:sp>
      <p:sp>
        <p:nvSpPr>
          <p:cNvPr id="37" name="claves impacto"/>
          <p:cNvSpPr/>
          <p:nvPr/>
        </p:nvSpPr>
        <p:spPr>
          <a:xfrm>
            <a:off x="8138160" y="1645920"/>
            <a:ext cx="3502152" cy="3429000"/>
          </a:xfrm>
          <a:prstGeom prst="roundRect">
            <a:avLst>
              <a:gd name="adj" fmla="val 2133"/>
            </a:avLst>
          </a:prstGeom>
          <a:solidFill>
            <a:schemeClr val="bg2"/>
          </a:solidFill>
          <a:ln w="12700">
            <a:solidFill>
              <a:schemeClr val="bg2"/>
            </a:solidFill>
            <a:prstDash val="solid"/>
          </a:ln>
        </p:spPr>
      </p:sp>
      <p:sp>
        <p:nvSpPr>
          <p:cNvPr id="38" name="Text 36"/>
          <p:cNvSpPr txBox="1"/>
          <p:nvPr/>
        </p:nvSpPr>
        <p:spPr>
          <a:xfrm>
            <a:off x="8366760" y="1783080"/>
            <a:ext cx="3108960" cy="3200400"/>
          </a:xfrm>
          <a:prstGeom prst="rect">
            <a:avLst/>
          </a:prstGeom>
          <a:noFill/>
          <a:ln/>
        </p:spPr>
        <p:txBody>
          <a:bodyPr wrap="square" lIns="0" tIns="0" rIns="0" bIns="0" rtlCol="0" anchor="t"/>
          <a:lstStyle/>
          <a:p>
            <a:pPr indent="0" marL="0">
              <a:spcAft>
                <a:spcPts val="1400"/>
              </a:spcAft>
              <a:buNone/>
            </a:pPr>
            <a:r>
              <a:rPr lang="en-US" sz="1500" b="1" dirty="0">
                <a:solidFill>
                  <a:schemeClr val="accent2"/>
                </a:solidFill>
              </a:rPr>
              <a:t>Mediana: </a:t>
            </a:r>
            <a:pPr indent="0" marL="0">
              <a:spcAft>
                <a:spcPts val="1400"/>
              </a:spcAft>
              <a:buNone/>
            </a:pPr>
            <a:r>
              <a:rPr lang="en-US" sz="1500" dirty="0">
                <a:solidFill>
                  <a:schemeClr val="tx1"/>
                </a:solidFill>
              </a:rPr>
              <a:t>OR −3,4 %, con el original fuera de su IC; lleva 268 envíos con descuento &gt; 10 al segmento ≤ 10</a:t>
            </a:r>
            <a:endParaRPr lang="en-US" sz="1500" dirty="0"/>
          </a:p>
          <a:p>
            <a:pPr indent="0" marL="0">
              <a:spcAft>
                <a:spcPts val="1400"/>
              </a:spcAft>
              <a:buNone/>
            </a:pPr>
            <a:r>
              <a:rPr lang="en-US" sz="1500" b="1" dirty="0">
                <a:solidFill>
                  <a:schemeClr val="accent1"/>
                </a:solidFill>
              </a:rPr>
              <a:t>Regresión: </a:t>
            </a:r>
            <a:pPr indent="0" marL="0">
              <a:spcAft>
                <a:spcPts val="1400"/>
              </a:spcAft>
              <a:buNone/>
            </a:pPr>
            <a:r>
              <a:rPr lang="en-US" sz="1500" dirty="0">
                <a:solidFill>
                  <a:schemeClr val="tx1"/>
                </a:solidFill>
              </a:rPr>
              <a:t>reproduce el OR (+0,1 %), con un IC 12 % más estrecho que la eliminación</a:t>
            </a:r>
            <a:endParaRPr lang="en-US" sz="1500" dirty="0"/>
          </a:p>
          <a:p>
            <a:pPr indent="0" marL="0">
              <a:spcAft>
                <a:spcPts val="1400"/>
              </a:spcAft>
              <a:buNone/>
            </a:pPr>
            <a:r>
              <a:rPr lang="en-US" sz="1500" b="1" dirty="0">
                <a:solidFill>
                  <a:schemeClr val="tx2"/>
                </a:solidFill>
              </a:rPr>
              <a:t>AUC en una prueba común con valores reales: </a:t>
            </a:r>
            <a:pPr indent="0" marL="0">
              <a:spcAft>
                <a:spcPts val="1400"/>
              </a:spcAft>
              <a:buNone/>
            </a:pPr>
            <a:r>
              <a:rPr lang="en-US" sz="1500" dirty="0">
                <a:solidFill>
                  <a:schemeClr val="tx1"/>
                </a:solidFill>
              </a:rPr>
              <a:t>0,736 en las cuatro opciones</a:t>
            </a:r>
            <a:endParaRPr lang="en-US" sz="1500" dirty="0"/>
          </a:p>
        </p:txBody>
      </p:sp>
      <p:sp>
        <p:nvSpPr>
          <p:cNvPr id="39" name="Text 37"/>
          <p:cNvSpPr txBox="1"/>
          <p:nvPr/>
        </p:nvSpPr>
        <p:spPr>
          <a:xfrm>
            <a:off x="548640" y="6382512"/>
            <a:ext cx="5486400" cy="274320"/>
          </a:xfrm>
          <a:prstGeom prst="rect">
            <a:avLst/>
          </a:prstGeom>
          <a:noFill/>
          <a:ln/>
        </p:spPr>
        <p:txBody>
          <a:bodyPr wrap="square" lIns="0" tIns="0" rIns="0" bIns="0" rtlCol="0" anchor="ctr"/>
          <a:lstStyle/>
          <a:p>
            <a:pPr indent="0" marL="0">
              <a:buNone/>
            </a:pPr>
            <a:r>
              <a:rPr lang="en-US" sz="1100" b="1" dirty="0">
                <a:solidFill>
                  <a:schemeClr val="accent5"/>
                </a:solidFill>
              </a:rPr>
              <a:t>Expone: </a:t>
            </a:r>
            <a:pPr indent="0" marL="0">
              <a:buNone/>
            </a:pPr>
            <a:r>
              <a:rPr lang="en-US" sz="1100" dirty="0">
                <a:solidFill>
                  <a:schemeClr val="accent5"/>
                </a:solidFill>
              </a:rPr>
              <a:t>Yerko Gallardo Miranda</a:t>
            </a:r>
            <a:endParaRPr lang="en-US" sz="1100" dirty="0"/>
          </a:p>
        </p:txBody>
      </p:sp>
      <p:sp>
        <p:nvSpPr>
          <p:cNvPr id="25" name="Slide Number Placeholder 0"/>
          <p:cNvSpPr>
            <a:spLocks noGrp="1"/>
          </p:cNvSpPr>
          <p:nvPr>
            <p:ph type="sldNum" sz="quarter" idx="4294967295"/>
          </p:nvPr>
        </p:nvSpPr>
        <p:spPr>
          <a:xfrm>
            <a:off x="11338560" y="6382512"/>
            <a:ext cx="3200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869680" cy="685800"/>
          </a:xfrm>
          <a:prstGeom prst="rect">
            <a:avLst/>
          </a:prstGeom>
          <a:noFill/>
          <a:ln/>
        </p:spPr>
        <p:txBody>
          <a:bodyPr wrap="square" lIns="0" tIns="0" rIns="0" bIns="0" rtlCol="0" anchor="ctr"/>
          <a:lstStyle/>
          <a:p>
            <a:pPr algn="l" indent="0" marL="0">
              <a:buNone/>
            </a:pPr>
            <a:r>
              <a:rPr lang="en-US" sz="3000" b="1" dirty="0">
                <a:solidFill>
                  <a:schemeClr val="tx2"/>
                </a:solidFill>
              </a:rPr>
              <a:t>S3 confirma la jerarquía de S1 y S2</a:t>
            </a:r>
            <a:endParaRPr lang="en-US" sz="3000" dirty="0"/>
          </a:p>
        </p:txBody>
      </p:sp>
      <p:sp>
        <p:nvSpPr>
          <p:cNvPr id="3" name="Text 0"/>
          <p:cNvSpPr/>
          <p:nvPr>
            <p:ph idx="101" type="body" hasCustomPrompt="1"/>
          </p:nvPr>
        </p:nvSpPr>
        <p:spPr>
          <a:xfrm>
            <a:off x="548640" y="987552"/>
            <a:ext cx="8869680" cy="411480"/>
          </a:xfrm>
          <a:prstGeom prst="rect">
            <a:avLst/>
          </a:prstGeom>
          <a:noFill/>
          <a:ln/>
        </p:spPr>
        <p:txBody>
          <a:bodyPr wrap="square" lIns="0" tIns="0" rIns="0" bIns="0" rtlCol="0" anchor="t"/>
          <a:lstStyle/>
          <a:p>
            <a:pPr indent="0" marL="0">
              <a:buNone/>
            </a:pPr>
            <a:r>
              <a:rPr lang="en-US" sz="1600" dirty="0">
                <a:solidFill>
                  <a:schemeClr val="accent5"/>
                </a:solidFill>
              </a:rPr>
              <a:t>Por un camino distinto, el modelamiento llega a la misma respuesta</a:t>
            </a:r>
            <a:endParaRPr lang="en-US" sz="1600" dirty="0"/>
          </a:p>
        </p:txBody>
      </p:sp>
      <p:sp>
        <p:nvSpPr>
          <p:cNvPr id="4" name="fase S1"/>
          <p:cNvSpPr/>
          <p:nvPr/>
        </p:nvSpPr>
        <p:spPr>
          <a:xfrm>
            <a:off x="9537192" y="429768"/>
            <a:ext cx="457200" cy="457200"/>
          </a:xfrm>
          <a:prstGeom prst="ellipse">
            <a:avLst/>
          </a:prstGeom>
          <a:solidFill>
            <a:schemeClr val="accent1"/>
          </a:solidFill>
          <a:ln w="12700">
            <a:solidFill>
              <a:schemeClr val="accent1"/>
            </a:solidFill>
            <a:prstDash val="solid"/>
          </a:ln>
        </p:spPr>
      </p:sp>
      <p:sp>
        <p:nvSpPr>
          <p:cNvPr id="5" name="Text 3"/>
          <p:cNvSpPr txBox="1"/>
          <p:nvPr/>
        </p:nvSpPr>
        <p:spPr>
          <a:xfrm>
            <a:off x="9537192" y="429768"/>
            <a:ext cx="457200" cy="457200"/>
          </a:xfrm>
          <a:prstGeom prst="rect">
            <a:avLst/>
          </a:prstGeom>
          <a:noFill/>
          <a:ln/>
        </p:spPr>
        <p:txBody>
          <a:bodyPr wrap="square" lIns="0" tIns="0" rIns="0" bIns="0" rtlCol="0" anchor="ctr"/>
          <a:lstStyle/>
          <a:p>
            <a:pPr algn="ctr" indent="0" marL="0">
              <a:buNone/>
            </a:pPr>
            <a:r>
              <a:rPr lang="en-US" sz="1200" b="1" dirty="0">
                <a:solidFill>
                  <a:schemeClr val="bg1"/>
                </a:solidFill>
              </a:rPr>
              <a:t>S1</a:t>
            </a:r>
            <a:endParaRPr lang="en-US" sz="1200" dirty="0"/>
          </a:p>
        </p:txBody>
      </p:sp>
      <p:sp>
        <p:nvSpPr>
          <p:cNvPr id="6" name="fase S2"/>
          <p:cNvSpPr/>
          <p:nvPr/>
        </p:nvSpPr>
        <p:spPr>
          <a:xfrm>
            <a:off x="10085832" y="429768"/>
            <a:ext cx="457200" cy="457200"/>
          </a:xfrm>
          <a:prstGeom prst="ellipse">
            <a:avLst/>
          </a:prstGeom>
          <a:solidFill>
            <a:schemeClr val="accent1"/>
          </a:solidFill>
          <a:ln w="12700">
            <a:solidFill>
              <a:schemeClr val="accent1"/>
            </a:solidFill>
            <a:prstDash val="solid"/>
          </a:ln>
        </p:spPr>
      </p:sp>
      <p:sp>
        <p:nvSpPr>
          <p:cNvPr id="7" name="Text 5"/>
          <p:cNvSpPr txBox="1"/>
          <p:nvPr/>
        </p:nvSpPr>
        <p:spPr>
          <a:xfrm>
            <a:off x="10085832" y="429768"/>
            <a:ext cx="457200" cy="457200"/>
          </a:xfrm>
          <a:prstGeom prst="rect">
            <a:avLst/>
          </a:prstGeom>
          <a:noFill/>
          <a:ln/>
        </p:spPr>
        <p:txBody>
          <a:bodyPr wrap="square" lIns="0" tIns="0" rIns="0" bIns="0" rtlCol="0" anchor="ctr"/>
          <a:lstStyle/>
          <a:p>
            <a:pPr algn="ctr" indent="0" marL="0">
              <a:buNone/>
            </a:pPr>
            <a:r>
              <a:rPr lang="en-US" sz="1200" b="1" dirty="0">
                <a:solidFill>
                  <a:schemeClr val="bg1"/>
                </a:solidFill>
              </a:rPr>
              <a:t>S2</a:t>
            </a:r>
            <a:endParaRPr lang="en-US" sz="1200" dirty="0"/>
          </a:p>
        </p:txBody>
      </p:sp>
      <p:sp>
        <p:nvSpPr>
          <p:cNvPr id="8" name="fase F2"/>
          <p:cNvSpPr/>
          <p:nvPr/>
        </p:nvSpPr>
        <p:spPr>
          <a:xfrm>
            <a:off x="10634472" y="429768"/>
            <a:ext cx="457200" cy="457200"/>
          </a:xfrm>
          <a:prstGeom prst="ellipse">
            <a:avLst/>
          </a:prstGeom>
          <a:solidFill>
            <a:schemeClr val="bg2"/>
          </a:solidFill>
          <a:ln w="12700">
            <a:solidFill>
              <a:schemeClr val="bg2"/>
            </a:solidFill>
            <a:prstDash val="solid"/>
          </a:ln>
        </p:spPr>
      </p:sp>
      <p:sp>
        <p:nvSpPr>
          <p:cNvPr id="9" name="Text 7"/>
          <p:cNvSpPr txBox="1"/>
          <p:nvPr/>
        </p:nvSpPr>
        <p:spPr>
          <a:xfrm>
            <a:off x="10634472" y="429768"/>
            <a:ext cx="457200" cy="457200"/>
          </a:xfrm>
          <a:prstGeom prst="rect">
            <a:avLst/>
          </a:prstGeom>
          <a:noFill/>
          <a:ln/>
        </p:spPr>
        <p:txBody>
          <a:bodyPr wrap="square" lIns="0" tIns="0" rIns="0" bIns="0" rtlCol="0" anchor="ctr"/>
          <a:lstStyle/>
          <a:p>
            <a:pPr algn="ctr" indent="0" marL="0">
              <a:buNone/>
            </a:pPr>
            <a:r>
              <a:rPr lang="en-US" sz="1200" b="1" dirty="0">
                <a:solidFill>
                  <a:schemeClr val="accent5"/>
                </a:solidFill>
              </a:rPr>
              <a:t>F2</a:t>
            </a:r>
            <a:endParaRPr lang="en-US" sz="1200" dirty="0"/>
          </a:p>
        </p:txBody>
      </p:sp>
      <p:sp>
        <p:nvSpPr>
          <p:cNvPr id="10" name="fase S3"/>
          <p:cNvSpPr/>
          <p:nvPr/>
        </p:nvSpPr>
        <p:spPr>
          <a:xfrm>
            <a:off x="11183112" y="429768"/>
            <a:ext cx="457200" cy="457200"/>
          </a:xfrm>
          <a:prstGeom prst="ellipse">
            <a:avLst/>
          </a:prstGeom>
          <a:solidFill>
            <a:schemeClr val="accent2"/>
          </a:solidFill>
          <a:ln w="12700">
            <a:solidFill>
              <a:schemeClr val="accent2"/>
            </a:solidFill>
            <a:prstDash val="solid"/>
          </a:ln>
        </p:spPr>
      </p:sp>
      <p:sp>
        <p:nvSpPr>
          <p:cNvPr id="11" name="Text 9"/>
          <p:cNvSpPr txBox="1"/>
          <p:nvPr/>
        </p:nvSpPr>
        <p:spPr>
          <a:xfrm>
            <a:off x="11183112" y="429768"/>
            <a:ext cx="457200" cy="457200"/>
          </a:xfrm>
          <a:prstGeom prst="rect">
            <a:avLst/>
          </a:prstGeom>
          <a:noFill/>
          <a:ln/>
        </p:spPr>
        <p:txBody>
          <a:bodyPr wrap="square" lIns="0" tIns="0" rIns="0" bIns="0" rtlCol="0" anchor="ctr"/>
          <a:lstStyle/>
          <a:p>
            <a:pPr algn="ctr" indent="0" marL="0">
              <a:buNone/>
            </a:pPr>
            <a:r>
              <a:rPr lang="en-US" sz="1200" b="1" dirty="0">
                <a:solidFill>
                  <a:schemeClr val="tx1"/>
                </a:solidFill>
              </a:rPr>
              <a:t>S3</a:t>
            </a:r>
            <a:endParaRPr lang="en-US" sz="1200" dirty="0"/>
          </a:p>
        </p:txBody>
      </p:sp>
      <p:graphicFrame>
        <p:nvGraphicFramePr>
          <p:cNvPr id="15" name="tabla conclusiones"/>
          <p:cNvGraphicFramePr>
            <a:graphicFrameLocks noGrp="1"/>
          </p:cNvGraphicFramePr>
          <p:nvPr>
            <p:extLst>
              <p:ext uri="{D42A27DB-BD31-4B8C-83A1-F6EECF244321}">
                <p14:modId xmlns:p14="http://schemas.microsoft.com/office/powerpoint/2010/main" val="1579011935"/>
              </p:ext>
            </p:extLst>
          </p:nvPr>
        </p:nvGraphicFramePr>
        <p:xfrm>
          <a:off x="548640" y="1645920"/>
          <a:ext cx="11091672" cy="914400"/>
        </p:xfrm>
        <a:graphic>
          <a:graphicData uri="http://schemas.openxmlformats.org/drawingml/2006/table">
            <a:tbl>
              <a:tblPr/>
              <a:tblGrid>
                <a:gridCol w="2103120"/>
                <a:gridCol w="2743200"/>
                <a:gridCol w="2971800"/>
                <a:gridCol w="3273552"/>
              </a:tblGrid>
              <a:tr h="502920">
                <a:tc>
                  <a:txBody>
                    <a:bodyPr/>
                    <a:lstStyle/>
                    <a:p>
                      <a:pPr indent="0" marL="0">
                        <a:buNone/>
                      </a:pPr>
                      <a:r>
                        <a:rPr lang="en-US" sz="1500" b="1" dirty="0">
                          <a:solidFill>
                            <a:srgbClr val="FFFFFF"/>
                          </a:solidFill>
                        </a:rPr>
                        <a:t>Variable</a:t>
                      </a:r>
                      <a:endParaRPr lang="en-US" sz="1500" dirty="0"/>
                    </a:p>
                  </a:txBody>
                  <a:tcPr marL="109728" marR="109728" marT="0" marB="0" anchor="ctr">
                    <a:lnL w="0" cap="flat" cmpd="sng" algn="ctr">
                      <a:noFill/>
                    </a:lnL>
                    <a:lnR w="0" cap="flat" cmpd="sng" algn="ctr">
                      <a:noFill/>
                    </a:lnR>
                    <a:lnT w="0" cap="flat" cmpd="sng" algn="ctr">
                      <a:noFill/>
                    </a:lnT>
                    <a:lnB w="0" cap="flat" cmpd="sng" algn="ctr">
                      <a:noFill/>
                    </a:lnB>
                    <a:solidFill>
                      <a:srgbClr val="123F4A"/>
                    </a:solidFill>
                  </a:tcPr>
                </a:tc>
                <a:tc>
                  <a:txBody>
                    <a:bodyPr/>
                    <a:lstStyle/>
                    <a:p>
                      <a:pPr indent="0" marL="0">
                        <a:buNone/>
                      </a:pPr>
                      <a:r>
                        <a:rPr lang="en-US" sz="1500" b="1" dirty="0">
                          <a:solidFill>
                            <a:srgbClr val="FFFFFF"/>
                          </a:solidFill>
                        </a:rPr>
                        <a:t>S1: describir e inferir</a:t>
                      </a:r>
                      <a:endParaRPr lang="en-US" sz="1500" dirty="0"/>
                    </a:p>
                  </a:txBody>
                  <a:tcPr marL="109728" marR="109728" marT="0" marB="0" anchor="ctr">
                    <a:lnL w="0" cap="flat" cmpd="sng" algn="ctr">
                      <a:noFill/>
                    </a:lnL>
                    <a:lnR w="0" cap="flat" cmpd="sng" algn="ctr">
                      <a:noFill/>
                    </a:lnR>
                    <a:lnT w="0" cap="flat" cmpd="sng" algn="ctr">
                      <a:noFill/>
                    </a:lnT>
                    <a:lnB w="0" cap="flat" cmpd="sng" algn="ctr">
                      <a:noFill/>
                    </a:lnB>
                    <a:solidFill>
                      <a:srgbClr val="123F4A"/>
                    </a:solidFill>
                  </a:tcPr>
                </a:tc>
                <a:tc>
                  <a:txBody>
                    <a:bodyPr/>
                    <a:lstStyle/>
                    <a:p>
                      <a:pPr indent="0" marL="0">
                        <a:buNone/>
                      </a:pPr>
                      <a:r>
                        <a:rPr lang="en-US" sz="1500" b="1" dirty="0">
                          <a:solidFill>
                            <a:srgbClr val="FFFFFF"/>
                          </a:solidFill>
                        </a:rPr>
                        <a:t>S2: validar</a:t>
                      </a:r>
                      <a:endParaRPr lang="en-US" sz="1500" dirty="0"/>
                    </a:p>
                  </a:txBody>
                  <a:tcPr marL="109728" marR="109728" marT="0" marB="0" anchor="ctr">
                    <a:lnL w="0" cap="flat" cmpd="sng" algn="ctr">
                      <a:noFill/>
                    </a:lnL>
                    <a:lnR w="0" cap="flat" cmpd="sng" algn="ctr">
                      <a:noFill/>
                    </a:lnR>
                    <a:lnT w="0" cap="flat" cmpd="sng" algn="ctr">
                      <a:noFill/>
                    </a:lnT>
                    <a:lnB w="0" cap="flat" cmpd="sng" algn="ctr">
                      <a:noFill/>
                    </a:lnB>
                    <a:solidFill>
                      <a:srgbClr val="123F4A"/>
                    </a:solidFill>
                  </a:tcPr>
                </a:tc>
                <a:tc>
                  <a:txBody>
                    <a:bodyPr/>
                    <a:lstStyle/>
                    <a:p>
                      <a:pPr indent="0" marL="0">
                        <a:buNone/>
                      </a:pPr>
                      <a:r>
                        <a:rPr lang="en-US" sz="1500" b="1" dirty="0">
                          <a:solidFill>
                            <a:srgbClr val="1B2A33"/>
                          </a:solidFill>
                        </a:rPr>
                        <a:t>S3: modelar</a:t>
                      </a:r>
                      <a:endParaRPr lang="en-US" sz="1500" dirty="0"/>
                    </a:p>
                  </a:txBody>
                  <a:tcPr marL="109728" marR="109728" marT="0" marB="0" anchor="ctr">
                    <a:lnL w="0" cap="flat" cmpd="sng" algn="ctr">
                      <a:noFill/>
                    </a:lnL>
                    <a:lnR w="0" cap="flat" cmpd="sng" algn="ctr">
                      <a:noFill/>
                    </a:lnR>
                    <a:lnT w="0" cap="flat" cmpd="sng" algn="ctr">
                      <a:noFill/>
                    </a:lnT>
                    <a:lnB w="0" cap="flat" cmpd="sng" algn="ctr">
                      <a:noFill/>
                    </a:lnB>
                    <a:solidFill>
                      <a:srgbClr val="C9791A"/>
                    </a:solidFill>
                  </a:tcPr>
                </a:tc>
              </a:tr>
              <a:tr h="868680">
                <a:tc>
                  <a:txBody>
                    <a:bodyPr/>
                    <a:lstStyle/>
                    <a:p>
                      <a:pPr indent="0" marL="0">
                        <a:buNone/>
                      </a:pPr>
                      <a:r>
                        <a:rPr lang="en-US" sz="1500" b="1" dirty="0">
                          <a:solidFill>
                            <a:srgbClr val="1F6F7A"/>
                          </a:solidFill>
                        </a:rPr>
                        <a:t>Peso</a:t>
                      </a:r>
                      <a:endParaRPr lang="en-US" sz="1500" dirty="0"/>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500" dirty="0">
                          <a:solidFill>
                            <a:srgbClr val="1B2A33"/>
                          </a:solidFill>
                        </a:rPr>
                        <a:t>Atrasados pesan 896 g menos</a:t>
                      </a:r>
                      <a:endParaRPr lang="en-US" sz="1500" dirty="0"/>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500" dirty="0">
                          <a:solidFill>
                            <a:srgbClr val="1B2A33"/>
                          </a:solidFill>
                        </a:rPr>
                        <a:t>Única asociación robusta en todos los escenarios</a:t>
                      </a:r>
                      <a:endParaRPr lang="en-US" sz="1500" dirty="0"/>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500" b="1" dirty="0">
                          <a:solidFill>
                            <a:srgbClr val="1B2A33"/>
                          </a:solidFill>
                        </a:rPr>
                        <a:t>Único predictor del modelo final; signo estable en el 100 %</a:t>
                      </a:r>
                      <a:endParaRPr lang="en-US" sz="1500" dirty="0"/>
                    </a:p>
                  </a:txBody>
                  <a:tcPr marL="109728" marR="109728" marT="0" marB="0" anchor="ctr">
                    <a:lnL w="0" cap="flat" cmpd="sng" algn="ctr">
                      <a:noFill/>
                    </a:lnL>
                    <a:lnR w="0" cap="flat" cmpd="sng" algn="ctr">
                      <a:noFill/>
                    </a:lnR>
                    <a:lnT w="0" cap="flat" cmpd="sng" algn="ctr">
                      <a:noFill/>
                    </a:lnT>
                    <a:lnB w="0" cap="flat" cmpd="sng" algn="ctr">
                      <a:noFill/>
                    </a:lnB>
                    <a:solidFill>
                      <a:srgbClr val="F7E6CC"/>
                    </a:solidFill>
                  </a:tcPr>
                </a:tc>
              </a:tr>
              <a:tr h="868680">
                <a:tc>
                  <a:txBody>
                    <a:bodyPr/>
                    <a:lstStyle/>
                    <a:p>
                      <a:pPr indent="0" marL="0">
                        <a:buNone/>
                      </a:pPr>
                      <a:r>
                        <a:rPr lang="en-US" sz="1500" b="1" dirty="0">
                          <a:solidFill>
                            <a:srgbClr val="C9791A"/>
                          </a:solidFill>
                        </a:rPr>
                        <a:t>Descuento</a:t>
                      </a:r>
                      <a:endParaRPr lang="en-US" sz="1500" dirty="0"/>
                    </a:p>
                  </a:txBody>
                  <a:tcPr marL="109728" marR="109728" marT="0" marB="0" anchor="ctr">
                    <a:lnL w="0" cap="flat" cmpd="sng" algn="ctr">
                      <a:noFill/>
                    </a:lnL>
                    <a:lnR w="0" cap="flat" cmpd="sng" algn="ctr">
                      <a:noFill/>
                    </a:lnR>
                    <a:lnT w="0" cap="flat" cmpd="sng" algn="ctr">
                      <a:noFill/>
                    </a:lnT>
                    <a:lnB w="0" cap="flat" cmpd="sng" algn="ctr">
                      <a:noFill/>
                    </a:lnB>
                    <a:solidFill>
                      <a:srgbClr val="EDF2F3"/>
                    </a:solidFill>
                  </a:tcPr>
                </a:tc>
                <a:tc>
                  <a:txBody>
                    <a:bodyPr/>
                    <a:lstStyle/>
                    <a:p>
                      <a:pPr indent="0" marL="0">
                        <a:buNone/>
                      </a:pPr>
                      <a:r>
                        <a:rPr lang="en-US" sz="1500" dirty="0">
                          <a:solidFill>
                            <a:srgbClr val="1B2A33"/>
                          </a:solidFill>
                        </a:rPr>
                        <a:t>Mayor que 10: 100 % atrasado</a:t>
                      </a:r>
                      <a:endParaRPr lang="en-US" sz="1500" dirty="0"/>
                    </a:p>
                  </a:txBody>
                  <a:tcPr marL="109728" marR="109728" marT="0" marB="0" anchor="ctr">
                    <a:lnL w="0" cap="flat" cmpd="sng" algn="ctr">
                      <a:noFill/>
                    </a:lnL>
                    <a:lnR w="0" cap="flat" cmpd="sng" algn="ctr">
                      <a:noFill/>
                    </a:lnR>
                    <a:lnT w="0" cap="flat" cmpd="sng" algn="ctr">
                      <a:noFill/>
                    </a:lnT>
                    <a:lnB w="0" cap="flat" cmpd="sng" algn="ctr">
                      <a:noFill/>
                    </a:lnB>
                    <a:solidFill>
                      <a:srgbClr val="EDF2F3"/>
                    </a:solidFill>
                  </a:tcPr>
                </a:tc>
                <a:tc>
                  <a:txBody>
                    <a:bodyPr/>
                    <a:lstStyle/>
                    <a:p>
                      <a:pPr indent="0" marL="0">
                        <a:buNone/>
                      </a:pPr>
                      <a:r>
                        <a:rPr lang="en-US" sz="1500" dirty="0">
                          <a:solidFill>
                            <a:srgbClr val="1B2A33"/>
                          </a:solidFill>
                        </a:rPr>
                        <a:t>Su asociación existe solo por el segmento &gt; 10</a:t>
                      </a:r>
                      <a:endParaRPr lang="en-US" sz="1500" dirty="0"/>
                    </a:p>
                  </a:txBody>
                  <a:tcPr marL="109728" marR="109728" marT="0" marB="0" anchor="ctr">
                    <a:lnL w="0" cap="flat" cmpd="sng" algn="ctr">
                      <a:noFill/>
                    </a:lnL>
                    <a:lnR w="0" cap="flat" cmpd="sng" algn="ctr">
                      <a:noFill/>
                    </a:lnR>
                    <a:lnT w="0" cap="flat" cmpd="sng" algn="ctr">
                      <a:noFill/>
                    </a:lnT>
                    <a:lnB w="0" cap="flat" cmpd="sng" algn="ctr">
                      <a:noFill/>
                    </a:lnB>
                    <a:solidFill>
                      <a:srgbClr val="EDF2F3"/>
                    </a:solidFill>
                  </a:tcPr>
                </a:tc>
                <a:tc>
                  <a:txBody>
                    <a:bodyPr/>
                    <a:lstStyle/>
                    <a:p>
                      <a:pPr indent="0" marL="0">
                        <a:buNone/>
                      </a:pPr>
                      <a:r>
                        <a:rPr lang="en-US" sz="1500" b="1" dirty="0">
                          <a:solidFill>
                            <a:srgbClr val="1B2A33"/>
                          </a:solidFill>
                        </a:rPr>
                        <a:t>Dentro de ≤ 10, OR 0,992 (p = 0,40); signo en el 79,9 %</a:t>
                      </a:r>
                      <a:endParaRPr lang="en-US" sz="1500" dirty="0"/>
                    </a:p>
                  </a:txBody>
                  <a:tcPr marL="109728" marR="109728" marT="0" marB="0" anchor="ctr">
                    <a:lnL w="0" cap="flat" cmpd="sng" algn="ctr">
                      <a:noFill/>
                    </a:lnL>
                    <a:lnR w="0" cap="flat" cmpd="sng" algn="ctr">
                      <a:noFill/>
                    </a:lnR>
                    <a:lnT w="0" cap="flat" cmpd="sng" algn="ctr">
                      <a:noFill/>
                    </a:lnT>
                    <a:lnB w="0" cap="flat" cmpd="sng" algn="ctr">
                      <a:noFill/>
                    </a:lnB>
                    <a:solidFill>
                      <a:srgbClr val="F3E2C7"/>
                    </a:solidFill>
                  </a:tcPr>
                </a:tc>
              </a:tr>
              <a:tr h="868680">
                <a:tc>
                  <a:txBody>
                    <a:bodyPr/>
                    <a:lstStyle/>
                    <a:p>
                      <a:pPr indent="0" marL="0">
                        <a:buNone/>
                      </a:pPr>
                      <a:r>
                        <a:rPr lang="en-US" sz="1500" b="1" dirty="0">
                          <a:solidFill>
                            <a:srgbClr val="5E6B73"/>
                          </a:solidFill>
                        </a:rPr>
                        <a:t>Modalidad</a:t>
                      </a:r>
                      <a:endParaRPr lang="en-US" sz="1500" dirty="0"/>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500" dirty="0">
                          <a:solidFill>
                            <a:srgbClr val="1B2A33"/>
                          </a:solidFill>
                        </a:rPr>
                        <a:t>Sin asociación (p de Holm 0,69)</a:t>
                      </a:r>
                      <a:endParaRPr lang="en-US" sz="1500" dirty="0"/>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500" dirty="0">
                          <a:solidFill>
                            <a:srgbClr val="1B2A33"/>
                          </a:solidFill>
                        </a:rPr>
                        <a:t>Sin asociación en ningún escenario</a:t>
                      </a:r>
                      <a:endParaRPr lang="en-US" sz="1500" dirty="0"/>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500" b="1" dirty="0">
                          <a:solidFill>
                            <a:srgbClr val="1B2A33"/>
                          </a:solidFill>
                        </a:rPr>
                        <a:t>Ningún método de selección la incorpora</a:t>
                      </a:r>
                      <a:endParaRPr lang="en-US" sz="1500" dirty="0"/>
                    </a:p>
                  </a:txBody>
                  <a:tcPr marL="109728" marR="109728" marT="0" marB="0" anchor="ctr">
                    <a:lnL w="0" cap="flat" cmpd="sng" algn="ctr">
                      <a:noFill/>
                    </a:lnL>
                    <a:lnR w="0" cap="flat" cmpd="sng" algn="ctr">
                      <a:noFill/>
                    </a:lnR>
                    <a:lnT w="0" cap="flat" cmpd="sng" algn="ctr">
                      <a:noFill/>
                    </a:lnT>
                    <a:lnB w="0" cap="flat" cmpd="sng" algn="ctr">
                      <a:noFill/>
                    </a:lnB>
                    <a:solidFill>
                      <a:srgbClr val="F7E6CC"/>
                    </a:solidFill>
                  </a:tcPr>
                </a:tc>
              </a:tr>
              <a:tr h="868680">
                <a:tc>
                  <a:txBody>
                    <a:bodyPr/>
                    <a:lstStyle/>
                    <a:p>
                      <a:pPr indent="0" marL="0">
                        <a:buNone/>
                      </a:pPr>
                      <a:r>
                        <a:rPr lang="en-US" sz="1500" b="1" dirty="0">
                          <a:solidFill>
                            <a:srgbClr val="5E6B73"/>
                          </a:solidFill>
                        </a:rPr>
                        <a:t>Costo, compras e importancia</a:t>
                      </a:r>
                      <a:endParaRPr lang="en-US" sz="1500" dirty="0"/>
                    </a:p>
                  </a:txBody>
                  <a:tcPr marL="109728" marR="109728" marT="0" marB="0" anchor="ctr">
                    <a:lnL w="0" cap="flat" cmpd="sng" algn="ctr">
                      <a:noFill/>
                    </a:lnL>
                    <a:lnR w="0" cap="flat" cmpd="sng" algn="ctr">
                      <a:noFill/>
                    </a:lnR>
                    <a:lnT w="0" cap="flat" cmpd="sng" algn="ctr">
                      <a:noFill/>
                    </a:lnT>
                    <a:lnB w="0" cap="flat" cmpd="sng" algn="ctr">
                      <a:noFill/>
                    </a:lnB>
                    <a:solidFill>
                      <a:srgbClr val="EDF2F3"/>
                    </a:solidFill>
                  </a:tcPr>
                </a:tc>
                <a:tc>
                  <a:txBody>
                    <a:bodyPr/>
                    <a:lstStyle/>
                    <a:p>
                      <a:pPr indent="0" marL="0">
                        <a:buNone/>
                      </a:pPr>
                      <a:r>
                        <a:rPr lang="en-US" sz="1500" dirty="0">
                          <a:solidFill>
                            <a:srgbClr val="1B2A33"/>
                          </a:solidFill>
                        </a:rPr>
                        <a:t>Efectos pequeños</a:t>
                      </a:r>
                      <a:endParaRPr lang="en-US" sz="1500" dirty="0"/>
                    </a:p>
                  </a:txBody>
                  <a:tcPr marL="109728" marR="109728" marT="0" marB="0" anchor="ctr">
                    <a:lnL w="0" cap="flat" cmpd="sng" algn="ctr">
                      <a:noFill/>
                    </a:lnL>
                    <a:lnR w="0" cap="flat" cmpd="sng" algn="ctr">
                      <a:noFill/>
                    </a:lnR>
                    <a:lnT w="0" cap="flat" cmpd="sng" algn="ctr">
                      <a:noFill/>
                    </a:lnT>
                    <a:lnB w="0" cap="flat" cmpd="sng" algn="ctr">
                      <a:noFill/>
                    </a:lnB>
                    <a:solidFill>
                      <a:srgbClr val="EDF2F3"/>
                    </a:solidFill>
                  </a:tcPr>
                </a:tc>
                <a:tc>
                  <a:txBody>
                    <a:bodyPr/>
                    <a:lstStyle/>
                    <a:p>
                      <a:pPr indent="0" marL="0">
                        <a:buNone/>
                      </a:pPr>
                      <a:r>
                        <a:rPr lang="en-US" sz="1500" dirty="0">
                          <a:solidFill>
                            <a:srgbClr val="1B2A33"/>
                          </a:solidFill>
                        </a:rPr>
                        <a:t>Sensibles al escenario</a:t>
                      </a:r>
                      <a:endParaRPr lang="en-US" sz="1500" dirty="0"/>
                    </a:p>
                  </a:txBody>
                  <a:tcPr marL="109728" marR="109728" marT="0" marB="0" anchor="ctr">
                    <a:lnL w="0" cap="flat" cmpd="sng" algn="ctr">
                      <a:noFill/>
                    </a:lnL>
                    <a:lnR w="0" cap="flat" cmpd="sng" algn="ctr">
                      <a:noFill/>
                    </a:lnR>
                    <a:lnT w="0" cap="flat" cmpd="sng" algn="ctr">
                      <a:noFill/>
                    </a:lnT>
                    <a:lnB w="0" cap="flat" cmpd="sng" algn="ctr">
                      <a:noFill/>
                    </a:lnB>
                    <a:solidFill>
                      <a:srgbClr val="EDF2F3"/>
                    </a:solidFill>
                  </a:tcPr>
                </a:tc>
                <a:tc>
                  <a:txBody>
                    <a:bodyPr/>
                    <a:lstStyle/>
                    <a:p>
                      <a:pPr indent="0" marL="0">
                        <a:buNone/>
                      </a:pPr>
                      <a:r>
                        <a:rPr lang="en-US" sz="1500" b="1" dirty="0">
                          <a:solidFill>
                            <a:srgbClr val="1B2A33"/>
                          </a:solidFill>
                        </a:rPr>
                        <a:t>Efectos pequeños; el costo es inestable</a:t>
                      </a:r>
                      <a:endParaRPr lang="en-US" sz="1500" dirty="0"/>
                    </a:p>
                  </a:txBody>
                  <a:tcPr marL="109728" marR="109728" marT="0" marB="0" anchor="ctr">
                    <a:lnL w="0" cap="flat" cmpd="sng" algn="ctr">
                      <a:noFill/>
                    </a:lnL>
                    <a:lnR w="0" cap="flat" cmpd="sng" algn="ctr">
                      <a:noFill/>
                    </a:lnR>
                    <a:lnT w="0" cap="flat" cmpd="sng" algn="ctr">
                      <a:noFill/>
                    </a:lnT>
                    <a:lnB w="0" cap="flat" cmpd="sng" algn="ctr">
                      <a:noFill/>
                    </a:lnB>
                    <a:solidFill>
                      <a:srgbClr val="F3E2C7"/>
                    </a:solidFill>
                  </a:tcPr>
                </a:tc>
              </a:tr>
            </a:tbl>
          </a:graphicData>
        </a:graphic>
      </p:graphicFrame>
      <p:sp>
        <p:nvSpPr>
          <p:cNvPr id="13" name="Text 10"/>
          <p:cNvSpPr txBox="1"/>
          <p:nvPr/>
        </p:nvSpPr>
        <p:spPr>
          <a:xfrm>
            <a:off x="548640" y="5760720"/>
            <a:ext cx="11091672" cy="411480"/>
          </a:xfrm>
          <a:prstGeom prst="rect">
            <a:avLst/>
          </a:prstGeom>
          <a:noFill/>
          <a:ln/>
        </p:spPr>
        <p:txBody>
          <a:bodyPr wrap="square" lIns="0" tIns="0" rIns="0" bIns="0" rtlCol="0" anchor="ctr"/>
          <a:lstStyle/>
          <a:p>
            <a:pPr indent="0" marL="0">
              <a:buNone/>
            </a:pPr>
            <a:r>
              <a:rPr lang="en-US" sz="1600" b="1" dirty="0">
                <a:solidFill>
                  <a:schemeClr val="tx2"/>
                </a:solidFill>
              </a:rPr>
              <a:t>Respuesta: </a:t>
            </a:r>
            <a:pPr indent="0" marL="0">
              <a:buNone/>
            </a:pPr>
            <a:r>
              <a:rPr lang="en-US" sz="1600" dirty="0">
                <a:solidFill>
                  <a:schemeClr val="tx2"/>
                </a:solidFill>
              </a:rPr>
              <a:t>el atraso se asocia con un descuento mayor que 10 y, fuera de ese segmento, con un menor peso.</a:t>
            </a:r>
            <a:endParaRPr lang="en-US" sz="1600" dirty="0"/>
          </a:p>
        </p:txBody>
      </p:sp>
      <p:sp>
        <p:nvSpPr>
          <p:cNvPr id="14" name="Text 11"/>
          <p:cNvSpPr txBox="1"/>
          <p:nvPr/>
        </p:nvSpPr>
        <p:spPr>
          <a:xfrm>
            <a:off x="548640" y="6382512"/>
            <a:ext cx="5486400" cy="274320"/>
          </a:xfrm>
          <a:prstGeom prst="rect">
            <a:avLst/>
          </a:prstGeom>
          <a:noFill/>
          <a:ln/>
        </p:spPr>
        <p:txBody>
          <a:bodyPr wrap="square" lIns="0" tIns="0" rIns="0" bIns="0" rtlCol="0" anchor="ctr"/>
          <a:lstStyle/>
          <a:p>
            <a:pPr indent="0" marL="0">
              <a:buNone/>
            </a:pPr>
            <a:r>
              <a:rPr lang="en-US" sz="1100" b="1" dirty="0">
                <a:solidFill>
                  <a:schemeClr val="accent5"/>
                </a:solidFill>
              </a:rPr>
              <a:t>Expone: </a:t>
            </a:r>
            <a:pPr indent="0" marL="0">
              <a:buNone/>
            </a:pPr>
            <a:r>
              <a:rPr lang="en-US" sz="1100" dirty="0">
                <a:solidFill>
                  <a:schemeClr val="accent5"/>
                </a:solidFill>
              </a:rPr>
              <a:t>Sebastián Rojas Araya</a:t>
            </a:r>
            <a:endParaRPr lang="en-US" sz="1100" dirty="0"/>
          </a:p>
        </p:txBody>
      </p:sp>
      <p:sp>
        <p:nvSpPr>
          <p:cNvPr id="25" name="Slide Number Placeholder 0"/>
          <p:cNvSpPr>
            <a:spLocks noGrp="1"/>
          </p:cNvSpPr>
          <p:nvPr>
            <p:ph type="sldNum" sz="quarter" idx="4294967295"/>
          </p:nvPr>
        </p:nvSpPr>
        <p:spPr>
          <a:xfrm>
            <a:off x="11338560" y="6382512"/>
            <a:ext cx="3200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869680" cy="685800"/>
          </a:xfrm>
          <a:prstGeom prst="rect">
            <a:avLst/>
          </a:prstGeom>
          <a:noFill/>
          <a:ln/>
        </p:spPr>
        <p:txBody>
          <a:bodyPr wrap="square" lIns="0" tIns="0" rIns="0" bIns="0" rtlCol="0" anchor="ctr"/>
          <a:lstStyle/>
          <a:p>
            <a:pPr algn="l" indent="0" marL="0">
              <a:buNone/>
            </a:pPr>
            <a:r>
              <a:rPr lang="en-US" sz="3000" b="1" dirty="0">
                <a:solidFill>
                  <a:schemeClr val="bg1"/>
                </a:solidFill>
              </a:rPr>
              <a:t>Recomendaciones</a:t>
            </a:r>
            <a:endParaRPr lang="en-US" sz="3000" dirty="0"/>
          </a:p>
        </p:txBody>
      </p:sp>
      <p:sp>
        <p:nvSpPr>
          <p:cNvPr id="3" name="Text 0"/>
          <p:cNvSpPr/>
          <p:nvPr>
            <p:ph idx="101" type="body" hasCustomPrompt="1"/>
          </p:nvPr>
        </p:nvSpPr>
        <p:spPr>
          <a:xfrm>
            <a:off x="548640" y="987552"/>
            <a:ext cx="8869680" cy="411480"/>
          </a:xfrm>
          <a:prstGeom prst="rect">
            <a:avLst/>
          </a:prstGeom>
          <a:noFill/>
          <a:ln/>
        </p:spPr>
        <p:txBody>
          <a:bodyPr wrap="square" lIns="0" tIns="0" rIns="0" bIns="0" rtlCol="0" anchor="t"/>
          <a:lstStyle/>
          <a:p>
            <a:pPr indent="0" marL="0">
              <a:buNone/>
            </a:pPr>
            <a:r>
              <a:rPr lang="en-US" sz="1600" dirty="0">
                <a:solidFill>
                  <a:schemeClr val="accent4"/>
                </a:solidFill>
              </a:rPr>
              <a:t>Para la empresa y para un análisis futuro</a:t>
            </a:r>
            <a:endParaRPr lang="en-US" sz="1600" dirty="0"/>
          </a:p>
        </p:txBody>
      </p:sp>
      <p:sp>
        <p:nvSpPr>
          <p:cNvPr id="4" name="fase S1"/>
          <p:cNvSpPr/>
          <p:nvPr/>
        </p:nvSpPr>
        <p:spPr>
          <a:xfrm>
            <a:off x="9537192" y="429768"/>
            <a:ext cx="457200" cy="457200"/>
          </a:xfrm>
          <a:prstGeom prst="ellipse">
            <a:avLst/>
          </a:prstGeom>
          <a:solidFill>
            <a:schemeClr val="accent1"/>
          </a:solidFill>
          <a:ln w="12700">
            <a:solidFill>
              <a:schemeClr val="accent1"/>
            </a:solidFill>
            <a:prstDash val="solid"/>
          </a:ln>
        </p:spPr>
      </p:sp>
      <p:sp>
        <p:nvSpPr>
          <p:cNvPr id="5" name="Text 3"/>
          <p:cNvSpPr txBox="1"/>
          <p:nvPr/>
        </p:nvSpPr>
        <p:spPr>
          <a:xfrm>
            <a:off x="9537192" y="429768"/>
            <a:ext cx="457200" cy="457200"/>
          </a:xfrm>
          <a:prstGeom prst="rect">
            <a:avLst/>
          </a:prstGeom>
          <a:noFill/>
          <a:ln/>
        </p:spPr>
        <p:txBody>
          <a:bodyPr wrap="square" lIns="0" tIns="0" rIns="0" bIns="0" rtlCol="0" anchor="ctr"/>
          <a:lstStyle/>
          <a:p>
            <a:pPr algn="ctr" indent="0" marL="0">
              <a:buNone/>
            </a:pPr>
            <a:r>
              <a:rPr lang="en-US" sz="1200" b="1" dirty="0">
                <a:solidFill>
                  <a:schemeClr val="bg1"/>
                </a:solidFill>
              </a:rPr>
              <a:t>S1</a:t>
            </a:r>
            <a:endParaRPr lang="en-US" sz="1200" dirty="0"/>
          </a:p>
        </p:txBody>
      </p:sp>
      <p:sp>
        <p:nvSpPr>
          <p:cNvPr id="6" name="fase S2"/>
          <p:cNvSpPr/>
          <p:nvPr/>
        </p:nvSpPr>
        <p:spPr>
          <a:xfrm>
            <a:off x="10085832" y="429768"/>
            <a:ext cx="457200" cy="457200"/>
          </a:xfrm>
          <a:prstGeom prst="ellipse">
            <a:avLst/>
          </a:prstGeom>
          <a:solidFill>
            <a:schemeClr val="accent1"/>
          </a:solidFill>
          <a:ln w="12700">
            <a:solidFill>
              <a:schemeClr val="accent1"/>
            </a:solidFill>
            <a:prstDash val="solid"/>
          </a:ln>
        </p:spPr>
      </p:sp>
      <p:sp>
        <p:nvSpPr>
          <p:cNvPr id="7" name="Text 5"/>
          <p:cNvSpPr txBox="1"/>
          <p:nvPr/>
        </p:nvSpPr>
        <p:spPr>
          <a:xfrm>
            <a:off x="10085832" y="429768"/>
            <a:ext cx="457200" cy="457200"/>
          </a:xfrm>
          <a:prstGeom prst="rect">
            <a:avLst/>
          </a:prstGeom>
          <a:noFill/>
          <a:ln/>
        </p:spPr>
        <p:txBody>
          <a:bodyPr wrap="square" lIns="0" tIns="0" rIns="0" bIns="0" rtlCol="0" anchor="ctr"/>
          <a:lstStyle/>
          <a:p>
            <a:pPr algn="ctr" indent="0" marL="0">
              <a:buNone/>
            </a:pPr>
            <a:r>
              <a:rPr lang="en-US" sz="1200" b="1" dirty="0">
                <a:solidFill>
                  <a:schemeClr val="bg1"/>
                </a:solidFill>
              </a:rPr>
              <a:t>S2</a:t>
            </a:r>
            <a:endParaRPr lang="en-US" sz="1200" dirty="0"/>
          </a:p>
        </p:txBody>
      </p:sp>
      <p:sp>
        <p:nvSpPr>
          <p:cNvPr id="8" name="fase F2"/>
          <p:cNvSpPr/>
          <p:nvPr/>
        </p:nvSpPr>
        <p:spPr>
          <a:xfrm>
            <a:off x="10634472" y="429768"/>
            <a:ext cx="457200" cy="457200"/>
          </a:xfrm>
          <a:prstGeom prst="ellipse">
            <a:avLst/>
          </a:prstGeom>
          <a:solidFill>
            <a:schemeClr val="accent1"/>
          </a:solidFill>
          <a:ln w="12700">
            <a:solidFill>
              <a:schemeClr val="accent1"/>
            </a:solidFill>
            <a:prstDash val="solid"/>
          </a:ln>
        </p:spPr>
      </p:sp>
      <p:sp>
        <p:nvSpPr>
          <p:cNvPr id="9" name="Text 7"/>
          <p:cNvSpPr txBox="1"/>
          <p:nvPr/>
        </p:nvSpPr>
        <p:spPr>
          <a:xfrm>
            <a:off x="10634472" y="429768"/>
            <a:ext cx="457200" cy="457200"/>
          </a:xfrm>
          <a:prstGeom prst="rect">
            <a:avLst/>
          </a:prstGeom>
          <a:noFill/>
          <a:ln/>
        </p:spPr>
        <p:txBody>
          <a:bodyPr wrap="square" lIns="0" tIns="0" rIns="0" bIns="0" rtlCol="0" anchor="ctr"/>
          <a:lstStyle/>
          <a:p>
            <a:pPr algn="ctr" indent="0" marL="0">
              <a:buNone/>
            </a:pPr>
            <a:r>
              <a:rPr lang="en-US" sz="1200" b="1" dirty="0">
                <a:solidFill>
                  <a:schemeClr val="bg1"/>
                </a:solidFill>
              </a:rPr>
              <a:t>F2</a:t>
            </a:r>
            <a:endParaRPr lang="en-US" sz="1200" dirty="0"/>
          </a:p>
        </p:txBody>
      </p:sp>
      <p:sp>
        <p:nvSpPr>
          <p:cNvPr id="10" name="fase S3"/>
          <p:cNvSpPr/>
          <p:nvPr/>
        </p:nvSpPr>
        <p:spPr>
          <a:xfrm>
            <a:off x="11183112" y="429768"/>
            <a:ext cx="457200" cy="457200"/>
          </a:xfrm>
          <a:prstGeom prst="ellipse">
            <a:avLst/>
          </a:prstGeom>
          <a:solidFill>
            <a:schemeClr val="accent2"/>
          </a:solidFill>
          <a:ln w="12700">
            <a:solidFill>
              <a:schemeClr val="accent2"/>
            </a:solidFill>
            <a:prstDash val="solid"/>
          </a:ln>
        </p:spPr>
      </p:sp>
      <p:sp>
        <p:nvSpPr>
          <p:cNvPr id="11" name="Text 9"/>
          <p:cNvSpPr txBox="1"/>
          <p:nvPr/>
        </p:nvSpPr>
        <p:spPr>
          <a:xfrm>
            <a:off x="11183112" y="429768"/>
            <a:ext cx="457200" cy="457200"/>
          </a:xfrm>
          <a:prstGeom prst="rect">
            <a:avLst/>
          </a:prstGeom>
          <a:noFill/>
          <a:ln/>
        </p:spPr>
        <p:txBody>
          <a:bodyPr wrap="square" lIns="0" tIns="0" rIns="0" bIns="0" rtlCol="0" anchor="ctr"/>
          <a:lstStyle/>
          <a:p>
            <a:pPr algn="ctr" indent="0" marL="0">
              <a:buNone/>
            </a:pPr>
            <a:r>
              <a:rPr lang="en-US" sz="1200" b="1" dirty="0">
                <a:solidFill>
                  <a:schemeClr val="tx1"/>
                </a:solidFill>
              </a:rPr>
              <a:t>S3</a:t>
            </a:r>
            <a:endParaRPr lang="en-US" sz="1200" dirty="0"/>
          </a:p>
        </p:txBody>
      </p:sp>
      <p:sp>
        <p:nvSpPr>
          <p:cNvPr id="12" name="recomendación 1"/>
          <p:cNvSpPr/>
          <p:nvPr/>
        </p:nvSpPr>
        <p:spPr>
          <a:xfrm>
            <a:off x="548640" y="1645920"/>
            <a:ext cx="5468112" cy="1188720"/>
          </a:xfrm>
          <a:prstGeom prst="roundRect">
            <a:avLst>
              <a:gd name="adj" fmla="val 6154"/>
            </a:avLst>
          </a:prstGeom>
          <a:solidFill>
            <a:srgbClr val="1C5662"/>
          </a:solidFill>
          <a:ln w="12700">
            <a:solidFill>
              <a:srgbClr val="1C5662"/>
            </a:solidFill>
            <a:prstDash val="solid"/>
          </a:ln>
        </p:spPr>
      </p:sp>
      <p:sp>
        <p:nvSpPr>
          <p:cNvPr id="13" name="icono recomendación 1"/>
          <p:cNvSpPr/>
          <p:nvPr/>
        </p:nvSpPr>
        <p:spPr>
          <a:xfrm>
            <a:off x="777240" y="1943100"/>
            <a:ext cx="594360" cy="594360"/>
          </a:xfrm>
          <a:prstGeom prst="ellipse">
            <a:avLst/>
          </a:prstGeom>
          <a:solidFill>
            <a:schemeClr val="accent2"/>
          </a:solidFill>
          <a:ln w="12700">
            <a:solidFill>
              <a:schemeClr val="accent2"/>
            </a:solidFill>
            <a:prstDash val="solid"/>
          </a:ln>
        </p:spPr>
      </p:sp>
      <p:pic>
        <p:nvPicPr>
          <p:cNvPr id="14" name="Image 0" descr="icono recomendación 1">    </p:cNvPr>
          <p:cNvPicPr>
            <a:picLocks noChangeAspect="1"/>
          </p:cNvPicPr>
          <p:nvPr/>
        </p:nvPicPr>
        <p:blipFill>
          <a:blip r:embed="rId1"/>
          <a:stretch>
            <a:fillRect/>
          </a:stretch>
        </p:blipFill>
        <p:spPr>
          <a:xfrm>
            <a:off x="919886" y="2085746"/>
            <a:ext cx="309067" cy="309067"/>
          </a:xfrm>
          <a:prstGeom prst="rect">
            <a:avLst/>
          </a:prstGeom>
        </p:spPr>
      </p:pic>
      <p:sp>
        <p:nvSpPr>
          <p:cNvPr id="15" name="Text 12"/>
          <p:cNvSpPr txBox="1"/>
          <p:nvPr/>
        </p:nvSpPr>
        <p:spPr>
          <a:xfrm>
            <a:off x="1600200" y="1645920"/>
            <a:ext cx="4206240" cy="1188720"/>
          </a:xfrm>
          <a:prstGeom prst="rect">
            <a:avLst/>
          </a:prstGeom>
          <a:noFill/>
          <a:ln/>
        </p:spPr>
        <p:txBody>
          <a:bodyPr wrap="square" lIns="0" tIns="0" rIns="0" bIns="0" rtlCol="0" anchor="ctr"/>
          <a:lstStyle/>
          <a:p>
            <a:pPr indent="0" marL="0">
              <a:spcAft>
                <a:spcPts val="400"/>
              </a:spcAft>
              <a:buNone/>
            </a:pPr>
            <a:r>
              <a:rPr lang="en-US" sz="1700" b="1" dirty="0">
                <a:solidFill>
                  <a:schemeClr val="bg1"/>
                </a:solidFill>
              </a:rPr>
              <a:t>Auditar el descuento &gt; 10</a:t>
            </a:r>
            <a:endParaRPr lang="en-US" sz="1700" dirty="0"/>
          </a:p>
          <a:p>
            <a:pPr indent="0" marL="0">
              <a:spcAft>
                <a:spcPts val="400"/>
              </a:spcAft>
              <a:buNone/>
            </a:pPr>
            <a:r>
              <a:rPr lang="en-US" sz="1400" dirty="0">
                <a:solidFill>
                  <a:srgbClr val="D3E2E5"/>
                </a:solidFill>
              </a:rPr>
              <a:t>24 % de los envíos: ¿compensación posterior, política comercial o forma de registro de los envíos 1 a 3.135?</a:t>
            </a:r>
            <a:endParaRPr lang="en-US" sz="1700" dirty="0"/>
          </a:p>
        </p:txBody>
      </p:sp>
      <p:sp>
        <p:nvSpPr>
          <p:cNvPr id="16" name="recomendación 2"/>
          <p:cNvSpPr/>
          <p:nvPr/>
        </p:nvSpPr>
        <p:spPr>
          <a:xfrm>
            <a:off x="6172200" y="1645920"/>
            <a:ext cx="5468112" cy="1188720"/>
          </a:xfrm>
          <a:prstGeom prst="roundRect">
            <a:avLst>
              <a:gd name="adj" fmla="val 6154"/>
            </a:avLst>
          </a:prstGeom>
          <a:solidFill>
            <a:srgbClr val="1C5662"/>
          </a:solidFill>
          <a:ln w="12700">
            <a:solidFill>
              <a:srgbClr val="1C5662"/>
            </a:solidFill>
            <a:prstDash val="solid"/>
          </a:ln>
        </p:spPr>
      </p:sp>
      <p:sp>
        <p:nvSpPr>
          <p:cNvPr id="17" name="icono recomendación 2"/>
          <p:cNvSpPr/>
          <p:nvPr/>
        </p:nvSpPr>
        <p:spPr>
          <a:xfrm>
            <a:off x="6400800" y="1943100"/>
            <a:ext cx="594360" cy="594360"/>
          </a:xfrm>
          <a:prstGeom prst="ellipse">
            <a:avLst/>
          </a:prstGeom>
          <a:solidFill>
            <a:schemeClr val="accent2"/>
          </a:solidFill>
          <a:ln w="12700">
            <a:solidFill>
              <a:schemeClr val="accent2"/>
            </a:solidFill>
            <a:prstDash val="solid"/>
          </a:ln>
        </p:spPr>
      </p:sp>
      <p:pic>
        <p:nvPicPr>
          <p:cNvPr id="18" name="Image 1" descr="icono recomendación 2">    </p:cNvPr>
          <p:cNvPicPr>
            <a:picLocks noChangeAspect="1"/>
          </p:cNvPicPr>
          <p:nvPr/>
        </p:nvPicPr>
        <p:blipFill>
          <a:blip r:embed="rId2"/>
          <a:stretch>
            <a:fillRect/>
          </a:stretch>
        </p:blipFill>
        <p:spPr>
          <a:xfrm>
            <a:off x="6543446" y="2085746"/>
            <a:ext cx="309067" cy="309067"/>
          </a:xfrm>
          <a:prstGeom prst="rect">
            <a:avLst/>
          </a:prstGeom>
        </p:spPr>
      </p:pic>
      <p:sp>
        <p:nvSpPr>
          <p:cNvPr id="19" name="Text 15"/>
          <p:cNvSpPr txBox="1"/>
          <p:nvPr/>
        </p:nvSpPr>
        <p:spPr>
          <a:xfrm>
            <a:off x="7223760" y="1645920"/>
            <a:ext cx="4206240" cy="1188720"/>
          </a:xfrm>
          <a:prstGeom prst="rect">
            <a:avLst/>
          </a:prstGeom>
          <a:noFill/>
          <a:ln/>
        </p:spPr>
        <p:txBody>
          <a:bodyPr wrap="square" lIns="0" tIns="0" rIns="0" bIns="0" rtlCol="0" anchor="ctr"/>
          <a:lstStyle/>
          <a:p>
            <a:pPr indent="0" marL="0">
              <a:spcAft>
                <a:spcPts val="400"/>
              </a:spcAft>
              <a:buNone/>
            </a:pPr>
            <a:r>
              <a:rPr lang="en-US" sz="1700" b="1" dirty="0">
                <a:solidFill>
                  <a:schemeClr val="bg1"/>
                </a:solidFill>
              </a:rPr>
              <a:t>Revisar los envíos livianos</a:t>
            </a:r>
            <a:endParaRPr lang="en-US" sz="1700" dirty="0"/>
          </a:p>
          <a:p>
            <a:pPr indent="0" marL="0">
              <a:spcAft>
                <a:spcPts val="400"/>
              </a:spcAft>
              <a:buNone/>
            </a:pPr>
            <a:r>
              <a:rPr lang="en-US" sz="1400" dirty="0">
                <a:solidFill>
                  <a:srgbClr val="D3E2E5"/>
                </a:solidFill>
              </a:rPr>
              <a:t>Sobre todo los cercanos a 3.000 g, donde el atraso es máximo dentro del segmento ≤ 10</a:t>
            </a:r>
            <a:endParaRPr lang="en-US" sz="1700" dirty="0"/>
          </a:p>
        </p:txBody>
      </p:sp>
      <p:sp>
        <p:nvSpPr>
          <p:cNvPr id="20" name="recomendación 3"/>
          <p:cNvSpPr/>
          <p:nvPr/>
        </p:nvSpPr>
        <p:spPr>
          <a:xfrm>
            <a:off x="548640" y="3017520"/>
            <a:ext cx="5468112" cy="1188720"/>
          </a:xfrm>
          <a:prstGeom prst="roundRect">
            <a:avLst>
              <a:gd name="adj" fmla="val 6154"/>
            </a:avLst>
          </a:prstGeom>
          <a:solidFill>
            <a:srgbClr val="1C5662"/>
          </a:solidFill>
          <a:ln w="12700">
            <a:solidFill>
              <a:srgbClr val="1C5662"/>
            </a:solidFill>
            <a:prstDash val="solid"/>
          </a:ln>
        </p:spPr>
      </p:sp>
      <p:sp>
        <p:nvSpPr>
          <p:cNvPr id="21" name="icono recomendación 3"/>
          <p:cNvSpPr/>
          <p:nvPr/>
        </p:nvSpPr>
        <p:spPr>
          <a:xfrm>
            <a:off x="777240" y="3314700"/>
            <a:ext cx="594360" cy="594360"/>
          </a:xfrm>
          <a:prstGeom prst="ellipse">
            <a:avLst/>
          </a:prstGeom>
          <a:solidFill>
            <a:schemeClr val="accent2"/>
          </a:solidFill>
          <a:ln w="12700">
            <a:solidFill>
              <a:schemeClr val="accent2"/>
            </a:solidFill>
            <a:prstDash val="solid"/>
          </a:ln>
        </p:spPr>
      </p:sp>
      <p:pic>
        <p:nvPicPr>
          <p:cNvPr id="22" name="Image 2" descr="icono recomendación 3">    </p:cNvPr>
          <p:cNvPicPr>
            <a:picLocks noChangeAspect="1"/>
          </p:cNvPicPr>
          <p:nvPr/>
        </p:nvPicPr>
        <p:blipFill>
          <a:blip r:embed="rId3"/>
          <a:stretch>
            <a:fillRect/>
          </a:stretch>
        </p:blipFill>
        <p:spPr>
          <a:xfrm>
            <a:off x="919886" y="3457346"/>
            <a:ext cx="309067" cy="309067"/>
          </a:xfrm>
          <a:prstGeom prst="rect">
            <a:avLst/>
          </a:prstGeom>
        </p:spPr>
      </p:pic>
      <p:sp>
        <p:nvSpPr>
          <p:cNvPr id="23" name="Text 18"/>
          <p:cNvSpPr txBox="1"/>
          <p:nvPr/>
        </p:nvSpPr>
        <p:spPr>
          <a:xfrm>
            <a:off x="1600200" y="3017520"/>
            <a:ext cx="4206240" cy="1188720"/>
          </a:xfrm>
          <a:prstGeom prst="rect">
            <a:avLst/>
          </a:prstGeom>
          <a:noFill/>
          <a:ln/>
        </p:spPr>
        <p:txBody>
          <a:bodyPr wrap="square" lIns="0" tIns="0" rIns="0" bIns="0" rtlCol="0" anchor="ctr"/>
          <a:lstStyle/>
          <a:p>
            <a:pPr indent="0" marL="0">
              <a:spcAft>
                <a:spcPts val="400"/>
              </a:spcAft>
              <a:buNone/>
            </a:pPr>
            <a:r>
              <a:rPr lang="en-US" sz="1700" b="1" dirty="0">
                <a:solidFill>
                  <a:schemeClr val="bg1"/>
                </a:solidFill>
              </a:rPr>
              <a:t>Usar el modelo solo para priorizar</a:t>
            </a:r>
            <a:endParaRPr lang="en-US" sz="1700" dirty="0"/>
          </a:p>
          <a:p>
            <a:pPr indent="0" marL="0">
              <a:spcAft>
                <a:spcPts val="400"/>
              </a:spcAft>
              <a:buNone/>
            </a:pPr>
            <a:r>
              <a:rPr lang="en-US" sz="1400" dirty="0">
                <a:solidFill>
                  <a:srgbClr val="D3E2E5"/>
                </a:solidFill>
              </a:rPr>
              <a:t>Precisión de 78 %, pero AUC de 0,551 en el segmento ≤ 10: es un apoyo descriptivo, no un predictor operacional</a:t>
            </a:r>
            <a:endParaRPr lang="en-US" sz="1700" dirty="0"/>
          </a:p>
        </p:txBody>
      </p:sp>
      <p:sp>
        <p:nvSpPr>
          <p:cNvPr id="24" name="recomendación 4"/>
          <p:cNvSpPr/>
          <p:nvPr/>
        </p:nvSpPr>
        <p:spPr>
          <a:xfrm>
            <a:off x="6172200" y="3017520"/>
            <a:ext cx="5468112" cy="1188720"/>
          </a:xfrm>
          <a:prstGeom prst="roundRect">
            <a:avLst>
              <a:gd name="adj" fmla="val 6154"/>
            </a:avLst>
          </a:prstGeom>
          <a:solidFill>
            <a:srgbClr val="1C5662"/>
          </a:solidFill>
          <a:ln w="12700">
            <a:solidFill>
              <a:srgbClr val="1C5662"/>
            </a:solidFill>
            <a:prstDash val="solid"/>
          </a:ln>
        </p:spPr>
      </p:sp>
      <p:sp>
        <p:nvSpPr>
          <p:cNvPr id="25" name="icono recomendación 4"/>
          <p:cNvSpPr/>
          <p:nvPr/>
        </p:nvSpPr>
        <p:spPr>
          <a:xfrm>
            <a:off x="6400800" y="3314700"/>
            <a:ext cx="594360" cy="594360"/>
          </a:xfrm>
          <a:prstGeom prst="ellipse">
            <a:avLst/>
          </a:prstGeom>
          <a:solidFill>
            <a:schemeClr val="accent2"/>
          </a:solidFill>
          <a:ln w="12700">
            <a:solidFill>
              <a:schemeClr val="accent2"/>
            </a:solidFill>
            <a:prstDash val="solid"/>
          </a:ln>
        </p:spPr>
      </p:sp>
      <p:pic>
        <p:nvPicPr>
          <p:cNvPr id="26" name="Image 3" descr="icono recomendación 4">    </p:cNvPr>
          <p:cNvPicPr>
            <a:picLocks noChangeAspect="1"/>
          </p:cNvPicPr>
          <p:nvPr/>
        </p:nvPicPr>
        <p:blipFill>
          <a:blip r:embed="rId4"/>
          <a:stretch>
            <a:fillRect/>
          </a:stretch>
        </p:blipFill>
        <p:spPr>
          <a:xfrm>
            <a:off x="6543446" y="3457346"/>
            <a:ext cx="309067" cy="309067"/>
          </a:xfrm>
          <a:prstGeom prst="rect">
            <a:avLst/>
          </a:prstGeom>
        </p:spPr>
      </p:pic>
      <p:sp>
        <p:nvSpPr>
          <p:cNvPr id="27" name="Text 21"/>
          <p:cNvSpPr txBox="1"/>
          <p:nvPr/>
        </p:nvSpPr>
        <p:spPr>
          <a:xfrm>
            <a:off x="7223760" y="3017520"/>
            <a:ext cx="4206240" cy="1188720"/>
          </a:xfrm>
          <a:prstGeom prst="rect">
            <a:avLst/>
          </a:prstGeom>
          <a:noFill/>
          <a:ln/>
        </p:spPr>
        <p:txBody>
          <a:bodyPr wrap="square" lIns="0" tIns="0" rIns="0" bIns="0" rtlCol="0" anchor="ctr"/>
          <a:lstStyle/>
          <a:p>
            <a:pPr indent="0" marL="0">
              <a:spcAft>
                <a:spcPts val="400"/>
              </a:spcAft>
              <a:buNone/>
            </a:pPr>
            <a:r>
              <a:rPr lang="en-US" sz="1700" b="1" dirty="0">
                <a:solidFill>
                  <a:schemeClr val="bg1"/>
                </a:solidFill>
              </a:rPr>
              <a:t>Mejorar el registro</a:t>
            </a:r>
            <a:endParaRPr lang="en-US" sz="1700" dirty="0"/>
          </a:p>
          <a:p>
            <a:pPr indent="0" marL="0">
              <a:spcAft>
                <a:spcPts val="400"/>
              </a:spcAft>
              <a:buNone/>
            </a:pPr>
            <a:r>
              <a:rPr lang="en-US" sz="1400" dirty="0">
                <a:solidFill>
                  <a:srgbClr val="D3E2E5"/>
                </a:solidFill>
              </a:rPr>
              <a:t>Fechas, transportista, distancia y momento en que se registran las llamadas y la calificación</a:t>
            </a:r>
            <a:endParaRPr lang="en-US" sz="1700" dirty="0"/>
          </a:p>
        </p:txBody>
      </p:sp>
      <p:sp>
        <p:nvSpPr>
          <p:cNvPr id="28" name="Text 22"/>
          <p:cNvSpPr txBox="1"/>
          <p:nvPr/>
        </p:nvSpPr>
        <p:spPr>
          <a:xfrm>
            <a:off x="548640" y="4572000"/>
            <a:ext cx="11091672" cy="685800"/>
          </a:xfrm>
          <a:prstGeom prst="rect">
            <a:avLst/>
          </a:prstGeom>
          <a:noFill/>
          <a:ln/>
        </p:spPr>
        <p:txBody>
          <a:bodyPr wrap="square" lIns="0" tIns="0" rIns="0" bIns="0" rtlCol="0" anchor="t"/>
          <a:lstStyle/>
          <a:p>
            <a:pPr indent="0" marL="0">
              <a:buNone/>
            </a:pPr>
            <a:r>
              <a:rPr lang="en-US" sz="1600" b="1" dirty="0">
                <a:solidFill>
                  <a:schemeClr val="accent2"/>
                </a:solidFill>
              </a:rPr>
              <a:t>Análisis futuro: </a:t>
            </a:r>
            <a:pPr indent="0" marL="0">
              <a:buNone/>
            </a:pPr>
            <a:r>
              <a:rPr lang="en-US" sz="1600" dirty="0">
                <a:solidFill>
                  <a:schemeClr val="bg1"/>
                </a:solidFill>
              </a:rPr>
              <a:t>modelar el peso por tramos o con splines · validar con envíos nuevos · fijar los costos reales de cada error · imputación múltiple con faltantes reales</a:t>
            </a:r>
            <a:endParaRPr lang="en-US" sz="1600" dirty="0"/>
          </a:p>
        </p:txBody>
      </p:sp>
      <p:sp>
        <p:nvSpPr>
          <p:cNvPr id="29" name="Text 23"/>
          <p:cNvSpPr txBox="1"/>
          <p:nvPr/>
        </p:nvSpPr>
        <p:spPr>
          <a:xfrm>
            <a:off x="548640" y="5577840"/>
            <a:ext cx="11091672" cy="320040"/>
          </a:xfrm>
          <a:prstGeom prst="rect">
            <a:avLst/>
          </a:prstGeom>
          <a:noFill/>
          <a:ln/>
        </p:spPr>
        <p:txBody>
          <a:bodyPr wrap="square" lIns="0" tIns="0" rIns="0" bIns="0" rtlCol="0" anchor="ctr"/>
          <a:lstStyle/>
          <a:p>
            <a:pPr indent="0" marL="0">
              <a:buNone/>
            </a:pPr>
            <a:r>
              <a:rPr lang="en-US" sz="1200" dirty="0">
                <a:solidFill>
                  <a:schemeClr val="accent4"/>
                </a:solidFill>
              </a:rPr>
              <a:t>Repositorio: github.com/joserodriguezc/grupo_1_estadistica_computacional</a:t>
            </a:r>
            <a:endParaRPr lang="en-US" sz="1200" dirty="0"/>
          </a:p>
        </p:txBody>
      </p:sp>
      <p:sp>
        <p:nvSpPr>
          <p:cNvPr id="30" name="Text 24"/>
          <p:cNvSpPr txBox="1"/>
          <p:nvPr/>
        </p:nvSpPr>
        <p:spPr>
          <a:xfrm>
            <a:off x="548640" y="6382512"/>
            <a:ext cx="5486400" cy="274320"/>
          </a:xfrm>
          <a:prstGeom prst="rect">
            <a:avLst/>
          </a:prstGeom>
          <a:noFill/>
          <a:ln/>
        </p:spPr>
        <p:txBody>
          <a:bodyPr wrap="square" lIns="0" tIns="0" rIns="0" bIns="0" rtlCol="0" anchor="ctr"/>
          <a:lstStyle/>
          <a:p>
            <a:pPr indent="0" marL="0">
              <a:buNone/>
            </a:pPr>
            <a:r>
              <a:rPr lang="en-US" sz="1100" b="1" dirty="0">
                <a:solidFill>
                  <a:schemeClr val="accent4"/>
                </a:solidFill>
              </a:rPr>
              <a:t>Expone: </a:t>
            </a:r>
            <a:pPr indent="0" marL="0">
              <a:buNone/>
            </a:pPr>
            <a:r>
              <a:rPr lang="en-US" sz="1100" dirty="0">
                <a:solidFill>
                  <a:schemeClr val="accent4"/>
                </a:solidFill>
              </a:rPr>
              <a:t>José Ignacio Rodríguez</a:t>
            </a:r>
            <a:endParaRPr lang="en-US" sz="1100" dirty="0"/>
          </a:p>
        </p:txBody>
      </p:sp>
      <p:sp>
        <p:nvSpPr>
          <p:cNvPr id="25" name="Slide Number Placeholder 0"/>
          <p:cNvSpPr>
            <a:spLocks noGrp="1"/>
          </p:cNvSpPr>
          <p:nvPr>
            <p:ph type="sldNum" sz="quarter" idx="4294967295"/>
          </p:nvPr>
        </p:nvSpPr>
        <p:spPr>
          <a:xfrm>
            <a:off x="11338560" y="6382512"/>
            <a:ext cx="3200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Atraso de envios">
  <a:themeElements>
    <a:clrScheme name="Atraso de envios">
      <a:dk1>
        <a:srgbClr val="1B2A33"/>
      </a:dk1>
      <a:lt1>
        <a:srgbClr val="FFFFFF"/>
      </a:lt1>
      <a:dk2>
        <a:srgbClr val="123F4A"/>
      </a:dk2>
      <a:lt2>
        <a:srgbClr val="EDF2F3"/>
      </a:lt2>
      <a:accent1>
        <a:srgbClr val="1F6F7A"/>
      </a:accent1>
      <a:accent2>
        <a:srgbClr val="C9791A"/>
      </a:accent2>
      <a:accent3>
        <a:srgbClr val="B5472A"/>
      </a:accent3>
      <a:accent4>
        <a:srgbClr val="8FB3B9"/>
      </a:accent4>
      <a:accent5>
        <a:srgbClr val="5E6B73"/>
      </a:accent5>
      <a:accent6>
        <a:srgbClr val="2F8F5B"/>
      </a:accent6>
      <a:hlink>
        <a:srgbClr val="1F6F7A"/>
      </a:hlink>
      <a:folHlink>
        <a:srgbClr val="5E6B73"/>
      </a:folHlink>
    </a:clrScheme>
    <a:fontScheme name="Atraso de envio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Factores asociados al atraso en envíos de comercio electrónico</dc:title>
  <dc:subject>Sumativa 3 - Presentación del proyecto</dc:subject>
  <dc:creator>Grupo 1</dc:creator>
  <cp:lastModifiedBy>Grupo 1</cp:lastModifiedBy>
  <cp:revision>1</cp:revision>
  <dcterms:created xsi:type="dcterms:W3CDTF">2026-10-27T02:48:51Z</dcterms:created>
  <dcterms:modified xsi:type="dcterms:W3CDTF">2026-10-27T02:48:51Z</dcterms:modified>
</cp:coreProperties>
</file>